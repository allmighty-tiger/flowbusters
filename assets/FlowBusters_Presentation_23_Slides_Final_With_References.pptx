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gIjW0XlPGXmv+lTF7hYD3HemX0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README.md"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www.coinbase.com/blog/retrospective-recent-coinbase-bug-bounty-award"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www.coinbase.com/blog/retrospective-recent-coinbase-bug-bounty-award"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README.md#L64-L73"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crew/agents/saboteur/charter.md"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recorder.py#L477-L569"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crew_runner.py#L541"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recorder.py#L313-L328"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recorder.py#L508-L569"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recorder.py#L363-L475"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crew/agents/analyst/charter.md"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ui_provenance.py#L519-L615"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crew/agents/saboteur/charter.md#L57-L81"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inferred_invariants.py#L10-L75"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probe_contract.py#L43-L76"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generated_probes.py#L85-L134"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probe_executor.py#L45-L125"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probe_executor.py#L482-L556" TargetMode="External"/><Relationship Id="rIdQAReference2" Type="http://schemas.openxmlformats.org/officeDocument/2006/relationships/hyperlink" Target="https://github.com/allmighty-tiger/FlowBusters/blob/b00562aabbcabdc392ee187af5c2b2a5fedf1cab/backend/runtime/verification.py#L424-L468"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application_model.py#L165-L209"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probe_executor.py#L966"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backend/runtime/verification.py#L5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QAReference1" Type="http://schemas.openxmlformats.org/officeDocument/2006/relationships/hyperlink" Target="https://github.com/allmighty-tiger/FlowBusters/blob/b00562aabbcabdc392ee187af5c2b2a5fedf1cab/README.md#L204-L242"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Hi everyone, and thank you for having me. I am happy to see familiar faces today.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As some of you know, about a year and a half ago, I moved into cybersecurity and joined the Red Team. Before that, I spent several years in software testing and test automation, and later worked as a software engineer on the CXID team.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This combination of experience led me to build a prototype project called FlowBusters. It is a web application that uses Playwright MCP and AI agent to help identify business logic security vulnerabilities in real application workflows.</a:t>
            </a:r>
            <a:endParaRPr sz="1100">
              <a:solidFill>
                <a:schemeClr val="dk1"/>
              </a:solidFill>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Общий процесс — README</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https://github.com/allmighty-tiger/FlowBusters/blob/b00562aabbcabdc392ee187af5c2b2a5fedf1cab/README.md</a:t>
            </a:r>
            <a:endParaRPr lang="ru-RU" sz="1200"/>
          </a:p>
        </p:txBody>
      </p:sp>
      <p:sp>
        <p:nvSpPr>
          <p:cNvPr id="108" name="Google Shape;10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None/>
            </a:pPr>
            <a:r>
              <a:rPr lang="en-US" sz="1100">
                <a:solidFill>
                  <a:schemeClr val="dk1"/>
                </a:solidFill>
              </a:rPr>
              <a:t>But the idea behind it came from a very practical security problem. And this problem is not just theoretical.</a:t>
            </a:r>
            <a:endParaRPr sz="1100">
              <a:solidFill>
                <a:schemeClr val="dk1"/>
              </a:solidFill>
            </a:endParaRPr>
          </a:p>
          <a:p>
            <a:pPr indent="0" lvl="0" marL="0" rtl="0" algn="l">
              <a:lnSpc>
                <a:spcPct val="115000"/>
              </a:lnSpc>
              <a:spcBef>
                <a:spcPts val="0"/>
              </a:spcBef>
              <a:spcAft>
                <a:spcPts val="0"/>
              </a:spcAft>
              <a:buClr>
                <a:schemeClr val="dk1"/>
              </a:buClr>
              <a:buSzPts val="1100"/>
              <a:buNone/>
            </a:pPr>
            <a:r>
              <a:t/>
            </a:r>
            <a:endParaRPr sz="1100">
              <a:solidFill>
                <a:schemeClr val="dk1"/>
              </a:solidFill>
            </a:endParaRPr>
          </a:p>
          <a:p>
            <a:pPr indent="0" lvl="0" marL="0" rtl="0" algn="l">
              <a:lnSpc>
                <a:spcPct val="115000"/>
              </a:lnSpc>
              <a:spcBef>
                <a:spcPts val="0"/>
              </a:spcBef>
              <a:spcAft>
                <a:spcPts val="0"/>
              </a:spcAft>
              <a:buClr>
                <a:schemeClr val="dk1"/>
              </a:buClr>
              <a:buSzPts val="1100"/>
              <a:buNone/>
            </a:pPr>
            <a:r>
              <a:rPr lang="en-US" sz="1100">
                <a:solidFill>
                  <a:schemeClr val="dk1"/>
                </a:solidFill>
              </a:rPr>
              <a:t>There are real cases where attackers exploited gaps in business logic to take advantage of how an application was designed to work. Coinbase was a good example of this.</a:t>
            </a:r>
            <a:endParaRPr sz="1250">
              <a:solidFill>
                <a:srgbClr val="555555"/>
              </a:solidFill>
            </a:endParaRPr>
          </a:p>
          <a:p>
            <a:pPr indent="0" lvl="0" marL="0" rtl="0" algn="l">
              <a:lnSpc>
                <a:spcPct val="115000"/>
              </a:lnSpc>
              <a:spcBef>
                <a:spcPts val="1400"/>
              </a:spcBef>
              <a:spcAft>
                <a:spcPts val="0"/>
              </a:spcAft>
              <a:buClr>
                <a:schemeClr val="dk1"/>
              </a:buClr>
              <a:buSzPts val="1100"/>
              <a:buFont typeface="Arial"/>
              <a:buNone/>
            </a:pPr>
            <a:r>
              <a:rPr b="1" lang="en-US" sz="1000">
                <a:solidFill>
                  <a:schemeClr val="dk1"/>
                </a:solidFill>
              </a:rPr>
              <a:t>In 2022, a security researcher with the nickname “Tree_Of_Alpha” posted a tweet about a security flaw he “accidentally” found in a Coinbase feature called “Advanced Trading.”</a:t>
            </a:r>
            <a:endParaRPr sz="1250">
              <a:solidFill>
                <a:srgbClr val="555555"/>
              </a:solidFill>
            </a:endParaRPr>
          </a:p>
          <a:p>
            <a:pPr indent="0" lvl="0" marL="0" rtl="0" algn="l">
              <a:lnSpc>
                <a:spcPct val="115000"/>
              </a:lnSpc>
              <a:spcBef>
                <a:spcPts val="1400"/>
              </a:spcBef>
              <a:spcAft>
                <a:spcPts val="0"/>
              </a:spcAft>
              <a:buClr>
                <a:schemeClr val="dk1"/>
              </a:buClr>
              <a:buSzPts val="1100"/>
              <a:buFont typeface="Arial"/>
              <a:buNone/>
            </a:pPr>
            <a:r>
              <a:rPr lang="en-US" sz="1250">
                <a:solidFill>
                  <a:srgbClr val="555555"/>
                </a:solidFill>
              </a:rPr>
              <a:t>The feature allowed users to sell one type of cryptocurrency and use the funds to buy another.</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Источник Coinbase</a:t>
            </a:r>
            <a:endParaRPr lang="ru-RU" sz="1200"/>
          </a:p>
          <a:p>
            <a:pPr>
              <a:buNone/>
            </a:pPr>
            <a:r>
              <a:rPr lang="ru-RU" sz="1200">
                <a:solidFill>
                  <a:srgbClr val="0563C1"/>
                </a:solidFill>
                <a:latin typeface="Arial"/>
                <a:hlinkClick r:id="rIdQAReference1"/>
              </a:rPr>
              <a:t xml:space="preserve">https://www.coinbase.com/blog/retrospective-recent-coinbase-bug-bounty-award</a:t>
            </a:r>
            <a:endParaRPr lang="ru-RU" sz="1200"/>
          </a:p>
          <a:p>
            <a:pPr>
              <a:buNone/>
            </a:pPr>
            <a:r>
              <a:rPr lang="ru-RU" sz="1200">
                <a:latin typeface="Arial"/>
              </a:rPr>
              <a:t xml:space="preserve">Это внешний случай, не код FlowBusters.</a:t>
            </a:r>
            <a:endParaRPr lang="ru-RU" sz="1200"/>
          </a:p>
        </p:txBody>
      </p:sp>
      <p:sp>
        <p:nvSpPr>
          <p:cNvPr id="119" name="Google Shape;11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7ff3108bf1d407e0_0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h7ff3108bf1d407e0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None/>
            </a:pPr>
            <a:r>
              <a:rPr lang="en-US" sz="1000">
                <a:solidFill>
                  <a:schemeClr val="dk1"/>
                </a:solidFill>
              </a:rPr>
              <a:t>Under the hood, it was a valid API request.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He changed the product parameter in an API request from ETH-EUR to BTC-USD and was able to submit a trade involving Bitcoin that he did not own. Coinbase backend accepted the request because it trusted parameters that </a:t>
            </a:r>
            <a:r>
              <a:rPr b="1" lang="en-US" sz="1000">
                <a:solidFill>
                  <a:schemeClr val="dk1"/>
                </a:solidFill>
              </a:rPr>
              <a:t>should </a:t>
            </a:r>
            <a:r>
              <a:rPr lang="en-US" sz="1000">
                <a:solidFill>
                  <a:schemeClr val="dk1"/>
                </a:solidFill>
              </a:rPr>
              <a:t>have been validated against the user’s accounts.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So the key takeaway here is: </a:t>
            </a:r>
            <a:r>
              <a:rPr b="1" lang="en-US" sz="1000">
                <a:solidFill>
                  <a:schemeClr val="dk1"/>
                </a:solidFill>
              </a:rPr>
              <a:t>The API request was valid, but the business rule “You should only be able to sell an asset you actually own” was not enforced.</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Разбор причины Coinbase</a:t>
            </a:r>
            <a:endParaRPr lang="ru-RU" sz="1200"/>
          </a:p>
          <a:p>
            <a:pPr>
              <a:buNone/>
            </a:pPr>
            <a:r>
              <a:rPr lang="ru-RU" sz="1200">
                <a:solidFill>
                  <a:srgbClr val="0563C1"/>
                </a:solidFill>
                <a:latin typeface="Arial"/>
                <a:hlinkClick r:id="rIdQAReference1"/>
              </a:rPr>
              <a:t xml:space="preserve">https://www.coinbase.com/blog/retrospective-recent-coinbase-bug-bounty-award</a:t>
            </a:r>
            <a:endParaRPr lang="ru-RU" sz="1200"/>
          </a:p>
        </p:txBody>
      </p:sp>
      <p:sp>
        <p:nvSpPr>
          <p:cNvPr id="142" name="Google Shape;142;h7ff3108bf1d407e0_0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Business logic flaws are basically gaps in a business process — missing validation, verification, restrictions, or required steps — that allow a user to abuse the system.</a:t>
            </a:r>
            <a:endParaRPr sz="1000">
              <a:solidFill>
                <a:schemeClr val="dk1"/>
              </a:solidFill>
            </a:endParaRPr>
          </a:p>
          <a:p>
            <a:pPr indent="0" lvl="0" marL="0" rtl="0" algn="l">
              <a:lnSpc>
                <a:spcPct val="115000"/>
              </a:lnSpc>
              <a:spcBef>
                <a:spcPts val="1200"/>
              </a:spcBef>
              <a:spcAft>
                <a:spcPts val="0"/>
              </a:spcAft>
              <a:buClr>
                <a:schemeClr val="dk1"/>
              </a:buClr>
              <a:buSzPts val="1100"/>
              <a:buNone/>
            </a:pPr>
            <a:r>
              <a:rPr lang="en-US" sz="1000">
                <a:solidFill>
                  <a:schemeClr val="dk1"/>
                </a:solidFill>
              </a:rPr>
              <a:t>Instead of “breaking into” the system, attackers manipulate normal workflows — for example, reusing a discount, completing a purchase before payment is actually confirmed, or changing the account ID to view another customer’s bank statement.</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Шаблоны проверок в README</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https://github.com/allmighty-tiger/FlowBusters/blob/b00562aabbcabdc392ee187af5c2b2a5fedf1cab/README.md#L64-L73</a:t>
            </a:r>
            <a:endParaRPr lang="ru-RU" sz="1200"/>
          </a:p>
        </p:txBody>
      </p:sp>
      <p:sp>
        <p:nvSpPr>
          <p:cNvPr id="155" name="Google Shape;15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Traditional scanners are good at finding known technical patterns, such as XSS or SQL injection. But scanners may miss these attacks because the requests themselves can look legitimate.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This is why business logic testing still needs human reasoning. We have to understand the intended process and think of ways to bypass its rules across different steps, roles, or application states.</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US" sz="1000">
                <a:solidFill>
                  <a:schemeClr val="dk1"/>
                </a:solidFill>
              </a:rPr>
              <a:t>That raises the next question: could AI help with this reasoning if we give it more workflow context?</a:t>
            </a:r>
            <a:endParaRPr b="1"/>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Инструкции агенту Saboteur</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https://github.com/allmighty-tiger/FlowBusters/blob/b00562aabbcabdc392ee187af5c2b2a5fedf1cab/crew/agents/saboteur/charter.md</a:t>
            </a:r>
            <a:endParaRPr lang="ru-RU" sz="1200"/>
          </a:p>
        </p:txBody>
      </p:sp>
      <p:sp>
        <p:nvSpPr>
          <p:cNvPr id="181" name="Google Shape;18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000">
                <a:solidFill>
                  <a:schemeClr val="dk1"/>
                </a:solidFill>
              </a:rPr>
              <a:t>An AI agent does not automatically understand that business context.</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000">
                <a:solidFill>
                  <a:schemeClr val="dk1"/>
                </a:solidFill>
              </a:rPr>
              <a:t>If we give it only isolated API requests, it may see technical data but will probably miss the meaning of the process.</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000">
                <a:solidFill>
                  <a:schemeClr val="dk1"/>
                </a:solidFill>
              </a:rPr>
              <a:t>That gap led me to another question: what if we combine an AI agent with Playwright MCP and give the agent more context about the UI and business processes? Playwright provides sampled views of what the user sees in the browser, how the page changes, and which network requests are made. With that combined context, the AI has a better basis for reasoning about the workflow and might be able to suggest ways to exploit the application.</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Сбор записи</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https://github.com/allmighty-tiger/FlowBusters/blob/b00562aabbcabdc392ee187af5c2b2a5fedf1cab/backend/runtime/recorder.py#L477-L569</a:t>
            </a:r>
            <a:endParaRPr lang="ru-RU" sz="1200"/>
          </a:p>
        </p:txBody>
      </p:sp>
      <p:sp>
        <p:nvSpPr>
          <p:cNvPr id="202" name="Google Shape;20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2100" lvl="0" marL="457200" rtl="0" algn="l">
              <a:lnSpc>
                <a:spcPct val="115000"/>
              </a:lnSpc>
              <a:spcBef>
                <a:spcPts val="0"/>
              </a:spcBef>
              <a:spcAft>
                <a:spcPts val="0"/>
              </a:spcAft>
              <a:buClr>
                <a:schemeClr val="dk1"/>
              </a:buClr>
              <a:buSzPts val="1000"/>
              <a:buAutoNum type="arabicPeriod"/>
            </a:pPr>
            <a:r>
              <a:rPr lang="en-US" sz="1000">
                <a:solidFill>
                  <a:schemeClr val="dk1"/>
                </a:solidFill>
              </a:rPr>
              <a:t>FlowBusters starts by recording a normal user workflow with Playwright MCP. It captures the page context and HTTP traffic.</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US" sz="1000">
                <a:solidFill>
                  <a:schemeClr val="dk1"/>
                </a:solidFill>
              </a:rPr>
              <a:t>The AI then analyzes that recording and proposes ways to abuse the workflow as structured test cases.</a:t>
            </a:r>
            <a:endParaRPr sz="1000">
              <a:solidFill>
                <a:schemeClr val="dk1"/>
              </a:solidFill>
            </a:endParaRPr>
          </a:p>
          <a:p>
            <a:pPr indent="-292100" lvl="0" marL="457200" rtl="0" algn="l">
              <a:lnSpc>
                <a:spcPct val="115000"/>
              </a:lnSpc>
              <a:spcBef>
                <a:spcPts val="0"/>
              </a:spcBef>
              <a:spcAft>
                <a:spcPts val="0"/>
              </a:spcAft>
              <a:buClr>
                <a:schemeClr val="dk1"/>
              </a:buClr>
              <a:buSzPts val="1000"/>
              <a:buAutoNum type="arabicPeriod"/>
            </a:pPr>
            <a:r>
              <a:rPr lang="en-US" sz="1000">
                <a:solidFill>
                  <a:schemeClr val="dk1"/>
                </a:solidFill>
              </a:rPr>
              <a:t>The backend converts each accepted test case into a Python probe, runs it against the scoped target, and verifies the evidence.</a:t>
            </a:r>
            <a:endParaRPr sz="1000">
              <a:solidFill>
                <a:schemeClr val="dk1"/>
              </a:solidFill>
            </a:endParaRPr>
          </a:p>
          <a:p>
            <a:pPr indent="0" lvl="0" marL="0" rtl="0" algn="l">
              <a:lnSpc>
                <a:spcPct val="115000"/>
              </a:lnSpc>
              <a:spcBef>
                <a:spcPts val="0"/>
              </a:spcBef>
              <a:spcAft>
                <a:spcPts val="0"/>
              </a:spcAft>
              <a:buSzPts val="1400"/>
              <a:buNone/>
            </a:pPr>
            <a:r>
              <a:t/>
            </a:r>
            <a:endParaRPr sz="1000">
              <a:solidFill>
                <a:schemeClr val="dk1"/>
              </a:solidFill>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Оркестрация assessment</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https://github.com/allmighty-tiger/FlowBusters/blob/b00562aabbcabdc392ee187af5c2b2a5fedf1cab/backend/runtime/crew_runner.py#L541</a:t>
            </a:r>
            <a:endParaRPr lang="ru-RU" sz="1200"/>
          </a:p>
        </p:txBody>
      </p:sp>
      <p:sp>
        <p:nvSpPr>
          <p:cNvPr id="224" name="Google Shape;22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DEMO START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For this demo, I use a small test app with intentional vulnerabilities.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Before opening the browser, the backend checks the target URL against scope.json. It checks the allowed domain and path. If block_production is true, recording stops. The flag does not detect production automatically. The test environment must be configured and authorized separately.</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If the check passes, Playwright opens Chromium at the target URL.</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I originally used MCP for agent-driven browser interaction. I kept it after moving orchestration into the backend because I may return to agent-driven interaction in future iterations.</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Technical references (not part of the spoken script)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crossflow-fixes: backend/runtime/recorder.py::check_scope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https://github.com/allmighty-tiger/FlowBusters/blob/crossflow-fixes/backend/runtime/recorder.py</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Local demo recording scope: backend/tests/recording_fixture.py. The three-key example matches the localhost:3000 fixture; configured setup is explained on slide 15.</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https://github.com/allmighty-tiger/FlowBusters/blob/crossflow-fixes/backend/tests/recording_fixture.py</a:t>
            </a:r>
            <a:endParaRPr sz="1100">
              <a:solidFill>
                <a:schemeClr val="dk1"/>
              </a:solidFill>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check_scope()</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https://github.com/allmighty-tiger/FlowBusters/blob/b00562aabbcabdc392ee187af5c2b2a5fedf1cab/backend/runtime/recorder.py#L313-L328</a:t>
            </a:r>
            <a:endParaRPr lang="ru-RU" sz="1200"/>
          </a:p>
        </p:txBody>
      </p:sp>
      <p:sp>
        <p:nvSpPr>
          <p:cNvPr id="265" name="Google Shape;26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RECORD PHASE:</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The user performs the normal business flow end to end in a Playwright-controlled browser.</a:t>
            </a:r>
            <a:endParaRPr sz="1100">
              <a:solidFill>
                <a:schemeClr val="dk1"/>
              </a:solidFill>
            </a:endParaRPr>
          </a:p>
          <a:p>
            <a:pPr indent="0" lvl="0" marL="0" rtl="0" algn="l">
              <a:lnSpc>
                <a:spcPct val="115000"/>
              </a:lnSpc>
              <a:spcBef>
                <a:spcPts val="1200"/>
              </a:spcBef>
              <a:spcAft>
                <a:spcPts val="0"/>
              </a:spcAft>
              <a:buClr>
                <a:schemeClr val="dk1"/>
              </a:buClr>
              <a:buSzPts val="1100"/>
              <a:buNone/>
            </a:pPr>
            <a:r>
              <a:rPr lang="en-US" sz="1100">
                <a:solidFill>
                  <a:schemeClr val="dk1"/>
                </a:solidFill>
              </a:rPr>
              <a:t>About once per second, FlowBusters asks Playwright MCP for a snapshot of the current page. It captures what the user</a:t>
            </a:r>
            <a:r>
              <a:rPr b="1" lang="en-US" sz="1100">
                <a:solidFill>
                  <a:schemeClr val="dk1"/>
                </a:solidFill>
              </a:rPr>
              <a:t> can see and interact with</a:t>
            </a:r>
            <a:r>
              <a:rPr lang="en-US" sz="1100">
                <a:solidFill>
                  <a:schemeClr val="dk1"/>
                </a:solidFill>
              </a:rPr>
              <a:t> — buttons, fields, messages, URLs, and element states. FlowBusters then cleans and compares those snapshots and saves only meaningful UI changes to demo.json.</a:t>
            </a:r>
            <a:endParaRPr sz="1100">
              <a:solidFill>
                <a:schemeClr val="dk1"/>
              </a:solidFill>
            </a:endParaRPr>
          </a:p>
          <a:p>
            <a:pPr indent="0" lvl="0" marL="0" rtl="0" algn="l">
              <a:lnSpc>
                <a:spcPct val="115000"/>
              </a:lnSpc>
              <a:spcBef>
                <a:spcPts val="1200"/>
              </a:spcBef>
              <a:spcAft>
                <a:spcPts val="0"/>
              </a:spcAft>
              <a:buClr>
                <a:schemeClr val="dk1"/>
              </a:buClr>
              <a:buSzPts val="1100"/>
              <a:buNone/>
            </a:pPr>
            <a:r>
              <a:rPr lang="en-US" sz="1100">
                <a:solidFill>
                  <a:schemeClr val="dk1"/>
                </a:solidFill>
              </a:rPr>
              <a:t>For example, it can show that:</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The “Complete refund” button appeared after a refund request.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The page displayed “Refund pending.”</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The “Request refund” button disappeared.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00000"/>
              </a:lnSpc>
              <a:spcBef>
                <a:spcPts val="1200"/>
              </a:spcBef>
              <a:spcAft>
                <a:spcPts val="0"/>
              </a:spcAft>
              <a:buSzPts val="1200"/>
              <a:buNone/>
            </a:pPr>
            <a:r>
              <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UI snapshots и запись demo.json</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https://github.com/allmighty-tiger/FlowBusters/blob/b00562aabbcabdc392ee187af5c2b2a5fedf1cab/backend/runtime/recorder.py#L508-L569</a:t>
            </a:r>
            <a:endParaRPr lang="ru-RU" sz="1200"/>
          </a:p>
        </p:txBody>
      </p:sp>
      <p:sp>
        <p:nvSpPr>
          <p:cNvPr id="285" name="Google Shape;28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At the same time, the browser’s HTTP traffic is recorded into recording.har, which is basically the network view of the same workflow. </a:t>
            </a:r>
            <a:endParaRPr sz="1200"/>
          </a:p>
          <a:p>
            <a:pPr indent="0" lvl="0" marL="0" rtl="0" algn="l">
              <a:lnSpc>
                <a:spcPct val="100000"/>
              </a:lnSpc>
              <a:spcBef>
                <a:spcPts val="0"/>
              </a:spcBef>
              <a:spcAft>
                <a:spcPts val="0"/>
              </a:spcAft>
              <a:buSzPts val="1200"/>
              <a:buNone/>
            </a:pPr>
            <a:r>
              <a:t/>
            </a:r>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For example, it may show:</a:t>
            </a:r>
            <a:endParaRPr sz="1100">
              <a:solidFill>
                <a:schemeClr val="dk1"/>
              </a:solidFill>
            </a:endParaRPr>
          </a:p>
          <a:p>
            <a:pPr indent="-298450" lvl="0" marL="457200" rtl="0" algn="l">
              <a:lnSpc>
                <a:spcPct val="115000"/>
              </a:lnSpc>
              <a:spcBef>
                <a:spcPts val="1200"/>
              </a:spcBef>
              <a:spcAft>
                <a:spcPts val="0"/>
              </a:spcAft>
              <a:buClr>
                <a:schemeClr val="dk1"/>
              </a:buClr>
              <a:buSzPts val="1100"/>
              <a:buFont typeface="Roboto Mono"/>
              <a:buChar char="●"/>
            </a:pPr>
            <a:r>
              <a:rPr lang="en-US" sz="1100">
                <a:solidFill>
                  <a:srgbClr val="188038"/>
                </a:solidFill>
                <a:latin typeface="Roboto Mono"/>
                <a:ea typeface="Roboto Mono"/>
                <a:cs typeface="Roboto Mono"/>
                <a:sym typeface="Roboto Mono"/>
              </a:rPr>
              <a:t>POST /api/order/refund/request;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HTTP 201;</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a response where refund.status changed to pending;</a:t>
            </a:r>
            <a:endParaRPr sz="1100">
              <a:solidFill>
                <a:schemeClr val="dk1"/>
              </a:solidFill>
            </a:endParaRPr>
          </a:p>
          <a:p>
            <a:pPr indent="-298450" lvl="0" marL="457200" rtl="0" algn="l">
              <a:lnSpc>
                <a:spcPct val="115000"/>
              </a:lnSpc>
              <a:spcBef>
                <a:spcPts val="0"/>
              </a:spcBef>
              <a:spcAft>
                <a:spcPts val="0"/>
              </a:spcAft>
              <a:buClr>
                <a:schemeClr val="dk1"/>
              </a:buClr>
              <a:buSzPts val="1100"/>
              <a:buFont typeface="Roboto Mono"/>
              <a:buChar char="●"/>
            </a:pPr>
            <a:r>
              <a:rPr lang="en-US" sz="1100">
                <a:solidFill>
                  <a:srgbClr val="188038"/>
                </a:solidFill>
                <a:latin typeface="Roboto Mono"/>
                <a:ea typeface="Roboto Mono"/>
                <a:cs typeface="Roboto Mono"/>
                <a:sym typeface="Roboto Mono"/>
              </a:rPr>
              <a:t>requestedAmount became 100.</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Сбор HTTP-запросов</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https://github.com/allmighty-tiger/FlowBusters/blob/b00562aabbcabdc392ee187af5c2b2a5fedf1cab/backend/runtime/recorder.py#L363-L475</a:t>
            </a:r>
            <a:endParaRPr lang="ru-RU" sz="1200"/>
          </a:p>
        </p:txBody>
      </p:sp>
      <p:sp>
        <p:nvSpPr>
          <p:cNvPr id="301" name="Google Shape;301;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During the </a:t>
            </a:r>
            <a:r>
              <a:rPr lang="en-US"/>
              <a:t>ANALYZE </a:t>
            </a:r>
            <a:r>
              <a:rPr lang="en-US" sz="1200"/>
              <a:t>phase, the AI reads both recording artifacts. A later UI snapshot shows Refund pending and a Complete refund button. The HAR shows that the browser sent a refund request and the server returned status a pending refund.</a:t>
            </a:r>
            <a:endParaRPr>
              <a:solidFill>
                <a:schemeClr val="dk1"/>
              </a:solidFill>
            </a:endParaRPr>
          </a:p>
          <a:p>
            <a:pPr indent="0" lvl="0" marL="0" rtl="0" algn="l">
              <a:lnSpc>
                <a:spcPct val="100000"/>
              </a:lnSpc>
              <a:spcBef>
                <a:spcPts val="0"/>
              </a:spcBef>
              <a:spcAft>
                <a:spcPts val="0"/>
              </a:spcAft>
              <a:buSzPts val="1200"/>
              <a:buNone/>
            </a:pPr>
            <a:r>
              <a:t/>
            </a:r>
            <a:endParaRPr>
              <a:solidFill>
                <a:schemeClr val="dk1"/>
              </a:solidFill>
            </a:endParaRPr>
          </a:p>
          <a:p>
            <a:pPr indent="0" lvl="0" marL="0" rtl="0" algn="l">
              <a:lnSpc>
                <a:spcPct val="100000"/>
              </a:lnSpc>
              <a:spcBef>
                <a:spcPts val="0"/>
              </a:spcBef>
              <a:spcAft>
                <a:spcPts val="0"/>
              </a:spcAft>
              <a:buClr>
                <a:schemeClr val="dk1"/>
              </a:buClr>
              <a:buSzPts val="1200"/>
              <a:buNone/>
            </a:pPr>
            <a:r>
              <a:rPr lang="en-US">
                <a:solidFill>
                  <a:schemeClr val="dk1"/>
                </a:solidFill>
              </a:rPr>
              <a:t>Together, those observations help the AI interpret the transitions. The next step is to organize those observations into a state map.</a:t>
            </a:r>
            <a:endParaRPr sz="1100">
              <a:solidFill>
                <a:schemeClr val="dk1"/>
              </a:solidFill>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Инструкция Analyst читать запись</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https://github.com/allmighty-tiger/FlowBusters/blob/b00562aabbcabdc392ee187af5c2b2a5fedf1cab/crew/agents/analyst/charter.md</a:t>
            </a:r>
            <a:endParaRPr lang="ru-RU" sz="1200"/>
          </a:p>
        </p:txBody>
      </p:sp>
      <p:sp>
        <p:nvSpPr>
          <p:cNvPr id="318" name="Google Shape;31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solidFill>
                  <a:schemeClr val="dk1"/>
                </a:solidFill>
              </a:rPr>
              <a:t>The Analyst uses the UI states and recorded HTTP traffic to build state_map.json. It shows how the application changed, which actions caused those changes, and the related API calls. Together, they help the AI propose a meaningful test.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In the refund example, it maps the visible workflow </a:t>
            </a:r>
            <a:r>
              <a:rPr b="1" lang="en-US" sz="1100">
                <a:solidFill>
                  <a:schemeClr val="dk1"/>
                </a:solidFill>
              </a:rPr>
              <a:t>transitions </a:t>
            </a:r>
            <a:r>
              <a:rPr lang="en-US" sz="1100">
                <a:solidFill>
                  <a:schemeClr val="dk1"/>
                </a:solidFill>
              </a:rPr>
              <a:t>from </a:t>
            </a:r>
            <a:r>
              <a:rPr b="1" lang="en-US" sz="1100">
                <a:solidFill>
                  <a:schemeClr val="dk1"/>
                </a:solidFill>
              </a:rPr>
              <a:t>available refund</a:t>
            </a:r>
            <a:r>
              <a:rPr lang="en-US" sz="1100">
                <a:solidFill>
                  <a:schemeClr val="dk1"/>
                </a:solidFill>
              </a:rPr>
              <a:t> to </a:t>
            </a:r>
            <a:r>
              <a:rPr b="1" lang="en-US" sz="1100">
                <a:solidFill>
                  <a:schemeClr val="dk1"/>
                </a:solidFill>
              </a:rPr>
              <a:t>pending </a:t>
            </a:r>
            <a:r>
              <a:rPr lang="en-US" sz="1100">
                <a:solidFill>
                  <a:schemeClr val="dk1"/>
                </a:solidFill>
              </a:rPr>
              <a:t>to </a:t>
            </a:r>
            <a:r>
              <a:rPr b="1" lang="en-US" sz="1100">
                <a:solidFill>
                  <a:schemeClr val="dk1"/>
                </a:solidFill>
              </a:rPr>
              <a:t>completed</a:t>
            </a:r>
            <a:r>
              <a:rPr lang="en-US" sz="1100">
                <a:solidFill>
                  <a:schemeClr val="dk1"/>
                </a:solidFill>
              </a:rPr>
              <a:t>, together with the recorded request and completion API calls.</a:t>
            </a:r>
            <a:endParaRPr sz="1100">
              <a:solidFill>
                <a:schemeClr val="dk1"/>
              </a:solidFill>
            </a:endParaRPr>
          </a:p>
          <a:p>
            <a:pPr indent="0" lvl="0" marL="0" rtl="0" algn="l">
              <a:lnSpc>
                <a:spcPct val="115000"/>
              </a:lnSpc>
              <a:spcBef>
                <a:spcPts val="1200"/>
              </a:spcBef>
              <a:spcAft>
                <a:spcPts val="0"/>
              </a:spcAft>
              <a:buClr>
                <a:schemeClr val="dk1"/>
              </a:buClr>
              <a:buSzPts val="1100"/>
              <a:buNone/>
            </a:pPr>
            <a:r>
              <a:rPr lang="en-US" sz="1100">
                <a:solidFill>
                  <a:schemeClr val="dk1"/>
                </a:solidFill>
              </a:rPr>
              <a:t>This is the AI’s interpretation. Before further testing, the backend checks its structure and resolves its cited UI and API facts against the original recordings.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If a claimed button or status change isn’t there, testing stops.</a:t>
            </a:r>
            <a:endParaRPr sz="1100">
              <a:solidFill>
                <a:schemeClr val="dk1"/>
              </a:solidFill>
            </a:endParaRPr>
          </a:p>
          <a:p>
            <a:pPr indent="0" lvl="0" marL="0" rtl="0" algn="l">
              <a:lnSpc>
                <a:spcPct val="100000"/>
              </a:lnSpc>
              <a:spcBef>
                <a:spcPts val="1200"/>
              </a:spcBef>
              <a:spcAft>
                <a:spcPts val="0"/>
              </a:spcAft>
              <a:buSzPts val="1200"/>
              <a:buNone/>
            </a:pPr>
            <a:r>
              <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Проверка карты и её ссылок на данные</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https://github.com/allmighty-tiger/FlowBusters/blob/b00562aabbcabdc392ee187af5c2b2a5fedf1cab/backend/runtime/ui_provenance.py#L519-L615</a:t>
            </a:r>
            <a:endParaRPr lang="ru-RU" sz="1200"/>
          </a:p>
        </p:txBody>
      </p:sp>
      <p:sp>
        <p:nvSpPr>
          <p:cNvPr id="339" name="Google Shape;33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The agent uses attack patterns, such as skipping a step, repeating an action, or changing an amount, to generate test cases.</a:t>
            </a:r>
            <a:endParaRPr/>
          </a:p>
          <a:p>
            <a:pPr indent="0" lvl="0" marL="0" rtl="0" algn="l">
              <a:lnSpc>
                <a:spcPct val="100000"/>
              </a:lnSpc>
              <a:spcBef>
                <a:spcPts val="1200"/>
              </a:spcBef>
              <a:spcAft>
                <a:spcPts val="0"/>
              </a:spcAft>
              <a:buSzPts val="1200"/>
              <a:buNone/>
            </a:pPr>
            <a:r>
              <a:rPr lang="en-US" sz="1200"/>
              <a:t>Each attack idea is turned into a specific sequence of API requests and a rule to check. Let’s take repeating a refund as an example.</a:t>
            </a:r>
            <a:endParaRPr sz="1200"/>
          </a:p>
          <a:p>
            <a:pPr indent="0" lvl="0" marL="0" rtl="0" algn="l">
              <a:lnSpc>
                <a:spcPct val="100000"/>
              </a:lnSpc>
              <a:spcBef>
                <a:spcPts val="1200"/>
              </a:spcBef>
              <a:spcAft>
                <a:spcPts val="0"/>
              </a:spcAft>
              <a:buSzPts val="1200"/>
              <a:buNone/>
            </a:pPr>
            <a:r>
              <a:t/>
            </a:r>
            <a:endParaRPr/>
          </a:p>
          <a:p>
            <a:pPr indent="0" lvl="0" marL="0" rtl="0" algn="l">
              <a:lnSpc>
                <a:spcPct val="100000"/>
              </a:lnSpc>
              <a:spcBef>
                <a:spcPts val="1200"/>
              </a:spcBef>
              <a:spcAft>
                <a:spcPts val="0"/>
              </a:spcAft>
              <a:buSzPts val="1200"/>
              <a:buNone/>
            </a:pPr>
            <a:r>
              <a:t/>
            </a:r>
            <a:endParaRPr/>
          </a:p>
          <a:p>
            <a:pPr indent="0" lvl="0" marL="0" rtl="0" algn="l">
              <a:lnSpc>
                <a:spcPct val="100000"/>
              </a:lnSpc>
              <a:spcBef>
                <a:spcPts val="1200"/>
              </a:spcBef>
              <a:spcAft>
                <a:spcPts val="0"/>
              </a:spcAft>
              <a:buSzPts val="1200"/>
              <a:buNone/>
            </a:pPr>
            <a:r>
              <a:rPr lang="en-US"/>
              <a:t>Examples for Q&amp;A:</a:t>
            </a:r>
            <a:endParaRPr/>
          </a:p>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SKIP_STEP</a:t>
            </a:r>
            <a:br>
              <a:rPr b="1" lang="en-US" sz="1100">
                <a:solidFill>
                  <a:schemeClr val="dk1"/>
                </a:solidFill>
              </a:rPr>
            </a:br>
            <a:r>
              <a:rPr lang="en-US" sz="1100">
                <a:solidFill>
                  <a:schemeClr val="dk1"/>
                </a:solidFill>
              </a:rPr>
              <a:t>Try to complete a refund without first requesting it.</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ROLE_SWAP</a:t>
            </a:r>
            <a:br>
              <a:rPr b="1" lang="en-US" sz="1100">
                <a:solidFill>
                  <a:schemeClr val="dk1"/>
                </a:solidFill>
              </a:rPr>
            </a:br>
            <a:r>
              <a:rPr lang="en-US" sz="1100">
                <a:solidFill>
                  <a:schemeClr val="dk1"/>
                </a:solidFill>
              </a:rPr>
              <a:t>Try to approve a refund using a customer’s session instead of a support agent’s session.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DATA_TAMPER</a:t>
            </a:r>
            <a:br>
              <a:rPr b="1" lang="en-US" sz="1100">
                <a:solidFill>
                  <a:schemeClr val="dk1"/>
                </a:solidFill>
              </a:rPr>
            </a:br>
            <a:r>
              <a:rPr lang="en-US" sz="1100">
                <a:solidFill>
                  <a:schemeClr val="dk1"/>
                </a:solidFill>
              </a:rPr>
              <a:t>Change the order ID in a request to access someone else’s order.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MASS_ASSIGNMENT</a:t>
            </a:r>
            <a:br>
              <a:rPr b="1" lang="en-US" sz="1100">
                <a:solidFill>
                  <a:schemeClr val="dk1"/>
                </a:solidFill>
              </a:rPr>
            </a:br>
            <a:r>
              <a:rPr lang="en-US" sz="1100">
                <a:solidFill>
                  <a:schemeClr val="dk1"/>
                </a:solidFill>
              </a:rPr>
              <a:t>Add </a:t>
            </a:r>
            <a:r>
              <a:rPr lang="en-US" sz="1100">
                <a:solidFill>
                  <a:srgbClr val="188038"/>
                </a:solidFill>
                <a:latin typeface="Roboto Mono"/>
                <a:ea typeface="Roboto Mono"/>
                <a:cs typeface="Roboto Mono"/>
                <a:sym typeface="Roboto Mono"/>
              </a:rPr>
              <a:t>isAdmin: true</a:t>
            </a:r>
            <a:r>
              <a:rPr lang="en-US" sz="1100">
                <a:solidFill>
                  <a:schemeClr val="dk1"/>
                </a:solidFill>
              </a:rPr>
              <a:t> to a profile update request to try to give yourself admin rights.</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PRICING_TAMPER</a:t>
            </a:r>
            <a:br>
              <a:rPr b="1" lang="en-US" sz="1100">
                <a:solidFill>
                  <a:schemeClr val="dk1"/>
                </a:solidFill>
              </a:rPr>
            </a:br>
            <a:r>
              <a:rPr lang="en-US" sz="1100">
                <a:solidFill>
                  <a:schemeClr val="dk1"/>
                </a:solidFill>
              </a:rPr>
              <a:t>Change the refund amount from $100 to $200.</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DOUBLE_SPEND</a:t>
            </a:r>
            <a:br>
              <a:rPr b="1" lang="en-US" sz="1100">
                <a:solidFill>
                  <a:schemeClr val="dk1"/>
                </a:solidFill>
              </a:rPr>
            </a:br>
            <a:r>
              <a:rPr lang="en-US" sz="1100">
                <a:solidFill>
                  <a:schemeClr val="dk1"/>
                </a:solidFill>
              </a:rPr>
              <a:t>Send two refund requests at the same time to try to get paid twice.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REPLAY_ATTACK</a:t>
            </a:r>
            <a:br>
              <a:rPr b="1" lang="en-US" sz="1100">
                <a:solidFill>
                  <a:schemeClr val="dk1"/>
                </a:solidFill>
              </a:rPr>
            </a:br>
            <a:r>
              <a:rPr lang="en-US" sz="1100">
                <a:solidFill>
                  <a:schemeClr val="dk1"/>
                </a:solidFill>
              </a:rPr>
              <a:t>Resend an old coupon request to try to reuse a coupon that was already used.</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FORCED_BROWSING</a:t>
            </a:r>
            <a:br>
              <a:rPr b="1" lang="en-US" sz="1100">
                <a:solidFill>
                  <a:schemeClr val="dk1"/>
                </a:solidFill>
              </a:rPr>
            </a:br>
            <a:r>
              <a:rPr lang="en-US" sz="1100">
                <a:solidFill>
                  <a:schemeClr val="dk1"/>
                </a:solidFill>
              </a:rPr>
              <a:t>Open an admin report URL directly as a regular user, even though the UI does not show the link.</a:t>
            </a:r>
            <a:endParaRPr sz="1100">
              <a:solidFill>
                <a:schemeClr val="dk1"/>
              </a:solidFill>
            </a:endParaRPr>
          </a:p>
          <a:p>
            <a:pPr indent="0" lvl="0" marL="0" rtl="0" algn="l">
              <a:lnSpc>
                <a:spcPct val="100000"/>
              </a:lnSpc>
              <a:spcBef>
                <a:spcPts val="1200"/>
              </a:spcBef>
              <a:spcAft>
                <a:spcPts val="0"/>
              </a:spcAft>
              <a:buSzPts val="1200"/>
              <a:buNone/>
            </a:pPr>
            <a:r>
              <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Инструкции Saboteur</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https://github.com/allmighty-tiger/FlowBusters/blob/b00562aabbcabdc392ee187af5c2b2a5fedf1cab/crew/agents/saboteur/charter.md#L57-L81</a:t>
            </a:r>
            <a:endParaRPr lang="ru-RU" sz="1200"/>
          </a:p>
        </p:txBody>
      </p:sp>
      <p:sp>
        <p:nvSpPr>
          <p:cNvPr id="364" name="Google Shape;36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In the recorded happy path, a $100 order receives a $100 refund. The AI may infer a rule: the </a:t>
            </a:r>
            <a:r>
              <a:rPr b="1" lang="en-US" sz="1200"/>
              <a:t>customer should not receive more than the original payment.</a:t>
            </a:r>
            <a:endParaRPr/>
          </a:p>
          <a:p>
            <a:pPr indent="0" lvl="0" marL="0" rtl="0" algn="l">
              <a:lnSpc>
                <a:spcPct val="115000"/>
              </a:lnSpc>
              <a:spcBef>
                <a:spcPts val="1200"/>
              </a:spcBef>
              <a:spcAft>
                <a:spcPts val="0"/>
              </a:spcAft>
              <a:buClr>
                <a:schemeClr val="dk1"/>
              </a:buClr>
              <a:buSzPts val="1100"/>
              <a:buFont typeface="Arial"/>
              <a:buNone/>
            </a:pPr>
            <a:r>
              <a:rPr lang="en-US"/>
              <a:t>Here, that rule becomes a check called “sum less than or equal to,” or sum_lte. In this example, totalReturned must be less than or equal to originalAmount. To test this rule, we repeat refund completion.</a:t>
            </a:r>
            <a:endParaRPr/>
          </a:p>
          <a:p>
            <a:pPr indent="0" lvl="0" marL="0" rtl="0" algn="l">
              <a:lnSpc>
                <a:spcPct val="115000"/>
              </a:lnSpc>
              <a:spcBef>
                <a:spcPts val="1200"/>
              </a:spcBef>
              <a:spcAft>
                <a:spcPts val="0"/>
              </a:spcAft>
              <a:buClr>
                <a:schemeClr val="dk1"/>
              </a:buClr>
              <a:buSzPts val="1100"/>
              <a:buFont typeface="Arial"/>
              <a:buNone/>
            </a:pPr>
            <a:r>
              <a:rPr lang="en-US"/>
              <a:t>This is an AI-inferred rule: it comes from </a:t>
            </a:r>
            <a:r>
              <a:rPr lang="en-US">
                <a:solidFill>
                  <a:schemeClr val="dk1"/>
                </a:solidFill>
              </a:rPr>
              <a:t>behavior</a:t>
            </a:r>
            <a:r>
              <a:rPr lang="en-US"/>
              <a:t> observed by the Agent rather than a requirement supplied by a product owner. At this point, we have a hypothesis.</a:t>
            </a:r>
            <a:endParaRPr/>
          </a:p>
          <a:p>
            <a:pPr indent="0" lvl="0" marL="0" rtl="0" algn="l">
              <a:lnSpc>
                <a:spcPct val="100000"/>
              </a:lnSpc>
              <a:spcBef>
                <a:spcPts val="1200"/>
              </a:spcBef>
              <a:spcAft>
                <a:spcPts val="0"/>
              </a:spcAft>
              <a:buSzPts val="1200"/>
              <a:buNone/>
            </a:pPr>
            <a:r>
              <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Проверка inferred invariant</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https://github.com/allmighty-tiger/FlowBusters/blob/b00562aabbcabdc392ee187af5c2b2a5fedf1cab/backend/runtime/inferred_invariants.py#L10-L75</a:t>
            </a:r>
            <a:endParaRPr lang="ru-RU" sz="1200"/>
          </a:p>
        </p:txBody>
      </p:sp>
      <p:sp>
        <p:nvSpPr>
          <p:cNvPr id="421" name="Google Shape;42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The agent turns that hypothesis into a structured test case.</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Each test needs an independent starting state. In this demo, the reset endpoint is configured as setup. It restores the test app to a known starting state before each test, so previous tests do not affect the result.</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This specific test case checks repeated refund completion. It includes a reset, an initial state read, a refund request, two completion calls, and a final state read. It also defines the expected final refund status.</a:t>
            </a:r>
            <a:endParaRPr sz="1200"/>
          </a:p>
          <a:p>
            <a:pPr indent="0" lvl="0" marL="0" rtl="0" algn="l">
              <a:lnSpc>
                <a:spcPct val="100000"/>
              </a:lnSpc>
              <a:spcBef>
                <a:spcPts val="0"/>
              </a:spcBef>
              <a:spcAft>
                <a:spcPts val="0"/>
              </a:spcAft>
              <a:buClr>
                <a:srgbClr val="000000"/>
              </a:buClr>
              <a:buSzPts val="1200"/>
              <a:buFont typeface="Arial"/>
              <a:buNone/>
            </a:pPr>
            <a:r>
              <a:t/>
            </a:r>
            <a:endParaRPr/>
          </a:p>
          <a:p>
            <a:pPr indent="0" lvl="0" marL="0" rtl="0" algn="l">
              <a:lnSpc>
                <a:spcPct val="100000"/>
              </a:lnSpc>
              <a:spcBef>
                <a:spcPts val="0"/>
              </a:spcBef>
              <a:spcAft>
                <a:spcPts val="0"/>
              </a:spcAft>
              <a:buSzPts val="1200"/>
              <a:buNone/>
            </a:pPr>
            <a:r>
              <a:rPr lang="en-US"/>
              <a:t>##############################################################</a:t>
            </a:r>
            <a:endParaRPr/>
          </a:p>
          <a:p>
            <a:pPr indent="0" lvl="0" marL="0" rtl="0" algn="l">
              <a:lnSpc>
                <a:spcPct val="100000"/>
              </a:lnSpc>
              <a:spcBef>
                <a:spcPts val="0"/>
              </a:spcBef>
              <a:spcAft>
                <a:spcPts val="0"/>
              </a:spcAft>
              <a:buSzPts val="1200"/>
              <a:buNone/>
            </a:pPr>
            <a:r>
              <a:rPr lang="en-US" sz="1200"/>
              <a:t>Technical references (</a:t>
            </a:r>
            <a:r>
              <a:rPr b="1" lang="en-US" sz="1200"/>
              <a:t>not part of the spoken script)</a:t>
            </a:r>
            <a:endParaRPr b="1"/>
          </a:p>
          <a:p>
            <a:pPr indent="0" lvl="0" marL="0" rtl="0" algn="l">
              <a:lnSpc>
                <a:spcPct val="100000"/>
              </a:lnSpc>
              <a:spcBef>
                <a:spcPts val="0"/>
              </a:spcBef>
              <a:spcAft>
                <a:spcPts val="0"/>
              </a:spcAft>
              <a:buSzPts val="1200"/>
              <a:buNone/>
            </a:pPr>
            <a:r>
              <a:rPr lang="en-US" sz="1200"/>
              <a:t>Configured setup authorization: backend/runtime/crew_runner.py::prepare_run_dir and backend/tests/test_startup_prompt.py::test_setup_paths_are_injected_into_run_scope.</a:t>
            </a:r>
            <a:endParaRPr/>
          </a:p>
          <a:p>
            <a:pPr indent="0" lvl="0" marL="0" rtl="0" algn="l">
              <a:lnSpc>
                <a:spcPct val="100000"/>
              </a:lnSpc>
              <a:spcBef>
                <a:spcPts val="0"/>
              </a:spcBef>
              <a:spcAft>
                <a:spcPts val="0"/>
              </a:spcAft>
              <a:buSzPts val="1200"/>
              <a:buNone/>
            </a:pPr>
            <a:r>
              <a:rPr lang="en-US" sz="1200"/>
              <a:t>https://github.com/allmighty-tiger/FlowBusters/blob/crossflow-fixes/backend/runtime/crew_runner.py</a:t>
            </a:r>
            <a:endParaRPr/>
          </a:p>
          <a:p>
            <a:pPr indent="0" lvl="0" marL="0" rtl="0" algn="l">
              <a:lnSpc>
                <a:spcPct val="100000"/>
              </a:lnSpc>
              <a:spcBef>
                <a:spcPts val="0"/>
              </a:spcBef>
              <a:spcAft>
                <a:spcPts val="0"/>
              </a:spcAft>
              <a:buSzPts val="1200"/>
              <a:buNone/>
            </a:pPr>
            <a:r>
              <a:rPr lang="en-US" sz="1200"/>
              <a:t>https://github.com/allmighty-tiger/FlowBusters/blob/crossflow-fixes/backend/tests/test_startup_prompt.py</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Контракт и admission плана</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https://github.com/allmighty-tiger/FlowBusters/blob/b00562aabbcabdc392ee187af5c2b2a5fedf1cab/backend/runtime/probe_contract.py#L43-L76</a:t>
            </a:r>
            <a:endParaRPr lang="ru-RU" sz="1200"/>
          </a:p>
        </p:txBody>
      </p:sp>
      <p:sp>
        <p:nvSpPr>
          <p:cNvPr id="457" name="Google Shape;45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Arial"/>
              <a:buNone/>
            </a:pPr>
            <a:r>
              <a:rPr lang="en-US">
                <a:solidFill>
                  <a:schemeClr val="dk1"/>
                </a:solidFill>
              </a:rPr>
              <a:t>Before execution, the backend validates the test case against the allowed scope, the original recordings. If validation fails, the test does not run.</a:t>
            </a:r>
            <a:endParaRPr>
              <a:solidFill>
                <a:schemeClr val="dk1"/>
              </a:solidFill>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The backend </a:t>
            </a:r>
            <a:r>
              <a:rPr lang="en-US"/>
              <a:t>uses </a:t>
            </a:r>
            <a:r>
              <a:rPr lang="en-US" sz="1200"/>
              <a:t>a template to generate a Python script. It then runs the saved script</a:t>
            </a:r>
            <a:r>
              <a:rPr lang="en-US"/>
              <a:t> by sending </a:t>
            </a:r>
            <a:r>
              <a:rPr lang="en-US">
                <a:solidFill>
                  <a:schemeClr val="dk1"/>
                </a:solidFill>
              </a:rPr>
              <a:t>HTTP requests directly, </a:t>
            </a:r>
            <a:r>
              <a:rPr lang="en-US"/>
              <a:t>outside the browser. </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Генерация исполняемого скрипта</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https://github.com/allmighty-tiger/FlowBusters/blob/b00562aabbcabdc392ee187af5c2b2a5fedf1cab/backend/runtime/generated_probes.py#L85-L134</a:t>
            </a:r>
            <a:endParaRPr lang="ru-RU" sz="1200"/>
          </a:p>
        </p:txBody>
      </p:sp>
      <p:sp>
        <p:nvSpPr>
          <p:cNvPr id="474" name="Google Shape;474;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After the test runs, the backend saves an execution log with the script, requests, responses, and application state before and after.</a:t>
            </a:r>
            <a:endParaRPr/>
          </a:p>
          <a:p>
            <a:pPr indent="0" lvl="0" marL="0" rtl="0" algn="l">
              <a:lnSpc>
                <a:spcPct val="115000"/>
              </a:lnSpc>
              <a:spcBef>
                <a:spcPts val="1200"/>
              </a:spcBef>
              <a:spcAft>
                <a:spcPts val="1200"/>
              </a:spcAft>
              <a:buSzPts val="1100"/>
              <a:buNone/>
            </a:pPr>
            <a:r>
              <a:rPr lang="en-US"/>
              <a:t>In this example, the log shows two refund completion calls and $200 returned on a $100 order. In this case the business rule was violated.</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Создание и подпись receipt</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https://github.com/allmighty-tiger/FlowBusters/blob/b00562aabbcabdc392ee187af5c2b2a5fedf1cab/backend/runtime/probe_executor.py#L45-L125</a:t>
            </a:r>
            <a:endParaRPr lang="ru-RU" sz="1200"/>
          </a:p>
        </p:txBody>
      </p:sp>
      <p:sp>
        <p:nvSpPr>
          <p:cNvPr id="494" name="Google Shape;494;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h1471d29b42600248_0_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h1471d29b42600248_0_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backend checks the execution log against the captured HTTP traffic. It verifies the before and after state, then checks the final values against the tested rule. Based on these checks, the backend assigns the test outcome.</a:t>
            </a:r>
            <a:endParaRPr/>
          </a:p>
          <a:p>
            <a:pPr indent="0" lvl="0" marL="0" rtl="0" algn="l">
              <a:lnSpc>
                <a:spcPct val="115000"/>
              </a:lnSpc>
              <a:spcBef>
                <a:spcPts val="1200"/>
              </a:spcBef>
              <a:spcAft>
                <a:spcPts val="0"/>
              </a:spcAft>
              <a:buClr>
                <a:schemeClr val="dk1"/>
              </a:buClr>
              <a:buSzPts val="1100"/>
              <a:buNone/>
            </a:pPr>
            <a:r>
              <a:rPr lang="en-US"/>
              <a:t>CONFIRMED means the validated test reproduced the unsafe outcome.</a:t>
            </a:r>
            <a:endParaRPr/>
          </a:p>
          <a:p>
            <a:pPr>
              <a:buNone/>
            </a:pPr>
            <a:r>
              <a:rPr lang="ru-RU" sz="1200">
                <a:latin typeface="Arial"/>
              </a:rPr>
              <a:t xml:space="preserve">The test reproduced the unsafe outcome, but the AI-inferred rule still needs the workflow owner’s review.</a:t>
            </a:r>
            <a:endParaRPr lang="ru-RU" sz="1200"/>
          </a:p>
          <a:p>
            <a:pPr indent="0" lvl="0" marL="0" rtl="0" algn="l">
              <a:lnSpc>
                <a:spcPct val="115000"/>
              </a:lnSpc>
              <a:spcBef>
                <a:spcPts val="1200"/>
              </a:spcBef>
              <a:spcAft>
                <a:spcPts val="0"/>
              </a:spcAft>
              <a:buClr>
                <a:schemeClr val="dk1"/>
              </a:buClr>
              <a:buSzPts val="1100"/>
              <a:buNone/>
            </a:pPr>
            <a:r>
              <a:rPr lang="en-US"/>
              <a:t>NOT REPRODUCED means this test did not show it.</a:t>
            </a:r>
            <a:endParaRPr/>
          </a:p>
          <a:p>
            <a:pPr indent="0" lvl="0" marL="0" rtl="0" algn="l">
              <a:lnSpc>
                <a:spcPct val="115000"/>
              </a:lnSpc>
              <a:spcBef>
                <a:spcPts val="1200"/>
              </a:spcBef>
              <a:spcAft>
                <a:spcPts val="0"/>
              </a:spcAft>
              <a:buClr>
                <a:schemeClr val="dk1"/>
              </a:buClr>
              <a:buSzPts val="1100"/>
              <a:buFont typeface="Arial"/>
              <a:buNone/>
            </a:pPr>
            <a:r>
              <a:rPr lang="en-US"/>
              <a:t>NEEDS REVIEW means the result needs human review. Missing evidence and test errors have separate outcomes.</a:t>
            </a:r>
            <a:endParaRPr/>
          </a:p>
          <a:p>
            <a:pPr indent="0" lvl="0" marL="0" rtl="0" algn="l">
              <a:lnSpc>
                <a:spcPct val="115000"/>
              </a:lnSpc>
              <a:spcBef>
                <a:spcPts val="1200"/>
              </a:spcBef>
              <a:spcAft>
                <a:spcPts val="0"/>
              </a:spcAft>
              <a:buClr>
                <a:schemeClr val="dk1"/>
              </a:buClr>
              <a:buSzPts val="1100"/>
              <a:buFont typeface="Arial"/>
              <a:buNone/>
            </a:pPr>
            <a:r>
              <a:rPr lang="en-US"/>
              <a:t>The generated report links the executed script, evidence and result. The AI also suggests fixes, severity and a CWE (Common Weakness Enumeration) category. These need human review. HTTP 200 alone does not prove a vulnerability.</a:t>
            </a:r>
            <a:endParaRPr/>
          </a:p>
          <a:p>
            <a:pPr indent="0" lvl="0" marL="0" rtl="0" algn="l">
              <a:lnSpc>
                <a:spcPct val="100000"/>
              </a:lnSpc>
              <a:spcBef>
                <a:spcPts val="1200"/>
              </a:spcBef>
              <a:spcAft>
                <a:spcPts val="0"/>
              </a:spcAft>
              <a:buClr>
                <a:schemeClr val="dk1"/>
              </a:buClr>
              <a:buSzPts val="1200"/>
              <a:buNone/>
            </a:pPr>
            <a:r>
              <a:rPr b="1" i="1" lang="en-US"/>
              <a:t>CWE - a standardized dictionary and classification system for software and hardware security flaws </a:t>
            </a:r>
            <a:endParaRPr b="1" i="1"/>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Technical references (not part of the spoken script)</a:t>
            </a:r>
            <a:endParaRPr/>
          </a:p>
          <a:p>
            <a:pPr indent="0" lvl="0" marL="0" rtl="0" algn="l">
              <a:lnSpc>
                <a:spcPct val="100000"/>
              </a:lnSpc>
              <a:spcBef>
                <a:spcPts val="0"/>
              </a:spcBef>
              <a:spcAft>
                <a:spcPts val="0"/>
              </a:spcAft>
              <a:buClr>
                <a:schemeClr val="dk1"/>
              </a:buClr>
              <a:buSzPts val="1200"/>
              <a:buNone/>
            </a:pPr>
            <a:r>
              <a:rPr lang="en-US">
                <a:solidFill>
                  <a:schemeClr val="dk1"/>
                </a:solidFill>
              </a:rPr>
              <a:t>Checked crossflow-fixes commit: b00562aabbcabdc392ee187af5c2b2a5fedf1cab</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Receipt authentication and captured evidence: backend/runtime/probe_executor.py::load_receipts, receipt_evidence_error, trace_error</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https://github.com/allmighty-tiger/FlowBusters/blob/crossflow-fixes/backend/runtime/probe_executor.py</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Outcome classification: backend/runtime/verification.py::classify, _classify_business_rule</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https://github.com/allmighty-tiger/FlowBusters/blob/crossflow-fixes/backend/runtime/verification.py</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Executed-script attribution and exact draft attachment: backend/runtime/report_presentation.py::_receipt_plan, _draft_matches, present_report</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https://github.com/allmighty-tiger/FlowBusters/blob/crossflow-fixes/backend/runtime/report_presentation.py</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Report presentation and technical evidence: frontend/src/components/ReportView.tsx</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https://github.com/allmighty-tiger/FlowBusters/blob/crossflow-fixes/frontend/src/components/ReportView.tsx</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AI report authoring and suggested classifications:</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https://github.com/allmighty-tiger/FlowBusters/blob/crossflow-fixes/crew/agents/prober/charter.md</a:t>
            </a:r>
            <a:endParaRPr/>
          </a:p>
          <a:p>
            <a:pPr indent="0" lvl="0" marL="0" rtl="0" algn="l">
              <a:lnSpc>
                <a:spcPct val="100000"/>
              </a:lnSpc>
              <a:spcBef>
                <a:spcPts val="0"/>
              </a:spcBef>
              <a:spcAft>
                <a:spcPts val="0"/>
              </a:spcAft>
              <a:buClr>
                <a:schemeClr val="dk1"/>
              </a:buClr>
              <a:buSzPts val="1200"/>
              <a:buNone/>
            </a:pPr>
            <a:r>
              <a:rPr lang="en-US">
                <a:solidFill>
                  <a:schemeClr val="dk1"/>
                </a:solidFill>
              </a:rPr>
              <a:t>https://github.com/allmighty-tiger/FlowBusters/blob/crossflow-fixes/crew/skills/probe-flow/REPORTING.md</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Report scope clarification: the spoken reference to earlier drafts concerns generation artifacts attached to an execution. Attachment requires an exact matching plan and authenticated execution. Unmatched hypotheses can remain separate coverage notes; they are not additional executed findings.</a:t>
            </a:r>
            <a:endParaRPr/>
          </a:p>
          <a:p>
            <a:pPr indent="0" lvl="0" marL="0" rtl="0" algn="l">
              <a:lnSpc>
                <a:spcPct val="100000"/>
              </a:lnSpc>
              <a:spcBef>
                <a:spcPts val="0"/>
              </a:spcBef>
              <a:spcAft>
                <a:spcPts val="0"/>
              </a:spcAft>
              <a:buClr>
                <a:schemeClr val="dk1"/>
              </a:buClr>
              <a:buSzPts val="1200"/>
              <a:buNone/>
            </a:pPr>
            <a:r>
              <a:t/>
            </a:r>
            <a:endParaRPr/>
          </a:p>
          <a:p>
            <a:pPr indent="0" lvl="0" marL="0" rtl="0" algn="l">
              <a:lnSpc>
                <a:spcPct val="100000"/>
              </a:lnSpc>
              <a:spcBef>
                <a:spcPts val="0"/>
              </a:spcBef>
              <a:spcAft>
                <a:spcPts val="0"/>
              </a:spcAft>
              <a:buClr>
                <a:schemeClr val="dk1"/>
              </a:buClr>
              <a:buSzPts val="1200"/>
              <a:buNone/>
            </a:pPr>
            <a:r>
              <a:rPr lang="en-US">
                <a:solidFill>
                  <a:schemeClr val="dk1"/>
                </a:solidFill>
              </a:rPr>
              <a:t>Rule clarification: CONFIRMED on the AI-inferred business-rule path does not establish business-owner approval of the inference. Severity and CWE classifications remain subject to human review.</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Проверка evidence</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https://github.com/allmighty-tiger/FlowBusters/blob/b00562aabbcabdc392ee187af5c2b2a5fedf1cab/backend/runtime/probe_executor.py#L482-L556</a:t>
            </a:r>
            <a:endParaRPr lang="ru-RU" sz="1200"/>
          </a:p>
          <a:p>
            <a:pPr>
              <a:buNone/>
            </a:pPr>
            <a:r>
              <a:rPr lang="ru-RU" sz="1200" b="1">
                <a:latin typeface="Arial"/>
              </a:rPr>
              <a:t xml:space="preserve">Классификация</a:t>
            </a:r>
            <a:endParaRPr lang="ru-RU" sz="1200"/>
          </a:p>
          <a:p>
            <a:pPr>
              <a:buNone/>
            </a:pPr>
            <a:r>
              <a:rPr lang="ru-RU" sz="1200">
                <a:solidFill>
                  <a:srgbClr val="0563C1"/>
                </a:solidFill>
                <a:latin typeface="Arial"/>
                <a:hlinkClick r:id="rIdQAReference2"/>
              </a:rPr>
              <a:t xml:space="preserve">https://github.com/allmighty-tiger/FlowBusters/blob/b00562aabbcabdc392ee187af5c2b2a5fedf1cab/backend/runtime/verification.py#L424-L468</a:t>
            </a:r>
            <a:endParaRPr lang="ru-RU" sz="1200"/>
          </a:p>
        </p:txBody>
      </p:sp>
      <p:sp>
        <p:nvSpPr>
          <p:cNvPr id="508" name="Google Shape;508;h1471d29b42600248_0_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I added cross-flow testing because some issues only appear when workflows interact.</a:t>
            </a:r>
            <a:endParaRPr/>
          </a:p>
          <a:p>
            <a:pPr indent="0" lvl="0" marL="0" rtl="0" algn="l">
              <a:lnSpc>
                <a:spcPct val="115000"/>
              </a:lnSpc>
              <a:spcBef>
                <a:spcPts val="1200"/>
              </a:spcBef>
              <a:spcAft>
                <a:spcPts val="0"/>
              </a:spcAft>
              <a:buSzPts val="1100"/>
              <a:buNone/>
            </a:pPr>
            <a:r>
              <a:rPr lang="en-US"/>
              <a:t>For example, a $30 price adjustment and a $100 refund may each look normal. But if both apply to the same $100 order, the user </a:t>
            </a:r>
            <a:r>
              <a:rPr b="1" lang="en-US"/>
              <a:t>could try and </a:t>
            </a:r>
            <a:r>
              <a:rPr lang="en-US"/>
              <a:t>get $130 back.</a:t>
            </a:r>
            <a:endParaRPr/>
          </a:p>
          <a:p>
            <a:pPr indent="0" lvl="0" marL="0" rtl="0" algn="l">
              <a:lnSpc>
                <a:spcPct val="115000"/>
              </a:lnSpc>
              <a:spcBef>
                <a:spcPts val="1200"/>
              </a:spcBef>
              <a:spcAft>
                <a:spcPts val="0"/>
              </a:spcAft>
              <a:buSzPts val="1100"/>
              <a:buNone/>
            </a:pPr>
            <a:r>
              <a:rPr lang="en-US"/>
              <a:t>FlowBusters combines actions from two saved recordings. We don’t need to record the combined workflow again.</a:t>
            </a:r>
            <a:endParaRPr/>
          </a:p>
          <a:p>
            <a:pPr indent="0" lvl="0" marL="0" rtl="0" algn="l">
              <a:lnSpc>
                <a:spcPct val="115000"/>
              </a:lnSpc>
              <a:spcBef>
                <a:spcPts val="1200"/>
              </a:spcBef>
              <a:spcAft>
                <a:spcPts val="1200"/>
              </a:spcAft>
              <a:buSzPts val="1100"/>
              <a:buNone/>
            </a:pPr>
            <a:r>
              <a:rPr lang="en-US"/>
              <a:t>Let’s see this in the local test app.</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Сбор источников и модели приложения</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https://github.com/allmighty-tiger/FlowBusters/blob/b00562aabbcabdc392ee187af5c2b2a5fedf1cab/backend/runtime/application_model.py#L165-L209</a:t>
            </a:r>
            <a:endParaRPr lang="ru-RU" sz="1200"/>
          </a:p>
        </p:txBody>
      </p:sp>
      <p:sp>
        <p:nvSpPr>
          <p:cNvPr id="540" name="Google Shape;540;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I will use Northstar Market, a local test application with an intentional business logic flaw. The order starts at $100.</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First, I will show the separate price-adjustment and refund recordings. Then I will select them for cross-flow analysis and inspect the combined test case. The backend will execute the accepted probe against a clean order.</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We will follow the $30 adjustment, the refund request, and refund completion, then inspect the final state and execution evidence. The result we are looking for is totalReturned equal to $130 while originalAmount remains $100.</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If the live run is delayed, I will use the saved assessment to show the same sequence and evidence.</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Запуск probes</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https://github.com/allmighty-tiger/FlowBusters/blob/b00562aabbcabdc392ee187af5c2b2a5fedf1cab/backend/runtime/probe_executor.py#L966</a:t>
            </a:r>
            <a:endParaRPr lang="ru-RU" sz="1200"/>
          </a:p>
        </p:txBody>
      </p:sp>
      <p:sp>
        <p:nvSpPr>
          <p:cNvPr id="565" name="Google Shape;56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200"/>
              <a:buNone/>
            </a:pPr>
            <a:r>
              <a:rPr lang="en-US" sz="1200"/>
              <a:t>This saved assessment shows the example we just walked through. It used two recorded source flows and one combined probe. The saved result is one receipt and one confirmed issue.</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The final order state shows $130 returned on an order originally worth $100. The price adjustment returned $30, and the refund returned another $100.</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The important evidence is the final state and the recorded execution, not just successful HTTP responses. This illustrates why testing the interaction between workflows can reveal a problem that their separate happy paths do not show.</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Загрузка отчёта</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https://github.com/allmighty-tiger/FlowBusters/blob/b00562aabbcabdc392ee187af5c2b2a5fedf1cab/backend/runtime/verification.py#L51</a:t>
            </a:r>
            <a:endParaRPr lang="ru-RU" sz="1200"/>
          </a:p>
          <a:p>
            <a:pPr>
              <a:buNone/>
            </a:pPr>
            <a:r>
              <a:rPr lang="ru-RU" sz="1200">
                <a:latin typeface="Arial"/>
              </a:rPr>
              <a:t xml:space="preserve">Суммы и количество receipts доказываются конкретным сохранённым run, не исходным кодом.</a:t>
            </a:r>
            <a:endParaRPr lang="ru-RU" sz="1200"/>
          </a:p>
        </p:txBody>
      </p:sp>
      <p:sp>
        <p:nvSpPr>
          <p:cNvPr id="604" name="Google Shape;604;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1471d29b42600248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h1471d29b42600248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FlowBusters is a research prototype. scope.json checks the configured target. </a:t>
            </a:r>
            <a:endParaRPr/>
          </a:p>
          <a:p>
            <a:pPr indent="0" lvl="0" marL="0" rtl="0" algn="l">
              <a:lnSpc>
                <a:spcPct val="115000"/>
              </a:lnSpc>
              <a:spcBef>
                <a:spcPts val="1200"/>
              </a:spcBef>
              <a:spcAft>
                <a:spcPts val="0"/>
              </a:spcAft>
              <a:buClr>
                <a:schemeClr val="dk1"/>
              </a:buClr>
              <a:buSzPts val="1100"/>
              <a:buFont typeface="Arial"/>
              <a:buNone/>
            </a:pPr>
            <a:r>
              <a:rPr lang="en-US"/>
              <a:t>The backend runs admitted probes automatically, without a mandatory human approval pause. That is why I use an authorized, isolated, non-production environment with synthetic data and dedicated accounts.</a:t>
            </a:r>
            <a:endParaRPr/>
          </a:p>
          <a:p>
            <a:pPr indent="0" lvl="0" marL="0" rtl="0" algn="l">
              <a:lnSpc>
                <a:spcPct val="115000"/>
              </a:lnSpc>
              <a:spcBef>
                <a:spcPts val="1200"/>
              </a:spcBef>
              <a:spcAft>
                <a:spcPts val="0"/>
              </a:spcAft>
              <a:buSzPts val="1100"/>
              <a:buNone/>
            </a:pPr>
            <a:r>
              <a:rPr lang="en-US"/>
              <a:t>Each test needs an independent starting state. Setup must be configured; FlowBusters cannot reset an arbitrary website. </a:t>
            </a:r>
            <a:endParaRPr/>
          </a:p>
          <a:p>
            <a:pPr indent="0" lvl="0" marL="0" rtl="0" algn="l">
              <a:lnSpc>
                <a:spcPct val="115000"/>
              </a:lnSpc>
              <a:spcBef>
                <a:spcPts val="1200"/>
              </a:spcBef>
              <a:spcAft>
                <a:spcPts val="0"/>
              </a:spcAft>
              <a:buClr>
                <a:schemeClr val="dk1"/>
              </a:buClr>
              <a:buSzPts val="1100"/>
              <a:buFont typeface="Arial"/>
              <a:buNone/>
            </a:pPr>
            <a:r>
              <a:rPr lang="en-US"/>
              <a:t>HAR files, scripts and reports may contain sensitive data, so they need careful handling.</a:t>
            </a:r>
            <a:endParaRPr/>
          </a:p>
          <a:p>
            <a:pPr indent="0" lvl="0" marL="0" rtl="0" algn="l">
              <a:lnSpc>
                <a:spcPct val="115000"/>
              </a:lnSpc>
              <a:spcBef>
                <a:spcPts val="1200"/>
              </a:spcBef>
              <a:spcAft>
                <a:spcPts val="0"/>
              </a:spcAft>
              <a:buClr>
                <a:schemeClr val="dk1"/>
              </a:buClr>
              <a:buSzPts val="1100"/>
              <a:buFont typeface="Arial"/>
              <a:buNone/>
            </a:pPr>
            <a:r>
              <a:rPr b="1" lang="en-US"/>
              <a:t>Coverage depends on what was recorded.</a:t>
            </a:r>
            <a:r>
              <a:rPr lang="en-US"/>
              <a:t> If a button’s API request was not captured, it remains a test idea. I need to record it first, or reuse the request from another selected workflow through cross-flow. This limits coverage, but reduces the risk of made-up requests and unsupported findings.</a:t>
            </a:r>
            <a:endParaRPr/>
          </a:p>
          <a:p>
            <a:pPr indent="0" lvl="0" marL="0" rtl="0" algn="l">
              <a:lnSpc>
                <a:spcPct val="115000"/>
              </a:lnSpc>
              <a:spcBef>
                <a:spcPts val="1200"/>
              </a:spcBef>
              <a:spcAft>
                <a:spcPts val="0"/>
              </a:spcAft>
              <a:buClr>
                <a:schemeClr val="dk1"/>
              </a:buClr>
              <a:buSzPts val="1100"/>
              <a:buFont typeface="Arial"/>
              <a:buNone/>
            </a:pPr>
            <a:r>
              <a:rPr lang="en-US"/>
              <a:t>The AI can miss an issue or infer the wrong rule. A negative test does not prove security. Human review and other testing methods are still needed.</a:t>
            </a:r>
            <a:endParaRPr/>
          </a:p>
          <a:p>
            <a:pPr indent="0" lvl="0" marL="0" rtl="0" algn="l">
              <a:lnSpc>
                <a:spcPct val="100000"/>
              </a:lnSpc>
              <a:spcBef>
                <a:spcPts val="1200"/>
              </a:spcBef>
              <a:spcAft>
                <a:spcPts val="0"/>
              </a:spcAft>
              <a:buSzPts val="1200"/>
              <a:buNone/>
            </a:pPr>
            <a:r>
              <a:t/>
            </a:r>
            <a:endParaRPr/>
          </a:p>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rPr lang="en-US" sz="1200"/>
              <a:t>Technical references (not part of the spoken script):</a:t>
            </a:r>
            <a:endParaRPr/>
          </a:p>
          <a:p>
            <a:pPr indent="0" lvl="0" marL="0" rtl="0" algn="l">
              <a:lnSpc>
                <a:spcPct val="100000"/>
              </a:lnSpc>
              <a:spcBef>
                <a:spcPts val="0"/>
              </a:spcBef>
              <a:spcAft>
                <a:spcPts val="0"/>
              </a:spcAft>
              <a:buSzPts val="1200"/>
              <a:buNone/>
            </a:pPr>
            <a:r>
              <a:rPr lang="en-US" sz="1200"/>
              <a:t>Checked against crossflow-fixes commit b00562aabbcabdc392ee187af5c2b2a5fedf1cab.</a:t>
            </a:r>
            <a:endParaRPr/>
          </a:p>
          <a:p>
            <a:pPr indent="0" lvl="0" marL="0" rtl="0" algn="l">
              <a:lnSpc>
                <a:spcPct val="100000"/>
              </a:lnSpc>
              <a:spcBef>
                <a:spcPts val="0"/>
              </a:spcBef>
              <a:spcAft>
                <a:spcPts val="0"/>
              </a:spcAft>
              <a:buSzPts val="1200"/>
              <a:buNone/>
            </a:pPr>
            <a:r>
              <a:rPr lang="en-US" sz="1200"/>
              <a:t>https://github.com/allmighty-tiger/FlowBusters/blob/crossflow-fixes/README.md#safety</a:t>
            </a:r>
            <a:endParaRPr/>
          </a:p>
          <a:p>
            <a:pPr indent="0" lvl="0" marL="0" rtl="0" algn="l">
              <a:lnSpc>
                <a:spcPct val="100000"/>
              </a:lnSpc>
              <a:spcBef>
                <a:spcPts val="0"/>
              </a:spcBef>
              <a:spcAft>
                <a:spcPts val="0"/>
              </a:spcAft>
              <a:buSzPts val="1200"/>
              <a:buNone/>
            </a:pPr>
            <a:r>
              <a:rPr lang="en-US" sz="1200"/>
              <a:t>https://github.com/allmighty-tiger/FlowBusters/blob/crossflow-fixes/backend/runtime/crew_runner.py</a:t>
            </a:r>
            <a:endParaRPr/>
          </a:p>
          <a:p>
            <a:pPr indent="0" lvl="0" marL="0" rtl="0" algn="l">
              <a:lnSpc>
                <a:spcPct val="100000"/>
              </a:lnSpc>
              <a:spcBef>
                <a:spcPts val="0"/>
              </a:spcBef>
              <a:spcAft>
                <a:spcPts val="0"/>
              </a:spcAft>
              <a:buSzPts val="1200"/>
              <a:buNone/>
            </a:pPr>
            <a:r>
              <a:rPr lang="en-US" sz="1200"/>
              <a:t>https://github.com/allmighty-tiger/FlowBusters/blob/crossflow-fixes/backend/runtime/recorder.py</a:t>
            </a:r>
            <a:endParaRPr/>
          </a:p>
          <a:p>
            <a:pPr indent="0" lvl="0" marL="0" rtl="0" algn="l">
              <a:lnSpc>
                <a:spcPct val="100000"/>
              </a:lnSpc>
              <a:spcBef>
                <a:spcPts val="0"/>
              </a:spcBef>
              <a:spcAft>
                <a:spcPts val="0"/>
              </a:spcAft>
              <a:buSzPts val="1200"/>
              <a:buNone/>
            </a:pPr>
            <a:r>
              <a:rPr lang="en-US" sz="1200"/>
              <a:t>https://github.com/allmighty-tiger/FlowBusters/blob/crossflow-fixes/backend/runtime/generated_probes.py</a:t>
            </a:r>
            <a:endParaRPr/>
          </a:p>
          <a:p>
            <a:pPr indent="0" lvl="0" marL="0" rtl="0" algn="l">
              <a:lnSpc>
                <a:spcPct val="100000"/>
              </a:lnSpc>
              <a:spcBef>
                <a:spcPts val="0"/>
              </a:spcBef>
              <a:spcAft>
                <a:spcPts val="0"/>
              </a:spcAft>
              <a:buSzPts val="1200"/>
              <a:buNone/>
            </a:pPr>
            <a:r>
              <a:rPr lang="en-US" sz="1200"/>
              <a:t>https://github.com/allmighty-tiger/FlowBusters/blob/crossflow-fixes/backend/runtime/probe_executor.py</a:t>
            </a:r>
            <a:endParaRPr/>
          </a:p>
          <a:p>
            <a:pPr indent="0" lvl="0" marL="0" rtl="0" algn="l">
              <a:lnSpc>
                <a:spcPct val="100000"/>
              </a:lnSpc>
              <a:spcBef>
                <a:spcPts val="0"/>
              </a:spcBef>
              <a:spcAft>
                <a:spcPts val="0"/>
              </a:spcAft>
              <a:buSzPts val="1200"/>
              <a:buNone/>
            </a:pPr>
            <a:r>
              <a:rPr lang="en-US" sz="1200"/>
              <a:t>https://github.com/allmighty-tiger/FlowBusters/blob/crossflow-fixes/backend/runtime/verification.py</a:t>
            </a:r>
            <a:endParaRPr/>
          </a:p>
          <a:p>
            <a:pPr indent="0" lvl="0" marL="0" rtl="0" algn="l">
              <a:lnSpc>
                <a:spcPct val="100000"/>
              </a:lnSpc>
              <a:spcBef>
                <a:spcPts val="0"/>
              </a:spcBef>
              <a:spcAft>
                <a:spcPts val="0"/>
              </a:spcAft>
              <a:buSzPts val="1200"/>
              <a:buNone/>
            </a:pPr>
            <a:r>
              <a:rPr lang="en-US" sz="1200"/>
              <a:t>https://github.com/allmighty-tiger/FlowBusters/blob/crossflow-fixes/docs/LUNCH-AND-LEARN.md</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b="1">
                <a:latin typeface="Arial"/>
              </a:rPr>
              <a:t xml:space="preserve">Раздел Safety в README</a:t>
            </a:r>
            <a:endParaRPr lang="ru-RU" sz="1200"/>
          </a:p>
          <a:p>
            <a:pPr>
              <a:buNone/>
            </a:pPr>
            <a:r>
              <a:rPr lang="ru-RU" sz="1200">
                <a:solidFill>
                  <a:srgbClr val="0563C1"/>
                </a:solidFill>
                <a:latin typeface="Arial"/>
                <a:hlinkClick r:id="rIdQAReference1"/>
              </a:rPr>
              <a:t xml:space="preserve">https://github.com/allmighty-tiger/FlowBusters/blob/b00562aabbcabdc392ee187af5c2b2a5fedf1cab/README.md#L204-L242</a:t>
            </a:r>
            <a:endParaRPr lang="ru-RU" sz="1200"/>
          </a:p>
        </p:txBody>
      </p:sp>
      <p:sp>
        <p:nvSpPr>
          <p:cNvPr id="629" name="Google Shape;629;h1471d29b42600248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h20d8057df9b10b19_2_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h20d8057df9b10b19_2_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The next </a:t>
            </a:r>
            <a:r>
              <a:rPr lang="en-US"/>
              <a:t>feature </a:t>
            </a:r>
            <a:r>
              <a:rPr lang="en-US" sz="1200"/>
              <a:t>I want to explore is connecting FlowBusters to Lucidchart through Lucid MCP. That could turn recorded workflows into editable maps for product teams to use for onboarding and knowledge transfer.</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sz="1200"/>
              <a:t>Later, I would explore Confluence MCP to create documentation pages with process summaries and links to those maps.</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sz="1200"/>
              <a:t>The workflow owner still needs to confirm that the diagrams and business rules are current. These are future ideas. I haven't implemented either integration yet.</a:t>
            </a:r>
            <a:endParaRPr/>
          </a:p>
          <a:p>
            <a:pPr indent="0" lvl="0" marL="0" rtl="0" algn="l">
              <a:spcBef>
                <a:spcPts val="0"/>
              </a:spcBef>
              <a:spcAft>
                <a:spcPts val="0"/>
              </a:spcAft>
              <a:buSzPts val="1200"/>
              <a:buNone/>
            </a:pPr>
            <a:r>
              <a:t/>
            </a:r>
            <a:endParaRPr/>
          </a:p>
          <a:p>
            <a:pPr indent="0" lvl="0" marL="0" rtl="0" algn="l">
              <a:lnSpc>
                <a:spcPct val="115000"/>
              </a:lnSpc>
              <a:spcBef>
                <a:spcPts val="1200"/>
              </a:spcBef>
              <a:spcAft>
                <a:spcPts val="0"/>
              </a:spcAft>
              <a:buClr>
                <a:schemeClr val="dk1"/>
              </a:buClr>
              <a:buSzPts val="1100"/>
              <a:buFont typeface="Arial"/>
              <a:buNone/>
            </a:pPr>
            <a:r>
              <a:rPr lang="en-US"/>
              <a:t>I hope you found this interesting and enjoyed the session. Thank you for listening, and I’m happy to take your questions.</a:t>
            </a:r>
            <a:endParaRPr/>
          </a:p>
          <a:p>
            <a:pPr indent="0" lvl="0" marL="0" rtl="0" algn="l">
              <a:spcBef>
                <a:spcPts val="1200"/>
              </a:spcBef>
              <a:spcAft>
                <a:spcPts val="0"/>
              </a:spcAft>
              <a:buSzPts val="1200"/>
              <a:buNone/>
            </a:pPr>
            <a:r>
              <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sz="1200"/>
              <a:t>Technical references (not part of the spoken script):</a:t>
            </a:r>
            <a:endParaRPr/>
          </a:p>
          <a:p>
            <a:pPr indent="0" lvl="0" marL="0" rtl="0" algn="l">
              <a:spcBef>
                <a:spcPts val="0"/>
              </a:spcBef>
              <a:spcAft>
                <a:spcPts val="0"/>
              </a:spcAft>
              <a:buSzPts val="1200"/>
              <a:buNone/>
            </a:pPr>
            <a:r>
              <a:rPr lang="en-US" sz="1200"/>
              <a:t>Lucid MCP supports diagram creation, document editing and document search:</a:t>
            </a:r>
            <a:endParaRPr/>
          </a:p>
          <a:p>
            <a:pPr indent="0" lvl="0" marL="0" rtl="0" algn="l">
              <a:spcBef>
                <a:spcPts val="0"/>
              </a:spcBef>
              <a:spcAft>
                <a:spcPts val="0"/>
              </a:spcAft>
              <a:buSzPts val="1200"/>
              <a:buNone/>
            </a:pPr>
            <a:r>
              <a:rPr lang="en-US" sz="1200"/>
              <a:t>https://help.lucid.co/hc/en-us/articles/42578801807508-Integrate-Lucid-with-AI-tools-using-the-Lucid-MCP-server</a:t>
            </a:r>
            <a:endParaRPr/>
          </a:p>
          <a:p>
            <a:pPr indent="0" lvl="0" marL="0" rtl="0" algn="l">
              <a:spcBef>
                <a:spcPts val="0"/>
              </a:spcBef>
              <a:spcAft>
                <a:spcPts val="0"/>
              </a:spcAft>
              <a:buSzPts val="1200"/>
              <a:buNone/>
            </a:pPr>
            <a:r>
              <a:rPr lang="en-US" sz="1200"/>
              <a:t>Confluence MCP on this slide refers to a possible connection through Atlassian Rovo MCP Server, whose Confluence capabilities include reading, creating and updating pages:</a:t>
            </a:r>
            <a:endParaRPr/>
          </a:p>
          <a:p>
            <a:pPr indent="0" lvl="0" marL="0" rtl="0" algn="l">
              <a:spcBef>
                <a:spcPts val="0"/>
              </a:spcBef>
              <a:spcAft>
                <a:spcPts val="0"/>
              </a:spcAft>
              <a:buSzPts val="1200"/>
              <a:buNone/>
            </a:pPr>
            <a:r>
              <a:rPr lang="en-US" sz="1200"/>
              <a:t>https://developer.atlassian.com/cloud/rovo-mcp/</a:t>
            </a:r>
            <a:endParaRPr/>
          </a:p>
          <a:p>
            <a:pPr indent="0" lvl="0" marL="0" rtl="0" algn="l">
              <a:spcBef>
                <a:spcPts val="0"/>
              </a:spcBef>
              <a:spcAft>
                <a:spcPts val="0"/>
              </a:spcAft>
              <a:buSzPts val="1200"/>
              <a:buNone/>
            </a:pPr>
            <a:r>
              <a:rPr lang="en-US" sz="1200"/>
              <a:t>https://developer.atlassian.com/cloud/rovo-mcp/guides/supported-tools/</a:t>
            </a:r>
            <a:endParaRPr/>
          </a:p>
          <a:p>
            <a:pPr indent="0" lvl="0" marL="0" rtl="0" algn="l">
              <a:spcBef>
                <a:spcPts val="0"/>
              </a:spcBef>
              <a:spcAft>
                <a:spcPts val="0"/>
              </a:spcAft>
              <a:buSzPts val="1200"/>
              <a:buNone/>
            </a:pPr>
            <a:r>
              <a:rPr lang="en-US" sz="1200"/>
              <a:t>Official Lucidchart logo:</a:t>
            </a:r>
            <a:endParaRPr/>
          </a:p>
          <a:p>
            <a:pPr indent="0" lvl="0" marL="0" rtl="0" algn="l">
              <a:spcBef>
                <a:spcPts val="0"/>
              </a:spcBef>
              <a:spcAft>
                <a:spcPts val="0"/>
              </a:spcAft>
              <a:buSzPts val="1200"/>
              <a:buNone/>
            </a:pPr>
            <a:r>
              <a:rPr lang="en-US" sz="1200"/>
              <a:t>https://brandpad.io/lucid-software-brand-book/</a:t>
            </a:r>
            <a:endParaRPr/>
          </a:p>
          <a:p>
            <a:pPr indent="0" lvl="0" marL="0" rtl="0" algn="l">
              <a:spcBef>
                <a:spcPts val="0"/>
              </a:spcBef>
              <a:spcAft>
                <a:spcPts val="0"/>
              </a:spcAft>
              <a:buSzPts val="1200"/>
              <a:buNone/>
            </a:pPr>
            <a:r>
              <a:rPr lang="en-US" sz="1200"/>
              <a:t>These are proposed FlowBusters integrations. A recorded workflow describes observed behavior and does not establish the full internal architecture or approved business rules. Owners need to review generated maps and documentation. Automatic synchronization and automatic Lucidchart embedding are not promised.</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sz="1200"/>
              <a:t>Brand references (not part of the spoken script):</a:t>
            </a:r>
            <a:endParaRPr/>
          </a:p>
          <a:p>
            <a:pPr indent="0" lvl="0" marL="0" rtl="0" algn="l">
              <a:spcBef>
                <a:spcPts val="0"/>
              </a:spcBef>
              <a:spcAft>
                <a:spcPts val="0"/>
              </a:spcAft>
              <a:buSzPts val="1200"/>
              <a:buNone/>
            </a:pPr>
            <a:r>
              <a:rPr lang="en-US" sz="1200"/>
              <a:t>https://pullingthreads.org/flowbusters.html</a:t>
            </a:r>
            <a:endParaRPr/>
          </a:p>
          <a:p>
            <a:pPr indent="0" lvl="0" marL="0" rtl="0" algn="l">
              <a:spcBef>
                <a:spcPts val="0"/>
              </a:spcBef>
              <a:spcAft>
                <a:spcPts val="0"/>
              </a:spcAft>
              <a:buSzPts val="1200"/>
              <a:buNone/>
            </a:pPr>
            <a:r>
              <a:rPr lang="en-US" sz="1200"/>
              <a:t>https://github.com/allmighty-tiger/FlowBusters/blob/crossflow-fixes/frontend/src/App.tsx</a:t>
            </a:r>
            <a:endParaRPr/>
          </a:p>
          <a:p>
            <a:pPr indent="0" lvl="0" marL="0" rtl="0" algn="l">
              <a:spcBef>
                <a:spcPts val="0"/>
              </a:spcBef>
              <a:spcAft>
                <a:spcPts val="0"/>
              </a:spcAft>
              <a:buSzPts val="1200"/>
              <a:buNone/>
            </a:pPr>
            <a:r>
              <a:rPr lang="en-US" sz="1200"/>
              <a:t>FlowBusters wordmark image reused from the original deck cover, with a native image crop.</a:t>
            </a:r>
            <a:endParaRPr/>
          </a:p>
          <a:p>
            <a:pPr>
              <a:buNone/>
            </a:pPr>
            <a:r>
              <a:rPr lang="ru-RU" sz="1200">
                <a:latin typeface="Arial"/>
              </a:rPr>
              <a:t xml:space="preserve"/>
            </a:r>
            <a:endParaRPr lang="ru-RU" sz="1200"/>
          </a:p>
          <a:p>
            <a:pPr>
              <a:buNone/>
            </a:pPr>
            <a:r>
              <a:rPr lang="ru-RU" sz="1200" b="1">
                <a:latin typeface="Arial"/>
              </a:rPr>
              <a:t xml:space="preserve">Шпаргалка для Q&amp;A — не читать вслух</a:t>
            </a:r>
            <a:endParaRPr lang="ru-RU" sz="1200"/>
          </a:p>
          <a:p>
            <a:pPr>
              <a:buNone/>
            </a:pPr>
            <a:r>
              <a:rPr lang="ru-RU" sz="1200">
                <a:latin typeface="Arial"/>
              </a:rPr>
              <a:t xml:space="preserve">Кода пока нет: Lucid и Confluence обозначены как будущие интеграции.</a:t>
            </a:r>
            <a:endParaRPr lang="ru-RU" sz="1200"/>
          </a:p>
        </p:txBody>
      </p:sp>
      <p:sp>
        <p:nvSpPr>
          <p:cNvPr id="648" name="Google Shape;648;h20d8057df9b10b19_2_4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h7ff3108bf1d407e0_0_5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h7ff3108bf1d407e0_0_5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h7ff3108bf1d407e0_0_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17" name="Shape 17"/>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h7ff3108bf1d407e0_0_6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h7ff3108bf1d407e0_0_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h7ff3108bf1d407e0_0_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h7ff3108bf1d407e0_0_6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h7ff3108bf1d407e0_0_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h7ff3108bf1d407e0_0_6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h7ff3108bf1d407e0_0_6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h7ff3108bf1d407e0_0_6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h7ff3108bf1d407e0_0_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h7ff3108bf1d407e0_0_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h7ff3108bf1d407e0_0_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h7ff3108bf1d407e0_0_7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h7ff3108bf1d407e0_0_7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h7ff3108bf1d407e0_0_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h7ff3108bf1d407e0_0_7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h7ff3108bf1d407e0_0_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h7ff3108bf1d407e0_0_8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h7ff3108bf1d407e0_0_8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h7ff3108bf1d407e0_0_8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h7ff3108bf1d407e0_0_8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h7ff3108bf1d407e0_0_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h7ff3108bf1d407e0_0_8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h7ff3108bf1d407e0_0_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h7ff3108bf1d407e0_0_9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h7ff3108bf1d407e0_0_9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h7ff3108bf1d407e0_0_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h7ff3108bf1d407e0_0_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3">
    <p:spTree>
      <p:nvGrpSpPr>
        <p:cNvPr id="56" name="Shape 5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1">
    <p:spTree>
      <p:nvGrpSpPr>
        <p:cNvPr id="61" name="Shape 61"/>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h20d8057df9b10b19_2_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4" name="Google Shape;64;h20d8057df9b10b19_2_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5" name="Google Shape;65;h20d8057df9b10b19_2_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h20d8057df9b10b19_2_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8" name="Google Shape;68;h20d8057df9b10b19_2_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h20d8057df9b10b19_2_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1" name="Google Shape;71;h20d8057df9b10b19_2_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2" name="Google Shape;72;h20d8057df9b10b19_2_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h20d8057df9b10b19_2_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h20d8057df9b10b19_2_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h20d8057df9b10b19_2_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h20d8057df9b10b19_2_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h20d8057df9b10b19_2_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h20d8057df9b10b19_2_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h20d8057df9b10b19_2_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h20d8057df9b10b19_2_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h20d8057df9b10b19_2_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h20d8057df9b10b19_2_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h20d8057df9b10b19_2_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h20d8057df9b10b19_2_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h20d8057df9b10b19_2_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h20d8057df9b10b19_2_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h20d8057df9b10b19_2_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h20d8057df9b10b19_2_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h20d8057df9b10b19_2_3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h20d8057df9b10b19_2_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h20d8057df9b10b19_2_4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h20d8057df9b10b19_2_4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0" name="Google Shape;100;h20d8057df9b10b19_2_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h20d8057df9b10b19_2_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a:lvl1pPr>
            <a:lvl2pPr indent="0" lvl="1" marL="0" marR="0" algn="r">
              <a:lnSpc>
                <a:spcPct val="100000"/>
              </a:lnSpc>
              <a:spcBef>
                <a:spcPts val="0"/>
              </a:spcBef>
              <a:spcAft>
                <a:spcPts val="0"/>
              </a:spcAft>
              <a:buClr>
                <a:srgbClr val="000000"/>
              </a:buClr>
              <a:buSzPts val="1000"/>
              <a:buFont typeface="Arial"/>
              <a:buNone/>
              <a:defRPr/>
            </a:lvl2pPr>
            <a:lvl3pPr indent="0" lvl="2" marL="0" marR="0" algn="r">
              <a:lnSpc>
                <a:spcPct val="100000"/>
              </a:lnSpc>
              <a:spcBef>
                <a:spcPts val="0"/>
              </a:spcBef>
              <a:spcAft>
                <a:spcPts val="0"/>
              </a:spcAft>
              <a:buClr>
                <a:srgbClr val="000000"/>
              </a:buClr>
              <a:buSzPts val="1000"/>
              <a:buFont typeface="Arial"/>
              <a:buNone/>
              <a:defRPr/>
            </a:lvl3pPr>
            <a:lvl4pPr indent="0" lvl="3" marL="0" marR="0" algn="r">
              <a:lnSpc>
                <a:spcPct val="100000"/>
              </a:lnSpc>
              <a:spcBef>
                <a:spcPts val="0"/>
              </a:spcBef>
              <a:spcAft>
                <a:spcPts val="0"/>
              </a:spcAft>
              <a:buClr>
                <a:srgbClr val="000000"/>
              </a:buClr>
              <a:buSzPts val="1000"/>
              <a:buFont typeface="Arial"/>
              <a:buNone/>
              <a:defRPr/>
            </a:lvl4pPr>
            <a:lvl5pPr indent="0" lvl="4" marL="0" marR="0" algn="r">
              <a:lnSpc>
                <a:spcPct val="100000"/>
              </a:lnSpc>
              <a:spcBef>
                <a:spcPts val="0"/>
              </a:spcBef>
              <a:spcAft>
                <a:spcPts val="0"/>
              </a:spcAft>
              <a:buClr>
                <a:srgbClr val="000000"/>
              </a:buClr>
              <a:buSzPts val="1000"/>
              <a:buFont typeface="Arial"/>
              <a:buNone/>
              <a:defRPr/>
            </a:lvl5pPr>
            <a:lvl6pPr indent="0" lvl="5" marL="0" marR="0" algn="r">
              <a:lnSpc>
                <a:spcPct val="100000"/>
              </a:lnSpc>
              <a:spcBef>
                <a:spcPts val="0"/>
              </a:spcBef>
              <a:spcAft>
                <a:spcPts val="0"/>
              </a:spcAft>
              <a:buClr>
                <a:srgbClr val="000000"/>
              </a:buClr>
              <a:buSzPts val="1000"/>
              <a:buFont typeface="Arial"/>
              <a:buNone/>
              <a:defRPr/>
            </a:lvl6pPr>
            <a:lvl7pPr indent="0" lvl="6" marL="0" marR="0" algn="r">
              <a:lnSpc>
                <a:spcPct val="100000"/>
              </a:lnSpc>
              <a:spcBef>
                <a:spcPts val="0"/>
              </a:spcBef>
              <a:spcAft>
                <a:spcPts val="0"/>
              </a:spcAft>
              <a:buClr>
                <a:srgbClr val="000000"/>
              </a:buClr>
              <a:buSzPts val="1000"/>
              <a:buFont typeface="Arial"/>
              <a:buNone/>
              <a:defRPr/>
            </a:lvl7pPr>
            <a:lvl8pPr indent="0" lvl="7" marL="0" marR="0" algn="r">
              <a:lnSpc>
                <a:spcPct val="100000"/>
              </a:lnSpc>
              <a:spcBef>
                <a:spcPts val="0"/>
              </a:spcBef>
              <a:spcAft>
                <a:spcPts val="0"/>
              </a:spcAft>
              <a:buClr>
                <a:srgbClr val="000000"/>
              </a:buClr>
              <a:buSzPts val="1000"/>
              <a:buFont typeface="Arial"/>
              <a:buNone/>
              <a:defRPr/>
            </a:lvl8pPr>
            <a:lvl9pPr indent="0" lvl="8" marL="0" marR="0" algn="r">
              <a:lnSpc>
                <a:spcPct val="100000"/>
              </a:lnSpc>
              <a:spcBef>
                <a:spcPts val="0"/>
              </a:spcBef>
              <a:spcAft>
                <a:spcPts val="0"/>
              </a:spcAft>
              <a:buClr>
                <a:srgbClr val="000000"/>
              </a:buClr>
              <a:buSzPts val="1000"/>
              <a:buFont typeface="Arial"/>
              <a:buNone/>
              <a:defRPr/>
            </a:lvl9pPr>
          </a:lstStyle>
          <a:p>
            <a:pPr indent="0" lvl="0" marL="0" rtl="0" algn="r">
              <a:spcBef>
                <a:spcPts val="0"/>
              </a:spcBef>
              <a:spcAft>
                <a:spcPts val="0"/>
              </a:spcAft>
              <a:buNone/>
            </a:pPr>
            <a:fld id="{00000000-1234-1234-1234-123412341234}" type="slidenum">
              <a:rPr lang="en-US"/>
              <a:t>‹#›</a:t>
            </a:fld>
            <a:endParaRPr b="0" i="0" sz="1000" u="none" cap="none" strike="noStrike">
              <a:solidFill>
                <a:schemeClr val="dk2"/>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103" name="Shape 103"/>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3">
    <p:spTree>
      <p:nvGrpSpPr>
        <p:cNvPr id="104" name="Shape 10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h7ff3108bf1d407e0_0_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h7ff3108bf1d407e0_0_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h7ff3108bf1d407e0_0_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7" name="Shape 57"/>
        <p:cNvGrpSpPr/>
        <p:nvPr/>
      </p:nvGrpSpPr>
      <p:grpSpPr>
        <a:xfrm>
          <a:off x="0" y="0"/>
          <a:ext cx="0" cy="0"/>
          <a:chOff x="0" y="0"/>
          <a:chExt cx="0" cy="0"/>
        </a:xfrm>
      </p:grpSpPr>
      <p:sp>
        <p:nvSpPr>
          <p:cNvPr id="58" name="Google Shape;58;h20d8057df9b10b19_2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9" name="Google Shape;59;h20d8057df9b10b19_2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60" name="Google Shape;60;h20d8057df9b10b19_2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497B"/>
        </a:solidFill>
      </p:bgPr>
    </p:bg>
    <p:spTree>
      <p:nvGrpSpPr>
        <p:cNvPr id="109" name="Shape 109"/>
        <p:cNvGrpSpPr/>
        <p:nvPr/>
      </p:nvGrpSpPr>
      <p:grpSpPr>
        <a:xfrm>
          <a:off x="0" y="0"/>
          <a:ext cx="0" cy="0"/>
          <a:chOff x="0" y="0"/>
          <a:chExt cx="0" cy="0"/>
        </a:xfrm>
      </p:grpSpPr>
      <p:pic>
        <p:nvPicPr>
          <p:cNvPr id="110" name="Google Shape;110;p1"/>
          <p:cNvPicPr preferRelativeResize="0"/>
          <p:nvPr/>
        </p:nvPicPr>
        <p:blipFill rotWithShape="1">
          <a:blip r:embed="rId3">
            <a:alphaModFix/>
          </a:blip>
          <a:srcRect b="0" l="0" r="0" t="0"/>
          <a:stretch/>
        </p:blipFill>
        <p:spPr>
          <a:xfrm>
            <a:off x="381000" y="1000125"/>
            <a:ext cx="4476750" cy="2964180"/>
          </a:xfrm>
          <a:prstGeom prst="rect">
            <a:avLst/>
          </a:prstGeom>
          <a:noFill/>
          <a:ln>
            <a:noFill/>
          </a:ln>
        </p:spPr>
      </p:pic>
      <p:sp>
        <p:nvSpPr>
          <p:cNvPr id="111" name="Google Shape;111;p1"/>
          <p:cNvSpPr/>
          <p:nvPr/>
        </p:nvSpPr>
        <p:spPr>
          <a:xfrm>
            <a:off x="5286375" y="895350"/>
            <a:ext cx="3286125"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75"/>
              <a:buFont typeface="Arial"/>
              <a:buNone/>
            </a:pPr>
            <a:r>
              <a:rPr b="1" i="0" lang="en-US" sz="975" u="none" cap="none" strike="noStrike">
                <a:solidFill>
                  <a:srgbClr val="8ED7F7"/>
                </a:solidFill>
                <a:latin typeface="Arial"/>
                <a:ea typeface="Arial"/>
                <a:cs typeface="Arial"/>
                <a:sym typeface="Arial"/>
              </a:rPr>
              <a:t>SECURITY RESEARCH PROTOTYPE</a:t>
            </a:r>
            <a:endParaRPr b="0" i="0" sz="1400" u="none" cap="none" strike="noStrike">
              <a:solidFill>
                <a:srgbClr val="000000"/>
              </a:solidFill>
              <a:latin typeface="Arial"/>
              <a:ea typeface="Arial"/>
              <a:cs typeface="Arial"/>
              <a:sym typeface="Arial"/>
            </a:endParaRPr>
          </a:p>
        </p:txBody>
      </p:sp>
      <p:sp>
        <p:nvSpPr>
          <p:cNvPr id="112" name="Google Shape;112;p1"/>
          <p:cNvSpPr/>
          <p:nvPr/>
        </p:nvSpPr>
        <p:spPr>
          <a:xfrm>
            <a:off x="5238750" y="1200150"/>
            <a:ext cx="3476625" cy="590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25"/>
              <a:buFont typeface="Arial"/>
              <a:buNone/>
            </a:pPr>
            <a:r>
              <a:rPr b="1" i="0" lang="en-US" sz="3225" u="none" cap="none" strike="noStrike">
                <a:solidFill>
                  <a:srgbClr val="FFBD21"/>
                </a:solidFill>
                <a:latin typeface="Arial"/>
                <a:ea typeface="Arial"/>
                <a:cs typeface="Arial"/>
                <a:sym typeface="Arial"/>
              </a:rPr>
              <a:t>FLOWBUSTERS</a:t>
            </a:r>
            <a:endParaRPr b="0" i="0" sz="1400" u="none" cap="none" strike="noStrike">
              <a:solidFill>
                <a:srgbClr val="000000"/>
              </a:solidFill>
              <a:latin typeface="Arial"/>
              <a:ea typeface="Arial"/>
              <a:cs typeface="Arial"/>
              <a:sym typeface="Arial"/>
            </a:endParaRPr>
          </a:p>
        </p:txBody>
      </p:sp>
      <p:sp>
        <p:nvSpPr>
          <p:cNvPr id="113" name="Google Shape;113;p1"/>
          <p:cNvSpPr/>
          <p:nvPr/>
        </p:nvSpPr>
        <p:spPr>
          <a:xfrm>
            <a:off x="5286375" y="1952625"/>
            <a:ext cx="3238500" cy="102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25"/>
              <a:buFont typeface="Arial"/>
              <a:buNone/>
            </a:pPr>
            <a:r>
              <a:rPr b="1" i="0" lang="en-US" sz="2025" u="none" cap="none" strike="noStrike">
                <a:solidFill>
                  <a:srgbClr val="FFFFFF"/>
                </a:solidFill>
                <a:latin typeface="Arial"/>
                <a:ea typeface="Arial"/>
                <a:cs typeface="Arial"/>
                <a:sym typeface="Arial"/>
              </a:rPr>
              <a:t>Business logic security testing with AI</a:t>
            </a:r>
            <a:endParaRPr b="0" i="0" sz="1400" u="none" cap="none" strike="noStrike">
              <a:solidFill>
                <a:srgbClr val="000000"/>
              </a:solidFill>
              <a:latin typeface="Arial"/>
              <a:ea typeface="Arial"/>
              <a:cs typeface="Arial"/>
              <a:sym typeface="Arial"/>
            </a:endParaRPr>
          </a:p>
        </p:txBody>
      </p:sp>
      <p:sp>
        <p:nvSpPr>
          <p:cNvPr id="114" name="Google Shape;114;p1"/>
          <p:cNvSpPr/>
          <p:nvPr/>
        </p:nvSpPr>
        <p:spPr>
          <a:xfrm>
            <a:off x="5286375" y="3143250"/>
            <a:ext cx="3143250" cy="64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E8F7"/>
                </a:solidFill>
                <a:latin typeface="Arial"/>
                <a:ea typeface="Arial"/>
                <a:cs typeface="Arial"/>
                <a:sym typeface="Arial"/>
              </a:rPr>
              <a:t>Record a real workflow</a:t>
            </a:r>
            <a:endParaRPr b="0" i="0" sz="1200" u="none" cap="none" strike="noStrike">
              <a:solidFill>
                <a:srgbClr val="C5E8F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E8F7"/>
                </a:solidFill>
                <a:latin typeface="Arial"/>
                <a:ea typeface="Arial"/>
                <a:cs typeface="Arial"/>
                <a:sym typeface="Arial"/>
              </a:rPr>
              <a:t>Test how it can be abused</a:t>
            </a:r>
            <a:endParaRPr b="0" i="0" sz="1200" u="none" cap="none" strike="noStrike">
              <a:solidFill>
                <a:srgbClr val="C5E8F7"/>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C5E8F7"/>
                </a:solidFill>
                <a:latin typeface="Arial"/>
                <a:ea typeface="Arial"/>
                <a:cs typeface="Arial"/>
                <a:sym typeface="Arial"/>
              </a:rPr>
              <a:t>Verify result with HTTP evidence.</a:t>
            </a:r>
            <a:endParaRPr b="0" i="0" sz="1400" u="none" cap="none" strike="noStrike">
              <a:solidFill>
                <a:srgbClr val="000000"/>
              </a:solidFill>
              <a:latin typeface="Arial"/>
              <a:ea typeface="Arial"/>
              <a:cs typeface="Arial"/>
              <a:sym typeface="Arial"/>
            </a:endParaRPr>
          </a:p>
        </p:txBody>
      </p:sp>
      <p:sp>
        <p:nvSpPr>
          <p:cNvPr id="115" name="Google Shape;115;p1"/>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FFFFFF"/>
                </a:solidFill>
                <a:latin typeface="Arial"/>
                <a:ea typeface="Arial"/>
                <a:cs typeface="Arial"/>
                <a:sym typeface="Arial"/>
              </a:rPr>
              <a:t>01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 name="Shape 120"/>
        <p:cNvGrpSpPr/>
        <p:nvPr/>
      </p:nvGrpSpPr>
      <p:grpSpPr>
        <a:xfrm>
          <a:off x="0" y="0"/>
          <a:ext cx="0" cy="0"/>
          <a:chOff x="0" y="0"/>
          <a:chExt cx="0" cy="0"/>
        </a:xfrm>
      </p:grpSpPr>
      <p:sp>
        <p:nvSpPr>
          <p:cNvPr id="121" name="Google Shape;121;p2"/>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REAL SECURITY VULNERABILITY</a:t>
            </a:r>
            <a:endParaRPr b="0" i="0" sz="1100" u="none" cap="none" strike="noStrike">
              <a:solidFill>
                <a:srgbClr val="000000"/>
              </a:solidFill>
              <a:latin typeface="Arial"/>
              <a:ea typeface="Arial"/>
              <a:cs typeface="Arial"/>
              <a:sym typeface="Arial"/>
            </a:endParaRPr>
          </a:p>
        </p:txBody>
      </p:sp>
      <p:sp>
        <p:nvSpPr>
          <p:cNvPr id="123" name="Google Shape;123;p2"/>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Coinbase: a business logic exploit in one API request</a:t>
            </a:r>
            <a:endParaRPr b="0" i="0" sz="1100" u="none" cap="none" strike="noStrike">
              <a:solidFill>
                <a:srgbClr val="000000"/>
              </a:solidFill>
              <a:latin typeface="Arial"/>
              <a:ea typeface="Arial"/>
              <a:cs typeface="Arial"/>
              <a:sym typeface="Arial"/>
            </a:endParaRPr>
          </a:p>
        </p:txBody>
      </p:sp>
      <p:sp>
        <p:nvSpPr>
          <p:cNvPr id="124" name="Google Shape;124;p2"/>
          <p:cNvSpPr/>
          <p:nvPr/>
        </p:nvSpPr>
        <p:spPr>
          <a:xfrm>
            <a:off x="514350" y="1042988"/>
            <a:ext cx="1357200" cy="214500"/>
          </a:xfrm>
          <a:prstGeom prst="roundRect">
            <a:avLst>
              <a:gd fmla="val 50000" name="adj"/>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585788" y="1057275"/>
            <a:ext cx="1214400" cy="1788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1" i="0" lang="en-US" sz="700" u="none" cap="none" strike="noStrike">
                <a:solidFill>
                  <a:srgbClr val="2C2C2C"/>
                </a:solidFill>
                <a:latin typeface="Arial"/>
                <a:ea typeface="Arial"/>
                <a:cs typeface="Arial"/>
                <a:sym typeface="Arial"/>
              </a:rPr>
              <a:t>FEBRUARY 11, 2022</a:t>
            </a:r>
            <a:endParaRPr b="0" i="0" sz="1100" u="none" cap="none" strike="noStrike">
              <a:solidFill>
                <a:srgbClr val="000000"/>
              </a:solidFill>
              <a:latin typeface="Arial"/>
              <a:ea typeface="Arial"/>
              <a:cs typeface="Arial"/>
              <a:sym typeface="Arial"/>
            </a:endParaRPr>
          </a:p>
        </p:txBody>
      </p:sp>
      <p:sp>
        <p:nvSpPr>
          <p:cNvPr id="126" name="Google Shape;126;p2"/>
          <p:cNvSpPr/>
          <p:nvPr/>
        </p:nvSpPr>
        <p:spPr>
          <a:xfrm>
            <a:off x="514350" y="1343025"/>
            <a:ext cx="2786100" cy="3003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Found by “Tree of Alpha”</a:t>
            </a:r>
            <a:endParaRPr b="0" i="0" sz="1100" u="none" cap="none" strike="noStrike">
              <a:solidFill>
                <a:srgbClr val="000000"/>
              </a:solidFill>
              <a:latin typeface="Arial"/>
              <a:ea typeface="Arial"/>
              <a:cs typeface="Arial"/>
              <a:sym typeface="Arial"/>
            </a:endParaRPr>
          </a:p>
        </p:txBody>
      </p:sp>
      <p:sp>
        <p:nvSpPr>
          <p:cNvPr id="127" name="Google Shape;127;p2"/>
          <p:cNvSpPr/>
          <p:nvPr/>
        </p:nvSpPr>
        <p:spPr>
          <a:xfrm>
            <a:off x="514350" y="1685925"/>
            <a:ext cx="2871900" cy="1414500"/>
          </a:xfrm>
          <a:prstGeom prst="rect">
            <a:avLst/>
          </a:prstGeom>
          <a:noFill/>
          <a:ln>
            <a:noFill/>
          </a:ln>
        </p:spPr>
        <p:txBody>
          <a:bodyPr anchorCtr="0" anchor="t" bIns="34275" lIns="68575" spcFirstLastPara="1" rIns="68575" wrap="square" tIns="34275">
            <a:noAutofit/>
          </a:bodyPr>
          <a:lstStyle/>
          <a:p>
            <a:pPr indent="-101600" lvl="0" marL="215900" marR="0" rtl="0" algn="l">
              <a:lnSpc>
                <a:spcPct val="100000"/>
              </a:lnSpc>
              <a:spcBef>
                <a:spcPts val="700"/>
              </a:spcBef>
              <a:spcAft>
                <a:spcPts val="0"/>
              </a:spcAft>
              <a:buClr>
                <a:srgbClr val="2C2C2C"/>
              </a:buClr>
              <a:buSzPts val="1000"/>
              <a:buFont typeface="Arial"/>
              <a:buChar char="•"/>
            </a:pPr>
            <a:r>
              <a:rPr b="0" i="0" lang="en-US" sz="1000" u="none" cap="none" strike="noStrike">
                <a:solidFill>
                  <a:srgbClr val="2C2C2C"/>
                </a:solidFill>
                <a:latin typeface="Arial"/>
                <a:ea typeface="Arial"/>
                <a:cs typeface="Arial"/>
                <a:sym typeface="Arial"/>
              </a:rPr>
              <a:t>Used a legitimate trading API in a way Coinbase did not intend.</a:t>
            </a:r>
            <a:endParaRPr b="0" i="0" sz="1000" u="none" cap="none" strike="noStrike">
              <a:solidFill>
                <a:srgbClr val="2C2C2C"/>
              </a:solidFill>
              <a:latin typeface="Arial"/>
              <a:ea typeface="Arial"/>
              <a:cs typeface="Arial"/>
              <a:sym typeface="Arial"/>
            </a:endParaRPr>
          </a:p>
          <a:p>
            <a:pPr indent="-101600" lvl="0" marL="215900" marR="0" rtl="0" algn="l">
              <a:lnSpc>
                <a:spcPct val="100000"/>
              </a:lnSpc>
              <a:spcBef>
                <a:spcPts val="700"/>
              </a:spcBef>
              <a:spcAft>
                <a:spcPts val="0"/>
              </a:spcAft>
              <a:buClr>
                <a:srgbClr val="2C2C2C"/>
              </a:buClr>
              <a:buSzPts val="1000"/>
              <a:buFont typeface="Arial"/>
              <a:buChar char="•"/>
            </a:pPr>
            <a:r>
              <a:rPr b="0" i="0" lang="en-US" sz="1000" u="none" cap="none" strike="noStrike">
                <a:solidFill>
                  <a:srgbClr val="2C2C2C"/>
                </a:solidFill>
                <a:latin typeface="Arial"/>
                <a:ea typeface="Arial"/>
                <a:cs typeface="Arial"/>
                <a:sym typeface="Arial"/>
              </a:rPr>
              <a:t>Inspected API requests from the Advanced Trading feature.</a:t>
            </a:r>
            <a:endParaRPr b="0" i="0" sz="1000" u="none" cap="none" strike="noStrike">
              <a:solidFill>
                <a:srgbClr val="2C2C2C"/>
              </a:solidFill>
              <a:latin typeface="Arial"/>
              <a:ea typeface="Arial"/>
              <a:cs typeface="Arial"/>
              <a:sym typeface="Arial"/>
            </a:endParaRPr>
          </a:p>
          <a:p>
            <a:pPr indent="-101600" lvl="0" marL="215900" marR="0" rtl="0" algn="l">
              <a:lnSpc>
                <a:spcPct val="100000"/>
              </a:lnSpc>
              <a:spcBef>
                <a:spcPts val="700"/>
              </a:spcBef>
              <a:spcAft>
                <a:spcPts val="0"/>
              </a:spcAft>
              <a:buClr>
                <a:srgbClr val="2C2C2C"/>
              </a:buClr>
              <a:buSzPts val="1000"/>
              <a:buFont typeface="Arial"/>
              <a:buChar char="•"/>
            </a:pPr>
            <a:r>
              <a:rPr b="0" i="0" lang="en-US" sz="1000" u="none" cap="none" strike="noStrike">
                <a:solidFill>
                  <a:srgbClr val="2C2C2C"/>
                </a:solidFill>
                <a:latin typeface="Arial"/>
                <a:ea typeface="Arial"/>
                <a:cs typeface="Arial"/>
                <a:sym typeface="Arial"/>
              </a:rPr>
              <a:t>Changed the product being traded in the request.</a:t>
            </a:r>
            <a:endParaRPr b="0" i="0" sz="1000" u="none" cap="none" strike="noStrike">
              <a:solidFill>
                <a:srgbClr val="2C2C2C"/>
              </a:solidFill>
              <a:latin typeface="Arial"/>
              <a:ea typeface="Arial"/>
              <a:cs typeface="Arial"/>
              <a:sym typeface="Arial"/>
            </a:endParaRPr>
          </a:p>
        </p:txBody>
      </p:sp>
      <p:sp>
        <p:nvSpPr>
          <p:cNvPr id="128" name="Google Shape;128;p2"/>
          <p:cNvSpPr/>
          <p:nvPr/>
        </p:nvSpPr>
        <p:spPr>
          <a:xfrm>
            <a:off x="514350" y="3171825"/>
            <a:ext cx="2871900" cy="600000"/>
          </a:xfrm>
          <a:prstGeom prst="roundRect">
            <a:avLst>
              <a:gd fmla="val 9524"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p:nvPr/>
        </p:nvSpPr>
        <p:spPr>
          <a:xfrm>
            <a:off x="642938" y="3257550"/>
            <a:ext cx="5289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10:16</a:t>
            </a:r>
            <a:endParaRPr b="0" i="0" sz="1100" u="none" cap="none" strike="noStrike">
              <a:solidFill>
                <a:srgbClr val="000000"/>
              </a:solidFill>
              <a:latin typeface="Arial"/>
              <a:ea typeface="Arial"/>
              <a:cs typeface="Arial"/>
              <a:sym typeface="Arial"/>
            </a:endParaRPr>
          </a:p>
        </p:txBody>
      </p:sp>
      <p:sp>
        <p:nvSpPr>
          <p:cNvPr id="130" name="Google Shape;130;p2"/>
          <p:cNvSpPr/>
          <p:nvPr/>
        </p:nvSpPr>
        <p:spPr>
          <a:xfrm>
            <a:off x="642938" y="3443288"/>
            <a:ext cx="7503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4A4A4A"/>
                </a:solidFill>
                <a:latin typeface="Arial"/>
                <a:ea typeface="Arial"/>
                <a:cs typeface="Arial"/>
                <a:sym typeface="Arial"/>
              </a:rPr>
              <a:t>Public tweet</a:t>
            </a:r>
            <a:endParaRPr b="0" i="0" sz="1100" u="none" cap="none" strike="noStrike">
              <a:solidFill>
                <a:srgbClr val="000000"/>
              </a:solidFill>
              <a:latin typeface="Arial"/>
              <a:ea typeface="Arial"/>
              <a:cs typeface="Arial"/>
              <a:sym typeface="Arial"/>
            </a:endParaRPr>
          </a:p>
        </p:txBody>
      </p:sp>
      <p:sp>
        <p:nvSpPr>
          <p:cNvPr id="131" name="Google Shape;131;p2"/>
          <p:cNvSpPr/>
          <p:nvPr/>
        </p:nvSpPr>
        <p:spPr>
          <a:xfrm>
            <a:off x="1428750" y="3257550"/>
            <a:ext cx="5289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11:42</a:t>
            </a:r>
            <a:endParaRPr b="0" i="0" sz="1100" u="none" cap="none" strike="noStrike">
              <a:solidFill>
                <a:srgbClr val="000000"/>
              </a:solidFill>
              <a:latin typeface="Arial"/>
              <a:ea typeface="Arial"/>
              <a:cs typeface="Arial"/>
              <a:sym typeface="Arial"/>
            </a:endParaRPr>
          </a:p>
        </p:txBody>
      </p:sp>
      <p:sp>
        <p:nvSpPr>
          <p:cNvPr id="132" name="Google Shape;132;p2"/>
          <p:cNvSpPr/>
          <p:nvPr/>
        </p:nvSpPr>
        <p:spPr>
          <a:xfrm>
            <a:off x="1428750" y="3443288"/>
            <a:ext cx="8001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4A4A4A"/>
                </a:solidFill>
                <a:latin typeface="Arial"/>
                <a:ea typeface="Arial"/>
                <a:cs typeface="Arial"/>
                <a:sym typeface="Arial"/>
              </a:rPr>
              <a:t>Bug reproduced</a:t>
            </a:r>
            <a:endParaRPr b="0" i="0" sz="1100" u="none" cap="none" strike="noStrike">
              <a:solidFill>
                <a:srgbClr val="000000"/>
              </a:solidFill>
              <a:latin typeface="Arial"/>
              <a:ea typeface="Arial"/>
              <a:cs typeface="Arial"/>
              <a:sym typeface="Arial"/>
            </a:endParaRPr>
          </a:p>
        </p:txBody>
      </p:sp>
      <p:sp>
        <p:nvSpPr>
          <p:cNvPr id="133" name="Google Shape;133;p2"/>
          <p:cNvSpPr/>
          <p:nvPr/>
        </p:nvSpPr>
        <p:spPr>
          <a:xfrm>
            <a:off x="2328863" y="3257550"/>
            <a:ext cx="443100" cy="1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4:01</a:t>
            </a:r>
            <a:endParaRPr b="0" i="0" sz="1100" u="none" cap="none" strike="noStrike">
              <a:solidFill>
                <a:srgbClr val="000000"/>
              </a:solidFill>
              <a:latin typeface="Arial"/>
              <a:ea typeface="Arial"/>
              <a:cs typeface="Arial"/>
              <a:sym typeface="Arial"/>
            </a:endParaRPr>
          </a:p>
        </p:txBody>
      </p:sp>
      <p:sp>
        <p:nvSpPr>
          <p:cNvPr id="134" name="Google Shape;134;p2"/>
          <p:cNvSpPr/>
          <p:nvPr/>
        </p:nvSpPr>
        <p:spPr>
          <a:xfrm>
            <a:off x="2328863" y="3443288"/>
            <a:ext cx="8430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4A4A4A"/>
                </a:solidFill>
                <a:latin typeface="Arial"/>
                <a:ea typeface="Arial"/>
                <a:cs typeface="Arial"/>
                <a:sym typeface="Arial"/>
              </a:rPr>
              <a:t>Patch released</a:t>
            </a:r>
            <a:endParaRPr b="0" i="0" sz="1100" u="none" cap="none" strike="noStrike">
              <a:solidFill>
                <a:srgbClr val="000000"/>
              </a:solidFill>
              <a:latin typeface="Arial"/>
              <a:ea typeface="Arial"/>
              <a:cs typeface="Arial"/>
              <a:sym typeface="Arial"/>
            </a:endParaRPr>
          </a:p>
        </p:txBody>
      </p:sp>
      <p:cxnSp>
        <p:nvCxnSpPr>
          <p:cNvPr id="135" name="Google Shape;135;p2"/>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pic>
        <p:nvPicPr>
          <p:cNvPr id="136" name="Google Shape;136;p2"/>
          <p:cNvPicPr preferRelativeResize="0"/>
          <p:nvPr/>
        </p:nvPicPr>
        <p:blipFill rotWithShape="1">
          <a:blip r:embed="rId3">
            <a:alphaModFix/>
          </a:blip>
          <a:srcRect b="-2817" l="-2817" r="0" t="0"/>
          <a:stretch/>
        </p:blipFill>
        <p:spPr>
          <a:xfrm>
            <a:off x="3386250" y="1022900"/>
            <a:ext cx="5574350" cy="2437655"/>
          </a:xfrm>
          <a:prstGeom prst="rect">
            <a:avLst/>
          </a:prstGeom>
          <a:noFill/>
          <a:ln>
            <a:noFill/>
          </a:ln>
        </p:spPr>
      </p:pic>
      <p:sp>
        <p:nvSpPr>
          <p:cNvPr id="137" name="Google Shape;137;p2"/>
          <p:cNvSpPr/>
          <p:nvPr/>
        </p:nvSpPr>
        <p:spPr>
          <a:xfrm>
            <a:off x="457200" y="4228575"/>
            <a:ext cx="697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B7785"/>
                </a:solidFill>
                <a:latin typeface="Arial"/>
                <a:ea typeface="Arial"/>
                <a:cs typeface="Arial"/>
                <a:sym typeface="Arial"/>
              </a:rPr>
              <a:t>Sources: Coinbase retrospective; Salt Security analysis </a:t>
            </a:r>
            <a:endParaRPr b="0" i="0" sz="675" u="none" cap="none" strike="noStrike">
              <a:solidFill>
                <a:srgbClr val="6B778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75"/>
              <a:buFont typeface="Arial"/>
              <a:buNone/>
            </a:pPr>
            <a:r>
              <a:rPr b="0" i="0" lang="en-US" sz="675" u="none" cap="none" strike="noStrike">
                <a:solidFill>
                  <a:srgbClr val="6B7785"/>
                </a:solidFill>
                <a:latin typeface="Arial"/>
                <a:ea typeface="Arial"/>
                <a:cs typeface="Arial"/>
                <a:sym typeface="Arial"/>
              </a:rPr>
              <a:t>https://salt.security/blog/understanding-the-coinbase-api-vulnerability</a:t>
            </a:r>
            <a:endParaRPr b="0" i="0" sz="675" u="none" cap="none" strike="noStrike">
              <a:solidFill>
                <a:srgbClr val="6B7785"/>
              </a:solidFill>
              <a:latin typeface="Arial"/>
              <a:ea typeface="Arial"/>
              <a:cs typeface="Arial"/>
              <a:sym typeface="Arial"/>
            </a:endParaRPr>
          </a:p>
        </p:txBody>
      </p:sp>
      <p:sp>
        <p:nvSpPr>
          <p:cNvPr id="138" name="Google Shape;138;p2"/>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02</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id="144" name="Google Shape;144;h7ff3108bf1d407e0_0_3"/>
          <p:cNvPicPr preferRelativeResize="0"/>
          <p:nvPr/>
        </p:nvPicPr>
        <p:blipFill rotWithShape="1">
          <a:blip r:embed="rId3">
            <a:alphaModFix/>
          </a:blip>
          <a:srcRect b="0" l="0" r="0" t="0"/>
          <a:stretch/>
        </p:blipFill>
        <p:spPr>
          <a:xfrm>
            <a:off x="988675" y="914113"/>
            <a:ext cx="7166649" cy="2630075"/>
          </a:xfrm>
          <a:prstGeom prst="rect">
            <a:avLst/>
          </a:prstGeom>
          <a:noFill/>
          <a:ln>
            <a:noFill/>
          </a:ln>
        </p:spPr>
      </p:pic>
      <p:sp>
        <p:nvSpPr>
          <p:cNvPr id="145" name="Google Shape;145;h7ff3108bf1d407e0_0_3"/>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h7ff3108bf1d407e0_0_3"/>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COINBASE EXAMPLE</a:t>
            </a:r>
            <a:endParaRPr b="0" i="0" sz="1100" u="none" cap="none" strike="noStrike">
              <a:solidFill>
                <a:srgbClr val="000000"/>
              </a:solidFill>
              <a:latin typeface="Arial"/>
              <a:ea typeface="Arial"/>
              <a:cs typeface="Arial"/>
              <a:sym typeface="Arial"/>
            </a:endParaRPr>
          </a:p>
        </p:txBody>
      </p:sp>
      <p:sp>
        <p:nvSpPr>
          <p:cNvPr id="147" name="Google Shape;147;h7ff3108bf1d407e0_0_3"/>
          <p:cNvSpPr/>
          <p:nvPr/>
        </p:nvSpPr>
        <p:spPr>
          <a:xfrm>
            <a:off x="457200" y="442913"/>
            <a:ext cx="8229600" cy="4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E497B"/>
              </a:buClr>
              <a:buSzPts val="2000"/>
              <a:buFont typeface="Arial"/>
              <a:buNone/>
            </a:pPr>
            <a:r>
              <a:rPr b="1" i="0" lang="en-US" sz="2000" u="none" cap="none" strike="noStrike">
                <a:solidFill>
                  <a:srgbClr val="0E497B"/>
                </a:solidFill>
                <a:latin typeface="Arial"/>
                <a:ea typeface="Arial"/>
                <a:cs typeface="Arial"/>
                <a:sym typeface="Arial"/>
              </a:rPr>
              <a:t>The API request was valid, but the business logic had a flaw</a:t>
            </a:r>
            <a:endParaRPr b="0" i="0" sz="1100" u="none" cap="none" strike="noStrike">
              <a:solidFill>
                <a:srgbClr val="000000"/>
              </a:solidFill>
              <a:latin typeface="Arial"/>
              <a:ea typeface="Arial"/>
              <a:cs typeface="Arial"/>
              <a:sym typeface="Arial"/>
            </a:endParaRPr>
          </a:p>
        </p:txBody>
      </p:sp>
      <p:cxnSp>
        <p:nvCxnSpPr>
          <p:cNvPr id="148" name="Google Shape;148;h7ff3108bf1d407e0_0_3"/>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149" name="Google Shape;149;h7ff3108bf1d407e0_0_3"/>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03</a:t>
            </a:r>
            <a:endParaRPr b="0" i="0" sz="1100" u="none" cap="none" strike="noStrike">
              <a:solidFill>
                <a:srgbClr val="000000"/>
              </a:solidFill>
              <a:latin typeface="Arial"/>
              <a:ea typeface="Arial"/>
              <a:cs typeface="Arial"/>
              <a:sym typeface="Arial"/>
            </a:endParaRPr>
          </a:p>
        </p:txBody>
      </p:sp>
      <p:sp>
        <p:nvSpPr>
          <p:cNvPr id="150" name="Google Shape;150;h7ff3108bf1d407e0_0_3"/>
          <p:cNvSpPr/>
          <p:nvPr/>
        </p:nvSpPr>
        <p:spPr>
          <a:xfrm>
            <a:off x="903950" y="4008063"/>
            <a:ext cx="7166700" cy="385800"/>
          </a:xfrm>
          <a:prstGeom prst="roundRect">
            <a:avLst>
              <a:gd fmla="val 14815" name="adj"/>
            </a:avLst>
          </a:prstGeom>
          <a:solidFill>
            <a:srgbClr val="B1444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Missing check: You should only be able to sell an asset you actually own.</a:t>
            </a:r>
            <a:endParaRPr b="0" i="0" sz="1100" u="none" cap="none" strike="noStrike">
              <a:solidFill>
                <a:srgbClr val="000000"/>
              </a:solidFill>
              <a:latin typeface="Arial"/>
              <a:ea typeface="Arial"/>
              <a:cs typeface="Arial"/>
              <a:sym typeface="Arial"/>
            </a:endParaRPr>
          </a:p>
        </p:txBody>
      </p:sp>
      <p:sp>
        <p:nvSpPr>
          <p:cNvPr id="151" name="Google Shape;151;h7ff3108bf1d407e0_0_3"/>
          <p:cNvSpPr/>
          <p:nvPr/>
        </p:nvSpPr>
        <p:spPr>
          <a:xfrm>
            <a:off x="1257300" y="2647950"/>
            <a:ext cx="1581300" cy="228600"/>
          </a:xfrm>
          <a:prstGeom prst="rect">
            <a:avLst/>
          </a:prstGeom>
          <a:noFill/>
          <a:ln cap="flat" cmpd="sng" w="23800">
            <a:solidFill>
              <a:srgbClr val="FF3B3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6" name="Shape 156"/>
        <p:cNvGrpSpPr/>
        <p:nvPr/>
      </p:nvGrpSpPr>
      <p:grpSpPr>
        <a:xfrm>
          <a:off x="0" y="0"/>
          <a:ext cx="0" cy="0"/>
          <a:chOff x="0" y="0"/>
          <a:chExt cx="0" cy="0"/>
        </a:xfrm>
      </p:grpSpPr>
      <p:sp>
        <p:nvSpPr>
          <p:cNvPr id="157" name="Google Shape;157;p4"/>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SECURITY CONCEPT</a:t>
            </a:r>
            <a:endParaRPr b="0" i="0" sz="1100" u="none" cap="none" strike="noStrike">
              <a:solidFill>
                <a:srgbClr val="000000"/>
              </a:solidFill>
              <a:latin typeface="Arial"/>
              <a:ea typeface="Arial"/>
              <a:cs typeface="Arial"/>
              <a:sym typeface="Arial"/>
            </a:endParaRPr>
          </a:p>
        </p:txBody>
      </p:sp>
      <p:sp>
        <p:nvSpPr>
          <p:cNvPr id="159" name="Google Shape;159;p4"/>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Business logic flaws</a:t>
            </a:r>
            <a:endParaRPr b="0" i="0" sz="1100" u="none" cap="none" strike="noStrike">
              <a:solidFill>
                <a:srgbClr val="000000"/>
              </a:solidFill>
              <a:latin typeface="Arial"/>
              <a:ea typeface="Arial"/>
              <a:cs typeface="Arial"/>
              <a:sym typeface="Arial"/>
            </a:endParaRPr>
          </a:p>
        </p:txBody>
      </p:sp>
      <p:sp>
        <p:nvSpPr>
          <p:cNvPr id="160" name="Google Shape;160;p4"/>
          <p:cNvSpPr/>
          <p:nvPr/>
        </p:nvSpPr>
        <p:spPr>
          <a:xfrm>
            <a:off x="569949" y="1750771"/>
            <a:ext cx="43578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US" sz="900" u="none" cap="none" strike="noStrike">
                <a:solidFill>
                  <a:srgbClr val="1570BC"/>
                </a:solidFill>
                <a:latin typeface="Arial"/>
                <a:ea typeface="Arial"/>
                <a:cs typeface="Arial"/>
                <a:sym typeface="Arial"/>
              </a:rPr>
              <a:t>COMMON EXAMPLES</a:t>
            </a:r>
            <a:endParaRPr b="0" i="0" sz="1200" u="none" cap="none" strike="noStrike">
              <a:solidFill>
                <a:srgbClr val="000000"/>
              </a:solidFill>
              <a:latin typeface="Arial"/>
              <a:ea typeface="Arial"/>
              <a:cs typeface="Arial"/>
              <a:sym typeface="Arial"/>
            </a:endParaRPr>
          </a:p>
        </p:txBody>
      </p:sp>
      <p:cxnSp>
        <p:nvCxnSpPr>
          <p:cNvPr id="161" name="Google Shape;161;p4"/>
          <p:cNvCxnSpPr/>
          <p:nvPr/>
        </p:nvCxnSpPr>
        <p:spPr>
          <a:xfrm>
            <a:off x="3887063" y="1609087"/>
            <a:ext cx="0" cy="2729100"/>
          </a:xfrm>
          <a:prstGeom prst="straightConnector1">
            <a:avLst/>
          </a:prstGeom>
          <a:noFill/>
          <a:ln cap="flat" cmpd="sng" w="14300">
            <a:solidFill>
              <a:srgbClr val="D8E0E7"/>
            </a:solidFill>
            <a:prstDash val="solid"/>
            <a:round/>
            <a:headEnd len="sm" w="sm" type="none"/>
            <a:tailEnd len="sm" w="sm" type="none"/>
          </a:ln>
        </p:spPr>
      </p:cxnSp>
      <p:sp>
        <p:nvSpPr>
          <p:cNvPr id="162" name="Google Shape;162;p4"/>
          <p:cNvSpPr/>
          <p:nvPr/>
        </p:nvSpPr>
        <p:spPr>
          <a:xfrm>
            <a:off x="4055750" y="1731333"/>
            <a:ext cx="32004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US" sz="900" u="none" cap="none" strike="noStrike">
                <a:solidFill>
                  <a:srgbClr val="1570BC"/>
                </a:solidFill>
                <a:latin typeface="Arial"/>
                <a:ea typeface="Arial"/>
                <a:cs typeface="Arial"/>
                <a:sym typeface="Arial"/>
              </a:rPr>
              <a:t>SIMPLE EXAMPLES</a:t>
            </a:r>
            <a:endParaRPr b="0" i="0" sz="1200" u="none" cap="none" strike="noStrike">
              <a:solidFill>
                <a:srgbClr val="000000"/>
              </a:solidFill>
              <a:latin typeface="Arial"/>
              <a:ea typeface="Arial"/>
              <a:cs typeface="Arial"/>
              <a:sym typeface="Arial"/>
            </a:endParaRPr>
          </a:p>
        </p:txBody>
      </p:sp>
      <p:sp>
        <p:nvSpPr>
          <p:cNvPr id="163" name="Google Shape;163;p4"/>
          <p:cNvSpPr/>
          <p:nvPr/>
        </p:nvSpPr>
        <p:spPr>
          <a:xfrm>
            <a:off x="4055750" y="2184348"/>
            <a:ext cx="4297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Changing values such as price or quantity in an API request</a:t>
            </a:r>
            <a:endParaRPr b="0" i="0" sz="1100" u="none" cap="none" strike="noStrike">
              <a:solidFill>
                <a:srgbClr val="000000"/>
              </a:solidFill>
              <a:latin typeface="Arial"/>
              <a:ea typeface="Arial"/>
              <a:cs typeface="Arial"/>
              <a:sym typeface="Arial"/>
            </a:endParaRPr>
          </a:p>
        </p:txBody>
      </p:sp>
      <p:cxnSp>
        <p:nvCxnSpPr>
          <p:cNvPr id="164" name="Google Shape;164;p4"/>
          <p:cNvCxnSpPr/>
          <p:nvPr/>
        </p:nvCxnSpPr>
        <p:spPr>
          <a:xfrm>
            <a:off x="4055750" y="2612971"/>
            <a:ext cx="4297200" cy="0"/>
          </a:xfrm>
          <a:prstGeom prst="straightConnector1">
            <a:avLst/>
          </a:prstGeom>
          <a:noFill/>
          <a:ln cap="flat" cmpd="sng" w="9525">
            <a:solidFill>
              <a:srgbClr val="D8E0E7"/>
            </a:solidFill>
            <a:prstDash val="solid"/>
            <a:round/>
            <a:headEnd len="sm" w="sm" type="none"/>
            <a:tailEnd len="sm" w="sm" type="none"/>
          </a:ln>
        </p:spPr>
      </p:cxnSp>
      <p:sp>
        <p:nvSpPr>
          <p:cNvPr id="165" name="Google Shape;165;p4"/>
          <p:cNvSpPr/>
          <p:nvPr/>
        </p:nvSpPr>
        <p:spPr>
          <a:xfrm>
            <a:off x="4055750" y="2770132"/>
            <a:ext cx="4297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Skipping, repeating, or reordering steps</a:t>
            </a:r>
            <a:endParaRPr b="0" i="0" sz="1100" u="none" cap="none" strike="noStrike">
              <a:solidFill>
                <a:srgbClr val="000000"/>
              </a:solidFill>
              <a:latin typeface="Arial"/>
              <a:ea typeface="Arial"/>
              <a:cs typeface="Arial"/>
              <a:sym typeface="Arial"/>
            </a:endParaRPr>
          </a:p>
        </p:txBody>
      </p:sp>
      <p:cxnSp>
        <p:nvCxnSpPr>
          <p:cNvPr id="166" name="Google Shape;166;p4"/>
          <p:cNvCxnSpPr/>
          <p:nvPr/>
        </p:nvCxnSpPr>
        <p:spPr>
          <a:xfrm>
            <a:off x="4055750" y="3198754"/>
            <a:ext cx="4297200" cy="0"/>
          </a:xfrm>
          <a:prstGeom prst="straightConnector1">
            <a:avLst/>
          </a:prstGeom>
          <a:noFill/>
          <a:ln cap="flat" cmpd="sng" w="9525">
            <a:solidFill>
              <a:srgbClr val="D8E0E7"/>
            </a:solidFill>
            <a:prstDash val="solid"/>
            <a:round/>
            <a:headEnd len="sm" w="sm" type="none"/>
            <a:tailEnd len="sm" w="sm" type="none"/>
          </a:ln>
        </p:spPr>
      </p:cxnSp>
      <p:sp>
        <p:nvSpPr>
          <p:cNvPr id="167" name="Google Shape;167;p4"/>
          <p:cNvSpPr/>
          <p:nvPr/>
        </p:nvSpPr>
        <p:spPr>
          <a:xfrm>
            <a:off x="4055750" y="3355916"/>
            <a:ext cx="4297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Accessing actions or data belonging to another user</a:t>
            </a:r>
            <a:endParaRPr b="0" i="0" sz="1100" u="none" cap="none" strike="noStrike">
              <a:solidFill>
                <a:srgbClr val="000000"/>
              </a:solidFill>
              <a:latin typeface="Arial"/>
              <a:ea typeface="Arial"/>
              <a:cs typeface="Arial"/>
              <a:sym typeface="Arial"/>
            </a:endParaRPr>
          </a:p>
        </p:txBody>
      </p:sp>
      <p:cxnSp>
        <p:nvCxnSpPr>
          <p:cNvPr id="168" name="Google Shape;168;p4"/>
          <p:cNvCxnSpPr/>
          <p:nvPr/>
        </p:nvCxnSpPr>
        <p:spPr>
          <a:xfrm>
            <a:off x="4055750" y="3784538"/>
            <a:ext cx="4297200" cy="0"/>
          </a:xfrm>
          <a:prstGeom prst="straightConnector1">
            <a:avLst/>
          </a:prstGeom>
          <a:noFill/>
          <a:ln cap="flat" cmpd="sng" w="9525">
            <a:solidFill>
              <a:srgbClr val="D8E0E7"/>
            </a:solidFill>
            <a:prstDash val="solid"/>
            <a:round/>
            <a:headEnd len="sm" w="sm" type="none"/>
            <a:tailEnd len="sm" w="sm" type="none"/>
          </a:ln>
        </p:spPr>
      </p:cxnSp>
      <p:cxnSp>
        <p:nvCxnSpPr>
          <p:cNvPr id="169" name="Google Shape;169;p4"/>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sp>
        <p:nvSpPr>
          <p:cNvPr id="170" name="Google Shape;170;p4"/>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04</a:t>
            </a:r>
            <a:endParaRPr b="0" i="0" sz="1100" u="none" cap="none" strike="noStrike">
              <a:solidFill>
                <a:srgbClr val="000000"/>
              </a:solidFill>
              <a:latin typeface="Arial"/>
              <a:ea typeface="Arial"/>
              <a:cs typeface="Arial"/>
              <a:sym typeface="Arial"/>
            </a:endParaRPr>
          </a:p>
        </p:txBody>
      </p:sp>
      <p:sp>
        <p:nvSpPr>
          <p:cNvPr id="171" name="Google Shape;171;p4"/>
          <p:cNvSpPr/>
          <p:nvPr/>
        </p:nvSpPr>
        <p:spPr>
          <a:xfrm>
            <a:off x="545113" y="2155178"/>
            <a:ext cx="2929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Parameter tampering</a:t>
            </a:r>
            <a:endParaRPr b="0" i="0" sz="1100" u="none" cap="none" strike="noStrike">
              <a:solidFill>
                <a:srgbClr val="000000"/>
              </a:solidFill>
              <a:latin typeface="Arial"/>
              <a:ea typeface="Arial"/>
              <a:cs typeface="Arial"/>
              <a:sym typeface="Arial"/>
            </a:endParaRPr>
          </a:p>
        </p:txBody>
      </p:sp>
      <p:cxnSp>
        <p:nvCxnSpPr>
          <p:cNvPr id="172" name="Google Shape;172;p4"/>
          <p:cNvCxnSpPr/>
          <p:nvPr/>
        </p:nvCxnSpPr>
        <p:spPr>
          <a:xfrm>
            <a:off x="545113" y="2583803"/>
            <a:ext cx="2929200" cy="0"/>
          </a:xfrm>
          <a:prstGeom prst="straightConnector1">
            <a:avLst/>
          </a:prstGeom>
          <a:noFill/>
          <a:ln cap="flat" cmpd="sng" w="9525">
            <a:solidFill>
              <a:srgbClr val="D8E0E7"/>
            </a:solidFill>
            <a:prstDash val="solid"/>
            <a:round/>
            <a:headEnd len="sm" w="sm" type="none"/>
            <a:tailEnd len="sm" w="sm" type="none"/>
          </a:ln>
        </p:spPr>
      </p:cxnSp>
      <p:sp>
        <p:nvSpPr>
          <p:cNvPr id="173" name="Google Shape;173;p4"/>
          <p:cNvSpPr/>
          <p:nvPr/>
        </p:nvSpPr>
        <p:spPr>
          <a:xfrm>
            <a:off x="545113" y="2740965"/>
            <a:ext cx="2929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Workflow manipulation</a:t>
            </a:r>
            <a:endParaRPr b="0" i="0" sz="1100" u="none" cap="none" strike="noStrike">
              <a:solidFill>
                <a:srgbClr val="000000"/>
              </a:solidFill>
              <a:latin typeface="Arial"/>
              <a:ea typeface="Arial"/>
              <a:cs typeface="Arial"/>
              <a:sym typeface="Arial"/>
            </a:endParaRPr>
          </a:p>
        </p:txBody>
      </p:sp>
      <p:cxnSp>
        <p:nvCxnSpPr>
          <p:cNvPr id="174" name="Google Shape;174;p4"/>
          <p:cNvCxnSpPr/>
          <p:nvPr/>
        </p:nvCxnSpPr>
        <p:spPr>
          <a:xfrm>
            <a:off x="545113" y="3169590"/>
            <a:ext cx="2929200" cy="0"/>
          </a:xfrm>
          <a:prstGeom prst="straightConnector1">
            <a:avLst/>
          </a:prstGeom>
          <a:noFill/>
          <a:ln cap="flat" cmpd="sng" w="9525">
            <a:solidFill>
              <a:srgbClr val="D8E0E7"/>
            </a:solidFill>
            <a:prstDash val="solid"/>
            <a:round/>
            <a:headEnd len="sm" w="sm" type="none"/>
            <a:tailEnd len="sm" w="sm" type="none"/>
          </a:ln>
        </p:spPr>
      </p:cxnSp>
      <p:sp>
        <p:nvSpPr>
          <p:cNvPr id="175" name="Google Shape;175;p4"/>
          <p:cNvSpPr/>
          <p:nvPr/>
        </p:nvSpPr>
        <p:spPr>
          <a:xfrm>
            <a:off x="545113" y="3326753"/>
            <a:ext cx="2929200" cy="385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E497B"/>
                </a:solidFill>
                <a:latin typeface="Arial"/>
                <a:ea typeface="Arial"/>
                <a:cs typeface="Arial"/>
                <a:sym typeface="Arial"/>
              </a:rPr>
              <a:t>Authorization flaws</a:t>
            </a:r>
            <a:endParaRPr b="0" i="0" sz="1100" u="none" cap="none" strike="noStrike">
              <a:solidFill>
                <a:srgbClr val="000000"/>
              </a:solidFill>
              <a:latin typeface="Arial"/>
              <a:ea typeface="Arial"/>
              <a:cs typeface="Arial"/>
              <a:sym typeface="Arial"/>
            </a:endParaRPr>
          </a:p>
        </p:txBody>
      </p:sp>
      <p:cxnSp>
        <p:nvCxnSpPr>
          <p:cNvPr id="176" name="Google Shape;176;p4"/>
          <p:cNvCxnSpPr/>
          <p:nvPr/>
        </p:nvCxnSpPr>
        <p:spPr>
          <a:xfrm>
            <a:off x="545113" y="3755378"/>
            <a:ext cx="2929200" cy="0"/>
          </a:xfrm>
          <a:prstGeom prst="straightConnector1">
            <a:avLst/>
          </a:prstGeom>
          <a:noFill/>
          <a:ln cap="flat" cmpd="sng" w="9525">
            <a:solidFill>
              <a:srgbClr val="D8E0E7"/>
            </a:solidFill>
            <a:prstDash val="solid"/>
            <a:round/>
            <a:headEnd len="sm" w="sm" type="none"/>
            <a:tailEnd len="sm" w="sm" type="none"/>
          </a:ln>
        </p:spPr>
      </p:cxnSp>
      <p:sp>
        <p:nvSpPr>
          <p:cNvPr id="177" name="Google Shape;177;p4"/>
          <p:cNvSpPr/>
          <p:nvPr/>
        </p:nvSpPr>
        <p:spPr>
          <a:xfrm>
            <a:off x="457188" y="946676"/>
            <a:ext cx="7172400" cy="414600"/>
          </a:xfrm>
          <a:prstGeom prst="roundRect">
            <a:avLst>
              <a:gd fmla="val 13793" name="adj"/>
            </a:avLst>
          </a:prstGeom>
          <a:solidFill>
            <a:srgbClr val="0E497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FFFFFF"/>
                </a:solidFill>
                <a:latin typeface="Arial"/>
                <a:ea typeface="Arial"/>
                <a:cs typeface="Arial"/>
                <a:sym typeface="Arial"/>
              </a:rPr>
              <a:t>Attackers use real features and valid requests in an unexpected way.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82" name="Shape 182"/>
        <p:cNvGrpSpPr/>
        <p:nvPr/>
      </p:nvGrpSpPr>
      <p:grpSpPr>
        <a:xfrm>
          <a:off x="0" y="0"/>
          <a:ext cx="0" cy="0"/>
          <a:chOff x="0" y="0"/>
          <a:chExt cx="0" cy="0"/>
        </a:xfrm>
      </p:grpSpPr>
      <p:sp>
        <p:nvSpPr>
          <p:cNvPr id="183" name="Google Shape;183;p5"/>
          <p:cNvSpPr/>
          <p:nvPr/>
        </p:nvSpPr>
        <p:spPr>
          <a:xfrm>
            <a:off x="4743450" y="1333500"/>
            <a:ext cx="3943350" cy="2447925"/>
          </a:xfrm>
          <a:prstGeom prst="roundRect">
            <a:avLst>
              <a:gd fmla="val 7782"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5"/>
          <p:cNvSpPr/>
          <p:nvPr/>
        </p:nvSpPr>
        <p:spPr>
          <a:xfrm>
            <a:off x="457200" y="1333500"/>
            <a:ext cx="3943350" cy="2447925"/>
          </a:xfrm>
          <a:prstGeom prst="roundRect">
            <a:avLst>
              <a:gd fmla="val 7782"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5"/>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5"/>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HUMAN JUDGMENT</a:t>
            </a:r>
            <a:endParaRPr b="0" i="0" sz="1100" u="none" cap="none" strike="noStrike">
              <a:solidFill>
                <a:srgbClr val="000000"/>
              </a:solidFill>
              <a:latin typeface="Arial"/>
              <a:ea typeface="Arial"/>
              <a:cs typeface="Arial"/>
              <a:sym typeface="Arial"/>
            </a:endParaRPr>
          </a:p>
        </p:txBody>
      </p:sp>
      <p:sp>
        <p:nvSpPr>
          <p:cNvPr id="187" name="Google Shape;187;p5"/>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Why business logic testing needs human reasoning</a:t>
            </a:r>
            <a:endParaRPr b="0" i="0" sz="1100" u="none" cap="none" strike="noStrike">
              <a:solidFill>
                <a:srgbClr val="000000"/>
              </a:solidFill>
              <a:latin typeface="Arial"/>
              <a:ea typeface="Arial"/>
              <a:cs typeface="Arial"/>
              <a:sym typeface="Arial"/>
            </a:endParaRPr>
          </a:p>
        </p:txBody>
      </p:sp>
      <p:sp>
        <p:nvSpPr>
          <p:cNvPr id="188" name="Google Shape;188;p5"/>
          <p:cNvSpPr/>
          <p:nvPr/>
        </p:nvSpPr>
        <p:spPr>
          <a:xfrm>
            <a:off x="1057275" y="1552575"/>
            <a:ext cx="31242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US" sz="1500" u="none" cap="none" strike="noStrike">
                <a:solidFill>
                  <a:srgbClr val="0E497B"/>
                </a:solidFill>
                <a:latin typeface="Arial"/>
                <a:ea typeface="Arial"/>
                <a:cs typeface="Arial"/>
                <a:sym typeface="Arial"/>
              </a:rPr>
              <a:t>Scanners recognize</a:t>
            </a:r>
            <a:endParaRPr b="0" i="0" sz="1100" u="none" cap="none" strike="noStrike">
              <a:solidFill>
                <a:srgbClr val="000000"/>
              </a:solidFill>
              <a:latin typeface="Arial"/>
              <a:ea typeface="Arial"/>
              <a:cs typeface="Arial"/>
              <a:sym typeface="Arial"/>
            </a:endParaRPr>
          </a:p>
        </p:txBody>
      </p:sp>
      <p:sp>
        <p:nvSpPr>
          <p:cNvPr id="189" name="Google Shape;189;p5"/>
          <p:cNvSpPr/>
          <p:nvPr/>
        </p:nvSpPr>
        <p:spPr>
          <a:xfrm>
            <a:off x="647700" y="2038350"/>
            <a:ext cx="3486150" cy="1533525"/>
          </a:xfrm>
          <a:prstGeom prst="rect">
            <a:avLst/>
          </a:prstGeom>
          <a:noFill/>
          <a:ln>
            <a:noFill/>
          </a:ln>
        </p:spPr>
        <p:txBody>
          <a:bodyPr anchorCtr="0" anchor="t" bIns="34275" lIns="68575" spcFirstLastPara="1" rIns="68575" wrap="square" tIns="34275">
            <a:noAutofit/>
          </a:bodyPr>
          <a:lstStyle/>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Endpoints and parameters</a:t>
            </a:r>
            <a:endParaRPr b="0" i="0" sz="1300" u="none" cap="none" strike="noStrike">
              <a:solidFill>
                <a:srgbClr val="2C2C2C"/>
              </a:solidFill>
              <a:latin typeface="Arial"/>
              <a:ea typeface="Arial"/>
              <a:cs typeface="Arial"/>
              <a:sym typeface="Arial"/>
            </a:endParaRPr>
          </a:p>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Request and response patterns</a:t>
            </a:r>
            <a:endParaRPr b="0" i="0" sz="1300" u="none" cap="none" strike="noStrike">
              <a:solidFill>
                <a:srgbClr val="2C2C2C"/>
              </a:solidFill>
              <a:latin typeface="Arial"/>
              <a:ea typeface="Arial"/>
              <a:cs typeface="Arial"/>
              <a:sym typeface="Arial"/>
            </a:endParaRPr>
          </a:p>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Known attacks such as XSS, SSRF and SQL injection</a:t>
            </a:r>
            <a:endParaRPr b="0" i="0" sz="1300" u="none" cap="none" strike="noStrike">
              <a:solidFill>
                <a:srgbClr val="2C2C2C"/>
              </a:solidFill>
              <a:latin typeface="Arial"/>
              <a:ea typeface="Arial"/>
              <a:cs typeface="Arial"/>
              <a:sym typeface="Arial"/>
            </a:endParaRPr>
          </a:p>
        </p:txBody>
      </p:sp>
      <p:cxnSp>
        <p:nvCxnSpPr>
          <p:cNvPr id="190" name="Google Shape;190;p5"/>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sp>
        <p:nvSpPr>
          <p:cNvPr id="191" name="Google Shape;191;p5"/>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05</a:t>
            </a:r>
            <a:endParaRPr b="0" i="0" sz="1100" u="none" cap="none" strike="noStrike">
              <a:solidFill>
                <a:srgbClr val="000000"/>
              </a:solidFill>
              <a:latin typeface="Arial"/>
              <a:ea typeface="Arial"/>
              <a:cs typeface="Arial"/>
              <a:sym typeface="Arial"/>
            </a:endParaRPr>
          </a:p>
        </p:txBody>
      </p:sp>
      <p:sp>
        <p:nvSpPr>
          <p:cNvPr id="192" name="Google Shape;192;p5"/>
          <p:cNvSpPr/>
          <p:nvPr/>
        </p:nvSpPr>
        <p:spPr>
          <a:xfrm>
            <a:off x="4933950" y="2038350"/>
            <a:ext cx="3486150" cy="1533525"/>
          </a:xfrm>
          <a:prstGeom prst="rect">
            <a:avLst/>
          </a:prstGeom>
          <a:noFill/>
          <a:ln>
            <a:noFill/>
          </a:ln>
        </p:spPr>
        <p:txBody>
          <a:bodyPr anchorCtr="0" anchor="t" bIns="91425" lIns="91425" spcFirstLastPara="1" rIns="91425" wrap="square" tIns="91425">
            <a:noAutofit/>
          </a:bodyPr>
          <a:lstStyle/>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Which steps are required?</a:t>
            </a:r>
            <a:endParaRPr b="0" i="0" sz="1350" u="none" cap="none" strike="noStrike">
              <a:solidFill>
                <a:srgbClr val="2C2C2C"/>
              </a:solidFill>
              <a:latin typeface="Arial"/>
              <a:ea typeface="Arial"/>
              <a:cs typeface="Arial"/>
              <a:sym typeface="Arial"/>
            </a:endParaRPr>
          </a:p>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Who may perform each action?</a:t>
            </a:r>
            <a:endParaRPr b="0" i="0" sz="1350" u="none" cap="none" strike="noStrike">
              <a:solidFill>
                <a:srgbClr val="2C2C2C"/>
              </a:solidFill>
              <a:latin typeface="Arial"/>
              <a:ea typeface="Arial"/>
              <a:cs typeface="Arial"/>
              <a:sym typeface="Arial"/>
            </a:endParaRPr>
          </a:p>
          <a:p>
            <a:pPr indent="-107950" lvl="0" marL="215900" marR="0" rtl="0" algn="l">
              <a:lnSpc>
                <a:spcPct val="100000"/>
              </a:lnSpc>
              <a:spcBef>
                <a:spcPts val="1200"/>
              </a:spcBef>
              <a:spcAft>
                <a:spcPts val="0"/>
              </a:spcAft>
              <a:buClr>
                <a:srgbClr val="2C2C2C"/>
              </a:buClr>
              <a:buSzPts val="1300"/>
              <a:buFont typeface="Arial"/>
              <a:buChar char="•"/>
            </a:pPr>
            <a:r>
              <a:rPr b="0" i="0" lang="en-US" sz="1350" u="none" cap="none" strike="noStrike">
                <a:solidFill>
                  <a:srgbClr val="4A4A4A"/>
                </a:solidFill>
                <a:latin typeface="Arial"/>
                <a:ea typeface="Arial"/>
                <a:cs typeface="Arial"/>
                <a:sym typeface="Arial"/>
              </a:rPr>
              <a:t>Which outcome must never happen?</a:t>
            </a:r>
            <a:endParaRPr b="0" i="0" sz="1400" u="none" cap="none" strike="noStrike">
              <a:solidFill>
                <a:srgbClr val="000000"/>
              </a:solidFill>
              <a:latin typeface="Arial"/>
              <a:ea typeface="Arial"/>
              <a:cs typeface="Arial"/>
              <a:sym typeface="Arial"/>
            </a:endParaRPr>
          </a:p>
        </p:txBody>
      </p:sp>
      <p:sp>
        <p:nvSpPr>
          <p:cNvPr id="193" name="Google Shape;193;p5"/>
          <p:cNvSpPr/>
          <p:nvPr/>
        </p:nvSpPr>
        <p:spPr>
          <a:xfrm>
            <a:off x="5343525" y="1552575"/>
            <a:ext cx="314325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1500" u="none" cap="none" strike="noStrike">
                <a:solidFill>
                  <a:srgbClr val="0E497B"/>
                </a:solidFill>
                <a:latin typeface="Arial"/>
                <a:ea typeface="Arial"/>
                <a:cs typeface="Arial"/>
                <a:sym typeface="Arial"/>
              </a:rPr>
              <a:t>Humans ask about the rule</a:t>
            </a:r>
            <a:endParaRPr b="0" i="0" sz="1400" u="none" cap="none" strike="noStrike">
              <a:solidFill>
                <a:srgbClr val="000000"/>
              </a:solidFill>
              <a:latin typeface="Arial"/>
              <a:ea typeface="Arial"/>
              <a:cs typeface="Arial"/>
              <a:sym typeface="Arial"/>
            </a:endParaRPr>
          </a:p>
        </p:txBody>
      </p:sp>
      <p:sp>
        <p:nvSpPr>
          <p:cNvPr id="194" name="Google Shape;194;p5"/>
          <p:cNvSpPr/>
          <p:nvPr/>
        </p:nvSpPr>
        <p:spPr>
          <a:xfrm>
            <a:off x="647700" y="4095750"/>
            <a:ext cx="7848600" cy="381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500" u="none" cap="none" strike="noStrike">
                <a:solidFill>
                  <a:srgbClr val="0E497B"/>
                </a:solidFill>
                <a:latin typeface="Arial"/>
                <a:ea typeface="Arial"/>
                <a:cs typeface="Arial"/>
                <a:sym typeface="Arial"/>
              </a:rPr>
              <a:t>The hard part is knowing which rule to challenge.</a:t>
            </a:r>
            <a:endParaRPr b="0" i="0" sz="1400" u="none" cap="none" strike="noStrike">
              <a:solidFill>
                <a:srgbClr val="000000"/>
              </a:solidFill>
              <a:latin typeface="Arial"/>
              <a:ea typeface="Arial"/>
              <a:cs typeface="Arial"/>
              <a:sym typeface="Arial"/>
            </a:endParaRPr>
          </a:p>
        </p:txBody>
      </p:sp>
      <p:sp>
        <p:nvSpPr>
          <p:cNvPr id="195" name="Google Shape;195;p5"/>
          <p:cNvSpPr/>
          <p:nvPr/>
        </p:nvSpPr>
        <p:spPr>
          <a:xfrm>
            <a:off x="647700" y="152400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647700" y="156210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97" name="Google Shape;197;p5"/>
          <p:cNvSpPr/>
          <p:nvPr/>
        </p:nvSpPr>
        <p:spPr>
          <a:xfrm>
            <a:off x="4933950" y="152400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5"/>
          <p:cNvSpPr/>
          <p:nvPr/>
        </p:nvSpPr>
        <p:spPr>
          <a:xfrm>
            <a:off x="4933950" y="156210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03" name="Shape 203"/>
        <p:cNvGrpSpPr/>
        <p:nvPr/>
      </p:nvGrpSpPr>
      <p:grpSpPr>
        <a:xfrm>
          <a:off x="0" y="0"/>
          <a:ext cx="0" cy="0"/>
          <a:chOff x="0" y="0"/>
          <a:chExt cx="0" cy="0"/>
        </a:xfrm>
      </p:grpSpPr>
      <p:sp>
        <p:nvSpPr>
          <p:cNvPr id="204" name="Google Shape;204;p6"/>
          <p:cNvSpPr/>
          <p:nvPr/>
        </p:nvSpPr>
        <p:spPr>
          <a:xfrm>
            <a:off x="4743450" y="1495425"/>
            <a:ext cx="3943350" cy="2324100"/>
          </a:xfrm>
          <a:prstGeom prst="roundRect">
            <a:avLst>
              <a:gd fmla="val 8197"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6"/>
          <p:cNvSpPr/>
          <p:nvPr/>
        </p:nvSpPr>
        <p:spPr>
          <a:xfrm>
            <a:off x="457200" y="1495425"/>
            <a:ext cx="3943350" cy="2324100"/>
          </a:xfrm>
          <a:prstGeom prst="roundRect">
            <a:avLst>
              <a:gd fmla="val 8197"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6"/>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479A6"/>
                </a:solidFill>
                <a:latin typeface="Arial"/>
                <a:ea typeface="Arial"/>
                <a:cs typeface="Arial"/>
                <a:sym typeface="Arial"/>
              </a:rPr>
              <a:t>RESEARCH QUESTION</a:t>
            </a:r>
            <a:endParaRPr b="0" i="0" sz="1100" u="none" cap="none" strike="noStrike">
              <a:solidFill>
                <a:srgbClr val="000000"/>
              </a:solidFill>
              <a:latin typeface="Arial"/>
              <a:ea typeface="Arial"/>
              <a:cs typeface="Arial"/>
              <a:sym typeface="Arial"/>
            </a:endParaRPr>
          </a:p>
        </p:txBody>
      </p:sp>
      <p:sp>
        <p:nvSpPr>
          <p:cNvPr id="208" name="Google Shape;208;p6"/>
          <p:cNvSpPr/>
          <p:nvPr/>
        </p:nvSpPr>
        <p:spPr>
          <a:xfrm>
            <a:off x="457200" y="442913"/>
            <a:ext cx="8229600" cy="443103"/>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000"/>
              <a:buFont typeface="Arial"/>
              <a:buNone/>
            </a:pPr>
            <a:r>
              <a:rPr b="1" i="0" lang="en-US" sz="2100" u="none" cap="none" strike="noStrike">
                <a:solidFill>
                  <a:srgbClr val="4A4A4A"/>
                </a:solidFill>
                <a:latin typeface="Arial"/>
                <a:ea typeface="Arial"/>
                <a:cs typeface="Arial"/>
                <a:sym typeface="Arial"/>
              </a:rPr>
              <a:t>Can more context help AI test business logic?</a:t>
            </a:r>
            <a:endParaRPr b="0" i="0" sz="1100" u="none" cap="none" strike="noStrike">
              <a:solidFill>
                <a:srgbClr val="000000"/>
              </a:solidFill>
              <a:latin typeface="Arial"/>
              <a:ea typeface="Arial"/>
              <a:cs typeface="Arial"/>
              <a:sym typeface="Arial"/>
            </a:endParaRPr>
          </a:p>
        </p:txBody>
      </p:sp>
      <p:cxnSp>
        <p:nvCxnSpPr>
          <p:cNvPr id="209" name="Google Shape;209;p6"/>
          <p:cNvCxnSpPr/>
          <p:nvPr/>
        </p:nvCxnSpPr>
        <p:spPr>
          <a:xfrm>
            <a:off x="4133200" y="1619340"/>
            <a:ext cx="0" cy="1790700"/>
          </a:xfrm>
          <a:prstGeom prst="straightConnector1">
            <a:avLst/>
          </a:prstGeom>
          <a:noFill/>
          <a:ln>
            <a:noFill/>
          </a:ln>
        </p:spPr>
      </p:cxnSp>
      <p:sp>
        <p:nvSpPr>
          <p:cNvPr id="210" name="Google Shape;210;p6"/>
          <p:cNvSpPr/>
          <p:nvPr/>
        </p:nvSpPr>
        <p:spPr>
          <a:xfrm>
            <a:off x="1285875" y="4143375"/>
            <a:ext cx="6572400" cy="371400"/>
          </a:xfrm>
          <a:prstGeom prst="roundRect">
            <a:avLst>
              <a:gd fmla="val 15385" name="adj"/>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100" u="none" cap="none" strike="noStrike">
              <a:solidFill>
                <a:srgbClr val="000000"/>
              </a:solidFill>
              <a:latin typeface="Arial"/>
              <a:ea typeface="Arial"/>
              <a:cs typeface="Arial"/>
              <a:sym typeface="Arial"/>
            </a:endParaRPr>
          </a:p>
        </p:txBody>
      </p:sp>
      <p:cxnSp>
        <p:nvCxnSpPr>
          <p:cNvPr id="211" name="Google Shape;211;p6"/>
          <p:cNvCxnSpPr/>
          <p:nvPr/>
        </p:nvCxnSpPr>
        <p:spPr>
          <a:xfrm>
            <a:off x="457200" y="4857750"/>
            <a:ext cx="8229600" cy="0"/>
          </a:xfrm>
          <a:prstGeom prst="straightConnector1">
            <a:avLst/>
          </a:prstGeom>
          <a:noFill/>
          <a:ln cap="flat" cmpd="sng" w="9525">
            <a:solidFill>
              <a:srgbClr val="C7D7E1"/>
            </a:solidFill>
            <a:prstDash val="solid"/>
            <a:round/>
            <a:headEnd len="sm" w="sm" type="none"/>
            <a:tailEnd len="sm" w="sm" type="none"/>
          </a:ln>
        </p:spPr>
      </p:cxnSp>
      <p:sp>
        <p:nvSpPr>
          <p:cNvPr id="212" name="Google Shape;212;p6"/>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06</a:t>
            </a:r>
            <a:endParaRPr b="0" i="0" sz="1100" u="none" cap="none" strike="noStrike">
              <a:solidFill>
                <a:srgbClr val="000000"/>
              </a:solidFill>
              <a:latin typeface="Arial"/>
              <a:ea typeface="Arial"/>
              <a:cs typeface="Arial"/>
              <a:sym typeface="Arial"/>
            </a:endParaRPr>
          </a:p>
        </p:txBody>
      </p:sp>
      <p:sp>
        <p:nvSpPr>
          <p:cNvPr id="213" name="Google Shape;213;p6"/>
          <p:cNvSpPr/>
          <p:nvPr/>
        </p:nvSpPr>
        <p:spPr>
          <a:xfrm>
            <a:off x="647700" y="1685925"/>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
          <p:cNvSpPr/>
          <p:nvPr/>
        </p:nvSpPr>
        <p:spPr>
          <a:xfrm>
            <a:off x="647700" y="1724025"/>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4933950" y="1685925"/>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4933950" y="1724025"/>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17" name="Google Shape;217;p6"/>
          <p:cNvSpPr/>
          <p:nvPr/>
        </p:nvSpPr>
        <p:spPr>
          <a:xfrm>
            <a:off x="1057275" y="1685925"/>
            <a:ext cx="2952750" cy="323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The gap</a:t>
            </a:r>
            <a:endParaRPr b="0" i="0" sz="1400" u="none" cap="none" strike="noStrike">
              <a:solidFill>
                <a:srgbClr val="000000"/>
              </a:solidFill>
              <a:latin typeface="Arial"/>
              <a:ea typeface="Arial"/>
              <a:cs typeface="Arial"/>
              <a:sym typeface="Arial"/>
            </a:endParaRPr>
          </a:p>
        </p:txBody>
      </p:sp>
      <p:sp>
        <p:nvSpPr>
          <p:cNvPr id="218" name="Google Shape;218;p6"/>
          <p:cNvSpPr/>
          <p:nvPr/>
        </p:nvSpPr>
        <p:spPr>
          <a:xfrm>
            <a:off x="5343525" y="1685925"/>
            <a:ext cx="3114675" cy="323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AI + Playwright MCP</a:t>
            </a:r>
            <a:endParaRPr b="0" i="0" sz="1400" u="none" cap="none" strike="noStrike">
              <a:solidFill>
                <a:srgbClr val="000000"/>
              </a:solidFill>
              <a:latin typeface="Arial"/>
              <a:ea typeface="Arial"/>
              <a:cs typeface="Arial"/>
              <a:sym typeface="Arial"/>
            </a:endParaRPr>
          </a:p>
        </p:txBody>
      </p:sp>
      <p:sp>
        <p:nvSpPr>
          <p:cNvPr id="219" name="Google Shape;219;p6"/>
          <p:cNvSpPr/>
          <p:nvPr/>
        </p:nvSpPr>
        <p:spPr>
          <a:xfrm>
            <a:off x="647700" y="2333625"/>
            <a:ext cx="3486150" cy="1200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4A4A4A"/>
                </a:solidFill>
                <a:latin typeface="Arial"/>
                <a:ea typeface="Arial"/>
                <a:cs typeface="Arial"/>
                <a:sym typeface="Arial"/>
              </a:rPr>
              <a:t>API calls alone may miss the meaning of a workflow.</a:t>
            </a:r>
            <a:endParaRPr b="0" i="0" sz="1400" u="none" cap="none" strike="noStrike">
              <a:solidFill>
                <a:srgbClr val="000000"/>
              </a:solidFill>
              <a:latin typeface="Arial"/>
              <a:ea typeface="Arial"/>
              <a:cs typeface="Arial"/>
              <a:sym typeface="Arial"/>
            </a:endParaRPr>
          </a:p>
        </p:txBody>
      </p:sp>
      <p:sp>
        <p:nvSpPr>
          <p:cNvPr id="220" name="Google Shape;220;p6"/>
          <p:cNvSpPr/>
          <p:nvPr/>
        </p:nvSpPr>
        <p:spPr>
          <a:xfrm>
            <a:off x="4933950" y="2333625"/>
            <a:ext cx="3486150" cy="1200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0" i="0" lang="en-US" sz="1650" u="none" cap="none" strike="noStrike">
                <a:solidFill>
                  <a:srgbClr val="4A4A4A"/>
                </a:solidFill>
                <a:latin typeface="Arial"/>
                <a:ea typeface="Arial"/>
                <a:cs typeface="Arial"/>
                <a:sym typeface="Arial"/>
              </a:rPr>
              <a:t>Combine UI changes and API traffic to help AI suggest abuse cases.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25" name="Shape 225"/>
        <p:cNvGrpSpPr/>
        <p:nvPr/>
      </p:nvGrpSpPr>
      <p:grpSpPr>
        <a:xfrm>
          <a:off x="0" y="0"/>
          <a:ext cx="0" cy="0"/>
          <a:chOff x="0" y="0"/>
          <a:chExt cx="0" cy="0"/>
        </a:xfrm>
      </p:grpSpPr>
      <p:sp>
        <p:nvSpPr>
          <p:cNvPr id="226" name="Google Shape;226;p7"/>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7"/>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479A6"/>
                </a:solidFill>
                <a:latin typeface="Arial"/>
                <a:ea typeface="Arial"/>
                <a:cs typeface="Arial"/>
                <a:sym typeface="Arial"/>
              </a:rPr>
              <a:t>FIVE STAGES</a:t>
            </a:r>
            <a:endParaRPr b="0" i="0" sz="1100" u="none" cap="none" strike="noStrike">
              <a:solidFill>
                <a:srgbClr val="000000"/>
              </a:solidFill>
              <a:latin typeface="Arial"/>
              <a:ea typeface="Arial"/>
              <a:cs typeface="Arial"/>
              <a:sym typeface="Arial"/>
            </a:endParaRPr>
          </a:p>
        </p:txBody>
      </p:sp>
      <p:sp>
        <p:nvSpPr>
          <p:cNvPr id="228" name="Google Shape;228;p7"/>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How FlowBusters works</a:t>
            </a:r>
            <a:endParaRPr b="0" i="0" sz="1100" u="none" cap="none" strike="noStrike">
              <a:solidFill>
                <a:srgbClr val="000000"/>
              </a:solidFill>
              <a:latin typeface="Arial"/>
              <a:ea typeface="Arial"/>
              <a:cs typeface="Arial"/>
              <a:sym typeface="Arial"/>
            </a:endParaRPr>
          </a:p>
        </p:txBody>
      </p:sp>
      <p:sp>
        <p:nvSpPr>
          <p:cNvPr id="229" name="Google Shape;229;p7"/>
          <p:cNvSpPr/>
          <p:nvPr/>
        </p:nvSpPr>
        <p:spPr>
          <a:xfrm>
            <a:off x="457200" y="1476375"/>
            <a:ext cx="1524000" cy="2276475"/>
          </a:xfrm>
          <a:prstGeom prst="roundRect">
            <a:avLst>
              <a:gd fmla="val 4717"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7"/>
          <p:cNvSpPr/>
          <p:nvPr/>
        </p:nvSpPr>
        <p:spPr>
          <a:xfrm>
            <a:off x="542925" y="1571625"/>
            <a:ext cx="414600" cy="2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1100" u="none" cap="none" strike="noStrike">
              <a:solidFill>
                <a:srgbClr val="000000"/>
              </a:solidFill>
              <a:latin typeface="Arial"/>
              <a:ea typeface="Arial"/>
              <a:cs typeface="Arial"/>
              <a:sym typeface="Arial"/>
            </a:endParaRPr>
          </a:p>
        </p:txBody>
      </p:sp>
      <p:sp>
        <p:nvSpPr>
          <p:cNvPr id="231" name="Google Shape;231;p7"/>
          <p:cNvSpPr/>
          <p:nvPr/>
        </p:nvSpPr>
        <p:spPr>
          <a:xfrm>
            <a:off x="609600" y="2124075"/>
            <a:ext cx="12573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Record</a:t>
            </a:r>
            <a:endParaRPr b="0" i="0" sz="1100" u="none" cap="none" strike="noStrike">
              <a:solidFill>
                <a:srgbClr val="000000"/>
              </a:solidFill>
              <a:latin typeface="Arial"/>
              <a:ea typeface="Arial"/>
              <a:cs typeface="Arial"/>
              <a:sym typeface="Arial"/>
            </a:endParaRPr>
          </a:p>
        </p:txBody>
      </p:sp>
      <p:sp>
        <p:nvSpPr>
          <p:cNvPr id="232" name="Google Shape;232;p7"/>
          <p:cNvSpPr/>
          <p:nvPr/>
        </p:nvSpPr>
        <p:spPr>
          <a:xfrm>
            <a:off x="609600" y="2552700"/>
            <a:ext cx="1219200" cy="10001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4A4A4A"/>
                </a:solidFill>
                <a:latin typeface="Arial"/>
                <a:ea typeface="Arial"/>
                <a:cs typeface="Arial"/>
                <a:sym typeface="Arial"/>
              </a:rPr>
              <a:t>UI context + HTTP traffic captured with Playwright MCP</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233" name="Google Shape;233;p7"/>
          <p:cNvSpPr/>
          <p:nvPr/>
        </p:nvSpPr>
        <p:spPr>
          <a:xfrm>
            <a:off x="2133600" y="1476375"/>
            <a:ext cx="1524000" cy="2276475"/>
          </a:xfrm>
          <a:prstGeom prst="roundRect">
            <a:avLst>
              <a:gd fmla="val 4717"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p:nvPr/>
        </p:nvSpPr>
        <p:spPr>
          <a:xfrm>
            <a:off x="2293144" y="1571625"/>
            <a:ext cx="414600" cy="2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1100" u="none" cap="none" strike="noStrike">
              <a:solidFill>
                <a:srgbClr val="000000"/>
              </a:solidFill>
              <a:latin typeface="Arial"/>
              <a:ea typeface="Arial"/>
              <a:cs typeface="Arial"/>
              <a:sym typeface="Arial"/>
            </a:endParaRPr>
          </a:p>
        </p:txBody>
      </p:sp>
      <p:sp>
        <p:nvSpPr>
          <p:cNvPr id="235" name="Google Shape;235;p7"/>
          <p:cNvSpPr/>
          <p:nvPr/>
        </p:nvSpPr>
        <p:spPr>
          <a:xfrm>
            <a:off x="2286000" y="2124075"/>
            <a:ext cx="12573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Analyze</a:t>
            </a:r>
            <a:endParaRPr b="0" i="0" sz="1100" u="none" cap="none" strike="noStrike">
              <a:solidFill>
                <a:srgbClr val="000000"/>
              </a:solidFill>
              <a:latin typeface="Arial"/>
              <a:ea typeface="Arial"/>
              <a:cs typeface="Arial"/>
              <a:sym typeface="Arial"/>
            </a:endParaRPr>
          </a:p>
        </p:txBody>
      </p:sp>
      <p:sp>
        <p:nvSpPr>
          <p:cNvPr id="236" name="Google Shape;236;p7"/>
          <p:cNvSpPr/>
          <p:nvPr/>
        </p:nvSpPr>
        <p:spPr>
          <a:xfrm>
            <a:off x="2286000" y="2552700"/>
            <a:ext cx="1219200" cy="10001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4A4A4A"/>
                </a:solidFill>
                <a:latin typeface="Arial"/>
                <a:ea typeface="Arial"/>
                <a:cs typeface="Arial"/>
                <a:sym typeface="Arial"/>
              </a:rPr>
              <a:t>AI models states, roles and transitions</a:t>
            </a:r>
            <a:endParaRPr b="0" i="0" sz="1100" u="none" cap="none" strike="noStrike">
              <a:solidFill>
                <a:srgbClr val="000000"/>
              </a:solidFill>
              <a:latin typeface="Arial"/>
              <a:ea typeface="Arial"/>
              <a:cs typeface="Arial"/>
              <a:sym typeface="Arial"/>
            </a:endParaRPr>
          </a:p>
        </p:txBody>
      </p:sp>
      <p:sp>
        <p:nvSpPr>
          <p:cNvPr id="237" name="Google Shape;237;p7"/>
          <p:cNvSpPr/>
          <p:nvPr/>
        </p:nvSpPr>
        <p:spPr>
          <a:xfrm>
            <a:off x="3810000" y="1476375"/>
            <a:ext cx="1524000" cy="2276475"/>
          </a:xfrm>
          <a:prstGeom prst="roundRect">
            <a:avLst>
              <a:gd fmla="val 4717"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7"/>
          <p:cNvSpPr/>
          <p:nvPr/>
        </p:nvSpPr>
        <p:spPr>
          <a:xfrm>
            <a:off x="4043363" y="1571625"/>
            <a:ext cx="414600" cy="2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1100" u="none" cap="none" strike="noStrike">
              <a:solidFill>
                <a:srgbClr val="000000"/>
              </a:solidFill>
              <a:latin typeface="Arial"/>
              <a:ea typeface="Arial"/>
              <a:cs typeface="Arial"/>
              <a:sym typeface="Arial"/>
            </a:endParaRPr>
          </a:p>
        </p:txBody>
      </p:sp>
      <p:sp>
        <p:nvSpPr>
          <p:cNvPr id="239" name="Google Shape;239;p7"/>
          <p:cNvSpPr/>
          <p:nvPr/>
        </p:nvSpPr>
        <p:spPr>
          <a:xfrm>
            <a:off x="3962400" y="2124075"/>
            <a:ext cx="12573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Mutate</a:t>
            </a:r>
            <a:endParaRPr b="0" i="0" sz="1100" u="none" cap="none" strike="noStrike">
              <a:solidFill>
                <a:srgbClr val="000000"/>
              </a:solidFill>
              <a:latin typeface="Arial"/>
              <a:ea typeface="Arial"/>
              <a:cs typeface="Arial"/>
              <a:sym typeface="Arial"/>
            </a:endParaRPr>
          </a:p>
        </p:txBody>
      </p:sp>
      <p:sp>
        <p:nvSpPr>
          <p:cNvPr id="240" name="Google Shape;240;p7"/>
          <p:cNvSpPr/>
          <p:nvPr/>
        </p:nvSpPr>
        <p:spPr>
          <a:xfrm>
            <a:off x="3962400" y="2552700"/>
            <a:ext cx="1219200" cy="10001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4A4A4A"/>
                </a:solidFill>
                <a:latin typeface="Arial"/>
                <a:ea typeface="Arial"/>
                <a:cs typeface="Arial"/>
                <a:sym typeface="Arial"/>
              </a:rPr>
              <a:t>AI proposes adversarial test cases</a:t>
            </a:r>
            <a:endParaRPr b="0" i="0" sz="1000" u="none" cap="none" strike="noStrike">
              <a:solidFill>
                <a:srgbClr val="FFFFFF"/>
              </a:solidFill>
              <a:latin typeface="Arial"/>
              <a:ea typeface="Arial"/>
              <a:cs typeface="Arial"/>
              <a:sym typeface="Arial"/>
            </a:endParaRPr>
          </a:p>
        </p:txBody>
      </p:sp>
      <p:sp>
        <p:nvSpPr>
          <p:cNvPr id="241" name="Google Shape;241;p7"/>
          <p:cNvSpPr/>
          <p:nvPr/>
        </p:nvSpPr>
        <p:spPr>
          <a:xfrm>
            <a:off x="5486400" y="1476375"/>
            <a:ext cx="1524000" cy="2276475"/>
          </a:xfrm>
          <a:prstGeom prst="roundRect">
            <a:avLst>
              <a:gd fmla="val 4717"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7"/>
          <p:cNvSpPr/>
          <p:nvPr/>
        </p:nvSpPr>
        <p:spPr>
          <a:xfrm>
            <a:off x="5793581" y="1571625"/>
            <a:ext cx="414600" cy="2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1100" u="none" cap="none" strike="noStrike">
              <a:solidFill>
                <a:srgbClr val="000000"/>
              </a:solidFill>
              <a:latin typeface="Arial"/>
              <a:ea typeface="Arial"/>
              <a:cs typeface="Arial"/>
              <a:sym typeface="Arial"/>
            </a:endParaRPr>
          </a:p>
        </p:txBody>
      </p:sp>
      <p:sp>
        <p:nvSpPr>
          <p:cNvPr id="243" name="Google Shape;243;p7"/>
          <p:cNvSpPr/>
          <p:nvPr/>
        </p:nvSpPr>
        <p:spPr>
          <a:xfrm>
            <a:off x="5638800" y="2124075"/>
            <a:ext cx="12573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Probe</a:t>
            </a:r>
            <a:endParaRPr b="0" i="0" sz="1100" u="none" cap="none" strike="noStrike">
              <a:solidFill>
                <a:srgbClr val="000000"/>
              </a:solidFill>
              <a:latin typeface="Arial"/>
              <a:ea typeface="Arial"/>
              <a:cs typeface="Arial"/>
              <a:sym typeface="Arial"/>
            </a:endParaRPr>
          </a:p>
        </p:txBody>
      </p:sp>
      <p:sp>
        <p:nvSpPr>
          <p:cNvPr id="244" name="Google Shape;244;p7"/>
          <p:cNvSpPr/>
          <p:nvPr/>
        </p:nvSpPr>
        <p:spPr>
          <a:xfrm>
            <a:off x="5638800" y="2552700"/>
            <a:ext cx="1219200" cy="10001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4A4A4A"/>
                </a:solidFill>
                <a:latin typeface="Arial"/>
                <a:ea typeface="Arial"/>
                <a:cs typeface="Arial"/>
                <a:sym typeface="Arial"/>
              </a:rPr>
              <a:t>Backend runs validated Python tests</a:t>
            </a:r>
            <a:endParaRPr b="0" i="0" sz="1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245" name="Google Shape;245;p7"/>
          <p:cNvSpPr/>
          <p:nvPr/>
        </p:nvSpPr>
        <p:spPr>
          <a:xfrm>
            <a:off x="7162800" y="1476375"/>
            <a:ext cx="1524000" cy="2276475"/>
          </a:xfrm>
          <a:prstGeom prst="roundRect">
            <a:avLst>
              <a:gd fmla="val 4717"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7"/>
          <p:cNvSpPr/>
          <p:nvPr/>
        </p:nvSpPr>
        <p:spPr>
          <a:xfrm>
            <a:off x="7543800" y="1571625"/>
            <a:ext cx="414600" cy="2145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t/>
            </a:r>
            <a:endParaRPr b="0" i="0" sz="1100" u="none" cap="none" strike="noStrike">
              <a:solidFill>
                <a:srgbClr val="000000"/>
              </a:solidFill>
              <a:latin typeface="Arial"/>
              <a:ea typeface="Arial"/>
              <a:cs typeface="Arial"/>
              <a:sym typeface="Arial"/>
            </a:endParaRPr>
          </a:p>
        </p:txBody>
      </p:sp>
      <p:sp>
        <p:nvSpPr>
          <p:cNvPr id="247" name="Google Shape;247;p7"/>
          <p:cNvSpPr/>
          <p:nvPr/>
        </p:nvSpPr>
        <p:spPr>
          <a:xfrm>
            <a:off x="7315200" y="2124075"/>
            <a:ext cx="12573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Report</a:t>
            </a:r>
            <a:endParaRPr b="0" i="0" sz="1100" u="none" cap="none" strike="noStrike">
              <a:solidFill>
                <a:srgbClr val="000000"/>
              </a:solidFill>
              <a:latin typeface="Arial"/>
              <a:ea typeface="Arial"/>
              <a:cs typeface="Arial"/>
              <a:sym typeface="Arial"/>
            </a:endParaRPr>
          </a:p>
        </p:txBody>
      </p:sp>
      <p:sp>
        <p:nvSpPr>
          <p:cNvPr id="248" name="Google Shape;248;p7"/>
          <p:cNvSpPr/>
          <p:nvPr/>
        </p:nvSpPr>
        <p:spPr>
          <a:xfrm>
            <a:off x="7315200" y="2552700"/>
            <a:ext cx="1219200" cy="10001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200" u="none" cap="none" strike="noStrike">
                <a:solidFill>
                  <a:srgbClr val="4A4A4A"/>
                </a:solidFill>
                <a:latin typeface="Arial"/>
                <a:ea typeface="Arial"/>
                <a:cs typeface="Arial"/>
                <a:sym typeface="Arial"/>
              </a:rPr>
              <a:t>Backend verifies evidence + outcome</a:t>
            </a:r>
            <a:endParaRPr b="0" i="0" sz="1000" u="none" cap="none" strike="noStrike">
              <a:solidFill>
                <a:srgbClr val="2C2C2C"/>
              </a:solidFill>
              <a:latin typeface="Arial"/>
              <a:ea typeface="Arial"/>
              <a:cs typeface="Arial"/>
              <a:sym typeface="Arial"/>
            </a:endParaRPr>
          </a:p>
        </p:txBody>
      </p:sp>
      <p:sp>
        <p:nvSpPr>
          <p:cNvPr id="249" name="Google Shape;249;p7"/>
          <p:cNvSpPr/>
          <p:nvPr/>
        </p:nvSpPr>
        <p:spPr>
          <a:xfrm>
            <a:off x="1009650" y="4105275"/>
            <a:ext cx="7124700" cy="40005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0E497B"/>
                </a:solidFill>
                <a:latin typeface="Arial"/>
                <a:ea typeface="Arial"/>
                <a:cs typeface="Arial"/>
                <a:sym typeface="Arial"/>
              </a:rPr>
              <a:t>The model suggests attack ideas, but it cannot declare a vulnerability by itself.</a:t>
            </a:r>
            <a:endParaRPr b="0" i="0" sz="1100" u="none" cap="none" strike="noStrike">
              <a:solidFill>
                <a:srgbClr val="000000"/>
              </a:solidFill>
              <a:latin typeface="Arial"/>
              <a:ea typeface="Arial"/>
              <a:cs typeface="Arial"/>
              <a:sym typeface="Arial"/>
            </a:endParaRPr>
          </a:p>
        </p:txBody>
      </p:sp>
      <p:cxnSp>
        <p:nvCxnSpPr>
          <p:cNvPr id="250" name="Google Shape;250;p7"/>
          <p:cNvCxnSpPr/>
          <p:nvPr/>
        </p:nvCxnSpPr>
        <p:spPr>
          <a:xfrm>
            <a:off x="457200" y="4857750"/>
            <a:ext cx="8229600" cy="0"/>
          </a:xfrm>
          <a:prstGeom prst="straightConnector1">
            <a:avLst/>
          </a:prstGeom>
          <a:noFill/>
          <a:ln cap="flat" cmpd="sng" w="9525">
            <a:solidFill>
              <a:srgbClr val="C7D7E1"/>
            </a:solidFill>
            <a:prstDash val="solid"/>
            <a:round/>
            <a:headEnd len="sm" w="sm" type="none"/>
            <a:tailEnd len="sm" w="sm" type="none"/>
          </a:ln>
        </p:spPr>
      </p:cxnSp>
      <p:sp>
        <p:nvSpPr>
          <p:cNvPr id="251" name="Google Shape;251;p7"/>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07</a:t>
            </a:r>
            <a:endParaRPr b="0" i="0" sz="1100" u="none" cap="none" strike="noStrike">
              <a:solidFill>
                <a:srgbClr val="000000"/>
              </a:solidFill>
              <a:latin typeface="Arial"/>
              <a:ea typeface="Arial"/>
              <a:cs typeface="Arial"/>
              <a:sym typeface="Arial"/>
            </a:endParaRPr>
          </a:p>
        </p:txBody>
      </p:sp>
      <p:sp>
        <p:nvSpPr>
          <p:cNvPr id="252" name="Google Shape;252;p7"/>
          <p:cNvSpPr/>
          <p:nvPr/>
        </p:nvSpPr>
        <p:spPr>
          <a:xfrm>
            <a:off x="609600" y="16573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7"/>
          <p:cNvSpPr/>
          <p:nvPr/>
        </p:nvSpPr>
        <p:spPr>
          <a:xfrm>
            <a:off x="609600" y="16954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54" name="Google Shape;254;p7"/>
          <p:cNvSpPr/>
          <p:nvPr/>
        </p:nvSpPr>
        <p:spPr>
          <a:xfrm>
            <a:off x="2286000" y="16573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7"/>
          <p:cNvSpPr/>
          <p:nvPr/>
        </p:nvSpPr>
        <p:spPr>
          <a:xfrm>
            <a:off x="2286000" y="16954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6" name="Google Shape;256;p7"/>
          <p:cNvSpPr/>
          <p:nvPr/>
        </p:nvSpPr>
        <p:spPr>
          <a:xfrm>
            <a:off x="3962400" y="16573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7"/>
          <p:cNvSpPr/>
          <p:nvPr/>
        </p:nvSpPr>
        <p:spPr>
          <a:xfrm>
            <a:off x="3962400" y="16954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8" name="Google Shape;258;p7"/>
          <p:cNvSpPr/>
          <p:nvPr/>
        </p:nvSpPr>
        <p:spPr>
          <a:xfrm>
            <a:off x="5638800" y="16573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7"/>
          <p:cNvSpPr/>
          <p:nvPr/>
        </p:nvSpPr>
        <p:spPr>
          <a:xfrm>
            <a:off x="5638800" y="16954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0" name="Google Shape;260;p7"/>
          <p:cNvSpPr/>
          <p:nvPr/>
        </p:nvSpPr>
        <p:spPr>
          <a:xfrm>
            <a:off x="7315200" y="16573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7"/>
          <p:cNvSpPr/>
          <p:nvPr/>
        </p:nvSpPr>
        <p:spPr>
          <a:xfrm>
            <a:off x="7315200" y="16954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6" name="Shape 266"/>
        <p:cNvGrpSpPr/>
        <p:nvPr/>
      </p:nvGrpSpPr>
      <p:grpSpPr>
        <a:xfrm>
          <a:off x="0" y="0"/>
          <a:ext cx="0" cy="0"/>
          <a:chOff x="0" y="0"/>
          <a:chExt cx="0" cy="0"/>
        </a:xfrm>
      </p:grpSpPr>
      <p:sp>
        <p:nvSpPr>
          <p:cNvPr id="267" name="Google Shape;267;p9"/>
          <p:cNvSpPr/>
          <p:nvPr/>
        </p:nvSpPr>
        <p:spPr>
          <a:xfrm>
            <a:off x="581588" y="1282413"/>
            <a:ext cx="3828900" cy="2214600"/>
          </a:xfrm>
          <a:prstGeom prst="roundRect">
            <a:avLst>
              <a:gd fmla="val 3226"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9"/>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9"/>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RECORD PHASE</a:t>
            </a:r>
            <a:endParaRPr b="1" i="0" sz="1100" u="none" cap="none" strike="noStrike">
              <a:solidFill>
                <a:srgbClr val="000000"/>
              </a:solidFill>
              <a:latin typeface="Arial"/>
              <a:ea typeface="Arial"/>
              <a:cs typeface="Arial"/>
              <a:sym typeface="Arial"/>
            </a:endParaRPr>
          </a:p>
        </p:txBody>
      </p:sp>
      <p:sp>
        <p:nvSpPr>
          <p:cNvPr id="270" name="Google Shape;270;p9"/>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4A4A4A"/>
                </a:solidFill>
                <a:latin typeface="Arial"/>
                <a:ea typeface="Arial"/>
                <a:cs typeface="Arial"/>
                <a:sym typeface="Arial"/>
              </a:rPr>
              <a:t>Scope is checked before the browser opens</a:t>
            </a:r>
            <a:endParaRPr b="1" i="0" sz="2100" u="none" cap="none" strike="noStrike">
              <a:solidFill>
                <a:srgbClr val="0E497B"/>
              </a:solidFill>
              <a:latin typeface="Arial"/>
              <a:ea typeface="Arial"/>
              <a:cs typeface="Arial"/>
              <a:sym typeface="Arial"/>
            </a:endParaRPr>
          </a:p>
        </p:txBody>
      </p:sp>
      <p:cxnSp>
        <p:nvCxnSpPr>
          <p:cNvPr id="271" name="Google Shape;271;p9"/>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272" name="Google Shape;272;p9"/>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08</a:t>
            </a:r>
            <a:endParaRPr b="0" i="0" sz="1100" u="none" cap="none" strike="noStrike">
              <a:solidFill>
                <a:srgbClr val="000000"/>
              </a:solidFill>
              <a:latin typeface="Arial"/>
              <a:ea typeface="Arial"/>
              <a:cs typeface="Arial"/>
              <a:sym typeface="Arial"/>
            </a:endParaRPr>
          </a:p>
        </p:txBody>
      </p:sp>
      <p:sp>
        <p:nvSpPr>
          <p:cNvPr id="273" name="Google Shape;273;p9"/>
          <p:cNvSpPr/>
          <p:nvPr/>
        </p:nvSpPr>
        <p:spPr>
          <a:xfrm>
            <a:off x="808958" y="1819275"/>
            <a:ext cx="3374136" cy="1381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Verdana"/>
                <a:ea typeface="Verdana"/>
                <a:cs typeface="Verdana"/>
                <a:sym typeface="Verdana"/>
              </a:rPr>
              <a:t>{</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Verdana"/>
                <a:ea typeface="Verdana"/>
                <a:cs typeface="Verdana"/>
                <a:sym typeface="Verdana"/>
              </a:rPr>
              <a:t>  "allowed_domains": ["http://</a:t>
            </a:r>
            <a:r>
              <a:rPr lang="en-US" sz="1000">
                <a:solidFill>
                  <a:srgbClr val="FFFFFF"/>
                </a:solidFill>
                <a:latin typeface="Verdana"/>
                <a:ea typeface="Verdana"/>
                <a:cs typeface="Verdana"/>
                <a:sym typeface="Verdana"/>
              </a:rPr>
              <a:t>example.com/</a:t>
            </a:r>
            <a:r>
              <a:rPr b="0" i="0" lang="en-US" sz="1000" u="none" cap="none" strike="noStrike">
                <a:solidFill>
                  <a:srgbClr val="FFFFFF"/>
                </a:solidFill>
                <a:latin typeface="Verdana"/>
                <a:ea typeface="Verdana"/>
                <a:cs typeface="Verdana"/>
                <a:sym typeface="Verdana"/>
              </a:rPr>
              <a:t>"],</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Verdana"/>
                <a:ea typeface="Verdana"/>
                <a:cs typeface="Verdana"/>
                <a:sym typeface="Verdana"/>
              </a:rPr>
              <a:t>  "allowed_paths_prefix":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Verdana"/>
                <a:ea typeface="Verdana"/>
                <a:cs typeface="Verdana"/>
                <a:sym typeface="Verdana"/>
              </a:rPr>
              <a:t>  "block_production": false</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Verdana"/>
                <a:ea typeface="Verdana"/>
                <a:cs typeface="Verdana"/>
                <a:sym typeface="Verdana"/>
              </a:rPr>
              <a:t>}</a:t>
            </a:r>
            <a:endParaRPr b="0" i="0" sz="1100" u="none" cap="none" strike="noStrike">
              <a:solidFill>
                <a:schemeClr val="lt1"/>
              </a:solidFill>
              <a:latin typeface="Arial"/>
              <a:ea typeface="Arial"/>
              <a:cs typeface="Arial"/>
              <a:sym typeface="Arial"/>
            </a:endParaRPr>
          </a:p>
        </p:txBody>
      </p:sp>
      <p:sp>
        <p:nvSpPr>
          <p:cNvPr id="274" name="Google Shape;274;p9"/>
          <p:cNvSpPr/>
          <p:nvPr/>
        </p:nvSpPr>
        <p:spPr>
          <a:xfrm>
            <a:off x="4672013" y="2193131"/>
            <a:ext cx="614400" cy="243000"/>
          </a:xfrm>
          <a:prstGeom prst="rightArrow">
            <a:avLst>
              <a:gd fmla="val 50000" name="adj1"/>
              <a:gd fmla="val 50000" name="adj2"/>
            </a:avLst>
          </a:prstGeom>
          <a:solidFill>
            <a:srgbClr val="1479A6"/>
          </a:solidFill>
          <a:ln cap="flat" cmpd="sng" w="9525">
            <a:solidFill>
              <a:srgbClr val="1479A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5414976" y="1403774"/>
            <a:ext cx="3214800" cy="2093100"/>
          </a:xfrm>
          <a:prstGeom prst="roundRect">
            <a:avLst>
              <a:gd fmla="val 3226"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9"/>
          <p:cNvSpPr/>
          <p:nvPr/>
        </p:nvSpPr>
        <p:spPr>
          <a:xfrm>
            <a:off x="5643563" y="1685925"/>
            <a:ext cx="25719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BACKEND CHECKS</a:t>
            </a:r>
            <a:endParaRPr b="0" i="0" sz="1100" u="none" cap="none" strike="noStrike">
              <a:solidFill>
                <a:srgbClr val="000000"/>
              </a:solidFill>
              <a:latin typeface="Arial"/>
              <a:ea typeface="Arial"/>
              <a:cs typeface="Arial"/>
              <a:sym typeface="Arial"/>
            </a:endParaRPr>
          </a:p>
        </p:txBody>
      </p:sp>
      <p:sp>
        <p:nvSpPr>
          <p:cNvPr id="277" name="Google Shape;277;p9"/>
          <p:cNvSpPr/>
          <p:nvPr/>
        </p:nvSpPr>
        <p:spPr>
          <a:xfrm>
            <a:off x="5643563" y="1993106"/>
            <a:ext cx="2571900" cy="1185900"/>
          </a:xfrm>
          <a:prstGeom prst="rect">
            <a:avLst/>
          </a:prstGeom>
          <a:noFill/>
          <a:ln>
            <a:noFill/>
          </a:ln>
        </p:spPr>
        <p:txBody>
          <a:bodyPr anchorCtr="0" anchor="t" bIns="0" lIns="0" spcFirstLastPara="1" rIns="0" wrap="square" tIns="0">
            <a:noAutofit/>
          </a:bodyPr>
          <a:lstStyle/>
          <a:p>
            <a:pPr indent="-88900" lvl="0" marL="165100" marR="0" rtl="0" algn="l">
              <a:lnSpc>
                <a:spcPct val="100000"/>
              </a:lnSpc>
              <a:spcBef>
                <a:spcPts val="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Is the domain allowed?</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Is the path allowed?</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Is recording blocked?</a:t>
            </a:r>
            <a:endParaRPr b="0" i="0" sz="1100" u="none" cap="none" strike="noStrike">
              <a:solidFill>
                <a:srgbClr val="000000"/>
              </a:solidFill>
              <a:latin typeface="Arial"/>
              <a:ea typeface="Arial"/>
              <a:cs typeface="Arial"/>
              <a:sym typeface="Arial"/>
            </a:endParaRPr>
          </a:p>
        </p:txBody>
      </p:sp>
      <p:sp>
        <p:nvSpPr>
          <p:cNvPr id="278" name="Google Shape;278;p9"/>
          <p:cNvSpPr/>
          <p:nvPr/>
        </p:nvSpPr>
        <p:spPr>
          <a:xfrm>
            <a:off x="5472113" y="3521869"/>
            <a:ext cx="3029100" cy="614400"/>
          </a:xfrm>
          <a:prstGeom prst="roundRect">
            <a:avLst>
              <a:gd fmla="val 9302" name="adj"/>
            </a:avLst>
          </a:prstGeom>
          <a:solidFill>
            <a:srgbClr val="FFF6E9"/>
          </a:solidFill>
          <a:ln cap="flat" cmpd="sng" w="9525">
            <a:solidFill>
              <a:srgbClr val="E6B87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9"/>
          <p:cNvSpPr/>
          <p:nvPr/>
        </p:nvSpPr>
        <p:spPr>
          <a:xfrm>
            <a:off x="5643563" y="3693319"/>
            <a:ext cx="2671800" cy="28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6B00"/>
                </a:solidFill>
                <a:latin typeface="Arial"/>
                <a:ea typeface="Arial"/>
                <a:cs typeface="Arial"/>
                <a:sym typeface="Arial"/>
              </a:rPr>
              <a:t>block_production: true stops recording.</a:t>
            </a:r>
            <a:endParaRPr b="0" i="0" sz="1100" u="none" cap="none" strike="noStrike">
              <a:solidFill>
                <a:srgbClr val="000000"/>
              </a:solidFill>
              <a:latin typeface="Arial"/>
              <a:ea typeface="Arial"/>
              <a:cs typeface="Arial"/>
              <a:sym typeface="Arial"/>
            </a:endParaRPr>
          </a:p>
        </p:txBody>
      </p:sp>
      <p:sp>
        <p:nvSpPr>
          <p:cNvPr id="280" name="Google Shape;280;p9"/>
          <p:cNvSpPr/>
          <p:nvPr/>
        </p:nvSpPr>
        <p:spPr>
          <a:xfrm>
            <a:off x="514350" y="4393406"/>
            <a:ext cx="8115300" cy="46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B86B00"/>
                </a:solidFill>
                <a:latin typeface="Arial"/>
                <a:ea typeface="Arial"/>
                <a:cs typeface="Arial"/>
                <a:sym typeface="Arial"/>
              </a:rPr>
              <a:t>scope.json is a workflow guardrail, not a security boundary.</a:t>
            </a:r>
            <a:endParaRPr b="0" i="0" sz="1100" u="none" cap="none" strike="noStrike">
              <a:solidFill>
                <a:srgbClr val="000000"/>
              </a:solidFill>
              <a:latin typeface="Arial"/>
              <a:ea typeface="Arial"/>
              <a:cs typeface="Arial"/>
              <a:sym typeface="Arial"/>
            </a:endParaRPr>
          </a:p>
        </p:txBody>
      </p:sp>
      <p:sp>
        <p:nvSpPr>
          <p:cNvPr id="281" name="Google Shape;281;p9"/>
          <p:cNvSpPr/>
          <p:nvPr/>
        </p:nvSpPr>
        <p:spPr>
          <a:xfrm>
            <a:off x="808958" y="1406238"/>
            <a:ext cx="35431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scope.json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86" name="Shape 286"/>
        <p:cNvGrpSpPr/>
        <p:nvPr/>
      </p:nvGrpSpPr>
      <p:grpSpPr>
        <a:xfrm>
          <a:off x="0" y="0"/>
          <a:ext cx="0" cy="0"/>
          <a:chOff x="0" y="0"/>
          <a:chExt cx="0" cy="0"/>
        </a:xfrm>
      </p:grpSpPr>
      <p:sp>
        <p:nvSpPr>
          <p:cNvPr id="287" name="Google Shape;287;p10"/>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RAW UI CONTEXT</a:t>
            </a:r>
            <a:endParaRPr b="0" i="0" sz="1100" u="none" cap="none" strike="noStrike">
              <a:solidFill>
                <a:srgbClr val="000000"/>
              </a:solidFill>
              <a:latin typeface="Arial"/>
              <a:ea typeface="Arial"/>
              <a:cs typeface="Arial"/>
              <a:sym typeface="Arial"/>
            </a:endParaRPr>
          </a:p>
        </p:txBody>
      </p:sp>
      <p:sp>
        <p:nvSpPr>
          <p:cNvPr id="289" name="Google Shape;289;p10"/>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4A4A4A"/>
                </a:solidFill>
                <a:latin typeface="Arial"/>
                <a:ea typeface="Arial"/>
                <a:cs typeface="Arial"/>
                <a:sym typeface="Arial"/>
              </a:rPr>
              <a:t>demo.json: what the user could see</a:t>
            </a:r>
            <a:endParaRPr b="0" i="0" sz="1100" u="none" cap="none" strike="noStrike">
              <a:solidFill>
                <a:srgbClr val="000000"/>
              </a:solidFill>
              <a:latin typeface="Arial"/>
              <a:ea typeface="Arial"/>
              <a:cs typeface="Arial"/>
              <a:sym typeface="Arial"/>
            </a:endParaRPr>
          </a:p>
        </p:txBody>
      </p:sp>
      <p:cxnSp>
        <p:nvCxnSpPr>
          <p:cNvPr id="290" name="Google Shape;290;p10"/>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291" name="Google Shape;291;p10"/>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09</a:t>
            </a:r>
            <a:endParaRPr b="0" i="0" sz="1100" u="none" cap="none" strike="noStrike">
              <a:solidFill>
                <a:srgbClr val="000000"/>
              </a:solidFill>
              <a:latin typeface="Arial"/>
              <a:ea typeface="Arial"/>
              <a:cs typeface="Arial"/>
              <a:sym typeface="Arial"/>
            </a:endParaRPr>
          </a:p>
        </p:txBody>
      </p:sp>
      <p:sp>
        <p:nvSpPr>
          <p:cNvPr id="292" name="Google Shape;292;p10"/>
          <p:cNvSpPr/>
          <p:nvPr/>
        </p:nvSpPr>
        <p:spPr>
          <a:xfrm>
            <a:off x="514350" y="1128713"/>
            <a:ext cx="5429100" cy="3619500"/>
          </a:xfrm>
          <a:prstGeom prst="roundRect">
            <a:avLst>
              <a:gd fmla="val 1681"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10"/>
          <p:cNvSpPr/>
          <p:nvPr/>
        </p:nvSpPr>
        <p:spPr>
          <a:xfrm>
            <a:off x="642938" y="1552575"/>
            <a:ext cx="5171980" cy="312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"workflow_timeline":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"ui_states":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"step": 3, "url": "/orders/123",</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"elements":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"paragraph \"Original amount: $100\"",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"button \"Request 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"step": 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"elements":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"paragraph \"Refund pending\"",</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"button \"Complete 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"changes_from_previous":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"appeared": ["Refund pending", "Complete 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"disappeared": ["Request 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 }</a:t>
            </a:r>
            <a:endParaRPr b="1" i="0" sz="11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1" i="0" sz="11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p:txBody>
      </p:sp>
      <p:sp>
        <p:nvSpPr>
          <p:cNvPr id="294" name="Google Shape;294;p10"/>
          <p:cNvSpPr/>
          <p:nvPr/>
        </p:nvSpPr>
        <p:spPr>
          <a:xfrm>
            <a:off x="6193631" y="1243013"/>
            <a:ext cx="2336100" cy="2907600"/>
          </a:xfrm>
          <a:prstGeom prst="roundRect">
            <a:avLst>
              <a:gd fmla="val 2446"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0"/>
          <p:cNvSpPr/>
          <p:nvPr/>
        </p:nvSpPr>
        <p:spPr>
          <a:xfrm>
            <a:off x="6350794" y="1407319"/>
            <a:ext cx="19644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USEFUL TO THE AGENT</a:t>
            </a:r>
            <a:endParaRPr b="0" i="0" sz="1100" u="none" cap="none" strike="noStrike">
              <a:solidFill>
                <a:srgbClr val="000000"/>
              </a:solidFill>
              <a:latin typeface="Arial"/>
              <a:ea typeface="Arial"/>
              <a:cs typeface="Arial"/>
              <a:sym typeface="Arial"/>
            </a:endParaRPr>
          </a:p>
        </p:txBody>
      </p:sp>
      <p:sp>
        <p:nvSpPr>
          <p:cNvPr id="296" name="Google Shape;296;p10"/>
          <p:cNvSpPr/>
          <p:nvPr/>
        </p:nvSpPr>
        <p:spPr>
          <a:xfrm>
            <a:off x="6350794" y="1728788"/>
            <a:ext cx="1964400" cy="1771800"/>
          </a:xfrm>
          <a:prstGeom prst="rect">
            <a:avLst/>
          </a:prstGeom>
          <a:noFill/>
          <a:ln>
            <a:noFill/>
          </a:ln>
        </p:spPr>
        <p:txBody>
          <a:bodyPr anchorCtr="0" anchor="t" bIns="0" lIns="0" spcFirstLastPara="1" rIns="0" wrap="square" tIns="0">
            <a:noAutofit/>
          </a:bodyPr>
          <a:lstStyle/>
          <a:p>
            <a:pPr indent="-88900" lvl="0" marL="165100" marR="0" rtl="0" algn="l">
              <a:lnSpc>
                <a:spcPct val="100000"/>
              </a:lnSpc>
              <a:spcBef>
                <a:spcPts val="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Visible controls and text</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Enabled or disabled state</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Elements that appeared</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Elements that disappeared</a:t>
            </a:r>
            <a:endParaRPr b="0" i="0" sz="1100" u="none" cap="none" strike="noStrike">
              <a:solidFill>
                <a:srgbClr val="000000"/>
              </a:solidFill>
              <a:latin typeface="Arial"/>
              <a:ea typeface="Arial"/>
              <a:cs typeface="Arial"/>
              <a:sym typeface="Arial"/>
            </a:endParaRPr>
          </a:p>
          <a:p>
            <a:pPr indent="-88900" lvl="0" marL="165100" marR="0" rtl="0" algn="l">
              <a:lnSpc>
                <a:spcPct val="100000"/>
              </a:lnSpc>
              <a:spcBef>
                <a:spcPts val="1000"/>
              </a:spcBef>
              <a:spcAft>
                <a:spcPts val="0"/>
              </a:spcAft>
              <a:buClr>
                <a:srgbClr val="0E497B"/>
              </a:buClr>
              <a:buSzPts val="1200"/>
              <a:buFont typeface="Arial"/>
              <a:buChar char="•"/>
            </a:pPr>
            <a:r>
              <a:rPr b="0" i="0" lang="en-US" sz="1200" u="none" cap="none" strike="noStrike">
                <a:solidFill>
                  <a:srgbClr val="0E497B"/>
                </a:solidFill>
                <a:latin typeface="Arial"/>
                <a:ea typeface="Arial"/>
                <a:cs typeface="Arial"/>
                <a:sym typeface="Arial"/>
              </a:rPr>
              <a:t>URL, title, and timing</a:t>
            </a:r>
            <a:endParaRPr b="0" i="0" sz="1100" u="none" cap="none" strike="noStrike">
              <a:solidFill>
                <a:srgbClr val="000000"/>
              </a:solidFill>
              <a:latin typeface="Arial"/>
              <a:ea typeface="Arial"/>
              <a:cs typeface="Arial"/>
              <a:sym typeface="Arial"/>
            </a:endParaRPr>
          </a:p>
        </p:txBody>
      </p:sp>
      <p:sp>
        <p:nvSpPr>
          <p:cNvPr id="297" name="Google Shape;297;p10"/>
          <p:cNvSpPr/>
          <p:nvPr/>
        </p:nvSpPr>
        <p:spPr>
          <a:xfrm>
            <a:off x="642938" y="1252538"/>
            <a:ext cx="51433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demo.json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2" name="Shape 302"/>
        <p:cNvGrpSpPr/>
        <p:nvPr/>
      </p:nvGrpSpPr>
      <p:grpSpPr>
        <a:xfrm>
          <a:off x="0" y="0"/>
          <a:ext cx="0" cy="0"/>
          <a:chOff x="0" y="0"/>
          <a:chExt cx="0" cy="0"/>
        </a:xfrm>
      </p:grpSpPr>
      <p:sp>
        <p:nvSpPr>
          <p:cNvPr id="303" name="Google Shape;303;p11"/>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1"/>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RAW API CONTEXT</a:t>
            </a:r>
            <a:endParaRPr b="0" i="0" sz="1100" u="none" cap="none" strike="noStrike">
              <a:solidFill>
                <a:srgbClr val="000000"/>
              </a:solidFill>
              <a:latin typeface="Arial"/>
              <a:ea typeface="Arial"/>
              <a:cs typeface="Arial"/>
              <a:sym typeface="Arial"/>
            </a:endParaRPr>
          </a:p>
        </p:txBody>
      </p:sp>
      <p:sp>
        <p:nvSpPr>
          <p:cNvPr id="305" name="Google Shape;305;p11"/>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4A4A4A"/>
                </a:solidFill>
                <a:latin typeface="Arial"/>
                <a:ea typeface="Arial"/>
                <a:cs typeface="Arial"/>
                <a:sym typeface="Arial"/>
              </a:rPr>
              <a:t>recording.har: what the browser sent / received</a:t>
            </a:r>
            <a:endParaRPr b="0" i="0" sz="1100" u="none" cap="none" strike="noStrike">
              <a:solidFill>
                <a:srgbClr val="000000"/>
              </a:solidFill>
              <a:latin typeface="Arial"/>
              <a:ea typeface="Arial"/>
              <a:cs typeface="Arial"/>
              <a:sym typeface="Arial"/>
            </a:endParaRPr>
          </a:p>
        </p:txBody>
      </p:sp>
      <p:cxnSp>
        <p:nvCxnSpPr>
          <p:cNvPr id="306" name="Google Shape;306;p11"/>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307" name="Google Shape;307;p11"/>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10</a:t>
            </a:r>
            <a:endParaRPr b="0" i="0" sz="1100" u="none" cap="none" strike="noStrike">
              <a:solidFill>
                <a:srgbClr val="000000"/>
              </a:solidFill>
              <a:latin typeface="Arial"/>
              <a:ea typeface="Arial"/>
              <a:cs typeface="Arial"/>
              <a:sym typeface="Arial"/>
            </a:endParaRPr>
          </a:p>
        </p:txBody>
      </p:sp>
      <p:sp>
        <p:nvSpPr>
          <p:cNvPr id="308" name="Google Shape;308;p11"/>
          <p:cNvSpPr/>
          <p:nvPr/>
        </p:nvSpPr>
        <p:spPr>
          <a:xfrm>
            <a:off x="514350" y="1171575"/>
            <a:ext cx="5572200" cy="3179100"/>
          </a:xfrm>
          <a:prstGeom prst="roundRect">
            <a:avLst>
              <a:gd fmla="val 1798"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1"/>
          <p:cNvSpPr/>
          <p:nvPr/>
        </p:nvSpPr>
        <p:spPr>
          <a:xfrm>
            <a:off x="642938" y="1562100"/>
            <a:ext cx="5315141" cy="26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"request":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"method": "POST",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"url": "http://localhost:3000/api/order/refund/request",</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"postData": {"mimeType": "application/json", "text":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"response":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"status": 201,</a:t>
            </a:r>
            <a:endParaRPr b="1" i="0" sz="12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"content":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"mimeType": "application/json",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"text": "{\"order\":{\"originalAmount\":100, \"totalReturned\":0, \"refund\":{\"status\":\"pending\", \"requestedAmount\":100}}}"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a:t>
            </a:r>
            <a:endParaRPr b="0" i="0" sz="1200" u="none" cap="none" strike="noStrike">
              <a:solidFill>
                <a:srgbClr val="000000"/>
              </a:solidFill>
              <a:latin typeface="Arial"/>
              <a:ea typeface="Arial"/>
              <a:cs typeface="Arial"/>
              <a:sym typeface="Arial"/>
            </a:endParaRPr>
          </a:p>
        </p:txBody>
      </p:sp>
      <p:sp>
        <p:nvSpPr>
          <p:cNvPr id="310" name="Google Shape;310;p11"/>
          <p:cNvSpPr/>
          <p:nvPr/>
        </p:nvSpPr>
        <p:spPr>
          <a:xfrm>
            <a:off x="6315075" y="1243013"/>
            <a:ext cx="2214563" cy="3143250"/>
          </a:xfrm>
          <a:prstGeom prst="roundRect">
            <a:avLst>
              <a:gd fmla="val 2581"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1"/>
          <p:cNvSpPr/>
          <p:nvPr/>
        </p:nvSpPr>
        <p:spPr>
          <a:xfrm>
            <a:off x="6465094" y="1407319"/>
            <a:ext cx="18573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NETWORK EVIDENCE</a:t>
            </a:r>
            <a:endParaRPr b="0" i="0" sz="1100" u="none" cap="none" strike="noStrike">
              <a:solidFill>
                <a:srgbClr val="000000"/>
              </a:solidFill>
              <a:latin typeface="Arial"/>
              <a:ea typeface="Arial"/>
              <a:cs typeface="Arial"/>
              <a:sym typeface="Arial"/>
            </a:endParaRPr>
          </a:p>
        </p:txBody>
      </p:sp>
      <p:sp>
        <p:nvSpPr>
          <p:cNvPr id="312" name="Google Shape;312;p11"/>
          <p:cNvSpPr/>
          <p:nvPr/>
        </p:nvSpPr>
        <p:spPr>
          <a:xfrm>
            <a:off x="6465094" y="1728788"/>
            <a:ext cx="1857300" cy="1857300"/>
          </a:xfrm>
          <a:prstGeom prst="rect">
            <a:avLst/>
          </a:prstGeom>
          <a:noFill/>
          <a:ln>
            <a:noFill/>
          </a:ln>
        </p:spPr>
        <p:txBody>
          <a:bodyPr anchorCtr="0" anchor="t" bIns="0" lIns="0" spcFirstLastPara="1" rIns="0" wrap="square" tIns="0">
            <a:noAutofit/>
          </a:bodyPr>
          <a:lstStyle/>
          <a:p>
            <a:pPr indent="-82550" lvl="0" marL="165100" marR="0" rtl="0" algn="l">
              <a:lnSpc>
                <a:spcPct val="100000"/>
              </a:lnSpc>
              <a:spcBef>
                <a:spcPts val="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Request sequence</a:t>
            </a:r>
            <a:endParaRPr b="0" i="0" sz="1100" u="none" cap="none" strike="noStrike">
              <a:solidFill>
                <a:srgbClr val="000000"/>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Method and full URL</a:t>
            </a:r>
            <a:endParaRPr b="0" i="0" sz="1100" u="none" cap="none" strike="noStrike">
              <a:solidFill>
                <a:srgbClr val="000000"/>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Headers and body</a:t>
            </a:r>
            <a:endParaRPr b="0" i="0" sz="1100" u="none" cap="none" strike="noStrike">
              <a:solidFill>
                <a:srgbClr val="000000"/>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HTTP status</a:t>
            </a:r>
            <a:endParaRPr b="0" i="0" sz="1100" u="none" cap="none" strike="noStrike">
              <a:solidFill>
                <a:srgbClr val="000000"/>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Available response body</a:t>
            </a:r>
            <a:endParaRPr b="0" i="0" sz="1100" u="none" cap="none" strike="noStrike">
              <a:solidFill>
                <a:srgbClr val="000000"/>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Captured timing</a:t>
            </a:r>
            <a:endParaRPr b="0" i="0" sz="1100" u="none" cap="none" strike="noStrike">
              <a:solidFill>
                <a:srgbClr val="000000"/>
              </a:solidFill>
              <a:latin typeface="Arial"/>
              <a:ea typeface="Arial"/>
              <a:cs typeface="Arial"/>
              <a:sym typeface="Arial"/>
            </a:endParaRPr>
          </a:p>
        </p:txBody>
      </p:sp>
      <p:sp>
        <p:nvSpPr>
          <p:cNvPr id="313" name="Google Shape;313;p11"/>
          <p:cNvSpPr/>
          <p:nvPr/>
        </p:nvSpPr>
        <p:spPr>
          <a:xfrm>
            <a:off x="6465094" y="3614738"/>
            <a:ext cx="1843200" cy="5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B86B00"/>
                </a:solidFill>
                <a:latin typeface="Arial"/>
                <a:ea typeface="Arial"/>
                <a:cs typeface="Arial"/>
                <a:sym typeface="Arial"/>
              </a:rPr>
              <a:t>Treat HAR files as sensitive: they may contain cookies, tokens, or request data.</a:t>
            </a:r>
            <a:endParaRPr b="0" i="0" sz="1100" u="none" cap="none" strike="noStrike">
              <a:solidFill>
                <a:srgbClr val="000000"/>
              </a:solidFill>
              <a:latin typeface="Arial"/>
              <a:ea typeface="Arial"/>
              <a:cs typeface="Arial"/>
              <a:sym typeface="Arial"/>
            </a:endParaRPr>
          </a:p>
        </p:txBody>
      </p:sp>
      <p:sp>
        <p:nvSpPr>
          <p:cNvPr id="314" name="Google Shape;314;p11"/>
          <p:cNvSpPr/>
          <p:nvPr/>
        </p:nvSpPr>
        <p:spPr>
          <a:xfrm>
            <a:off x="642938" y="1295400"/>
            <a:ext cx="52864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recording.har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12"/>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2"/>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ANALYZE PHASE</a:t>
            </a:r>
            <a:endParaRPr b="0" i="0" sz="1100" u="none" cap="none" strike="noStrike">
              <a:solidFill>
                <a:srgbClr val="000000"/>
              </a:solidFill>
              <a:latin typeface="Arial"/>
              <a:ea typeface="Arial"/>
              <a:cs typeface="Arial"/>
              <a:sym typeface="Arial"/>
            </a:endParaRPr>
          </a:p>
        </p:txBody>
      </p:sp>
      <p:sp>
        <p:nvSpPr>
          <p:cNvPr id="322" name="Google Shape;322;p12"/>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0E497B"/>
                </a:solidFill>
                <a:latin typeface="Arial"/>
                <a:ea typeface="Arial"/>
                <a:cs typeface="Arial"/>
                <a:sym typeface="Arial"/>
              </a:rPr>
              <a:t>Two views of the same workflow</a:t>
            </a:r>
            <a:endParaRPr b="1" i="0" sz="2100" u="none" cap="none" strike="noStrike">
              <a:solidFill>
                <a:srgbClr val="0E497B"/>
              </a:solidFill>
              <a:latin typeface="Arial"/>
              <a:ea typeface="Arial"/>
              <a:cs typeface="Arial"/>
              <a:sym typeface="Arial"/>
            </a:endParaRPr>
          </a:p>
        </p:txBody>
      </p:sp>
      <p:cxnSp>
        <p:nvCxnSpPr>
          <p:cNvPr id="323" name="Google Shape;323;p12"/>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324" name="Google Shape;324;p12"/>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11</a:t>
            </a:r>
            <a:endParaRPr b="0" i="0" sz="1100" u="none" cap="none" strike="noStrike">
              <a:solidFill>
                <a:srgbClr val="000000"/>
              </a:solidFill>
              <a:latin typeface="Arial"/>
              <a:ea typeface="Arial"/>
              <a:cs typeface="Arial"/>
              <a:sym typeface="Arial"/>
            </a:endParaRPr>
          </a:p>
        </p:txBody>
      </p:sp>
      <p:sp>
        <p:nvSpPr>
          <p:cNvPr id="325" name="Google Shape;325;p12"/>
          <p:cNvSpPr/>
          <p:nvPr/>
        </p:nvSpPr>
        <p:spPr>
          <a:xfrm>
            <a:off x="514350" y="1414463"/>
            <a:ext cx="3000300" cy="1678800"/>
          </a:xfrm>
          <a:prstGeom prst="roundRect">
            <a:avLst>
              <a:gd fmla="val 3404"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2"/>
          <p:cNvSpPr/>
          <p:nvPr/>
        </p:nvSpPr>
        <p:spPr>
          <a:xfrm>
            <a:off x="685800" y="1557338"/>
            <a:ext cx="12858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3D4F1"/>
                </a:solidFill>
                <a:latin typeface="Verdana"/>
                <a:ea typeface="Verdana"/>
                <a:cs typeface="Verdana"/>
                <a:sym typeface="Verdana"/>
              </a:rPr>
              <a:t>demo.json</a:t>
            </a:r>
            <a:endParaRPr b="0" i="0" sz="1100" u="none" cap="none" strike="noStrike">
              <a:solidFill>
                <a:srgbClr val="000000"/>
              </a:solidFill>
              <a:latin typeface="Arial"/>
              <a:ea typeface="Arial"/>
              <a:cs typeface="Arial"/>
              <a:sym typeface="Arial"/>
            </a:endParaRPr>
          </a:p>
        </p:txBody>
      </p:sp>
      <p:sp>
        <p:nvSpPr>
          <p:cNvPr id="327" name="Google Shape;327;p12"/>
          <p:cNvSpPr/>
          <p:nvPr/>
        </p:nvSpPr>
        <p:spPr>
          <a:xfrm>
            <a:off x="685800" y="1950244"/>
            <a:ext cx="2464800" cy="7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Arial"/>
                <a:ea typeface="Arial"/>
                <a:cs typeface="Arial"/>
                <a:sym typeface="Arial"/>
              </a:rPr>
              <a:t>UI state 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Arial"/>
                <a:ea typeface="Arial"/>
                <a:cs typeface="Arial"/>
                <a:sym typeface="Arial"/>
              </a:rPr>
              <a:t>“Refund pending” appears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Arial"/>
                <a:ea typeface="Arial"/>
                <a:cs typeface="Arial"/>
                <a:sym typeface="Arial"/>
              </a:rPr>
              <a:t>“Complete refund” appears</a:t>
            </a:r>
            <a:endParaRPr b="0" i="0" sz="1100" u="none" cap="none" strike="noStrike">
              <a:solidFill>
                <a:srgbClr val="000000"/>
              </a:solidFill>
              <a:latin typeface="Arial"/>
              <a:ea typeface="Arial"/>
              <a:cs typeface="Arial"/>
              <a:sym typeface="Arial"/>
            </a:endParaRPr>
          </a:p>
        </p:txBody>
      </p:sp>
      <p:sp>
        <p:nvSpPr>
          <p:cNvPr id="328" name="Google Shape;328;p12"/>
          <p:cNvSpPr/>
          <p:nvPr/>
        </p:nvSpPr>
        <p:spPr>
          <a:xfrm>
            <a:off x="5629275" y="1414463"/>
            <a:ext cx="3000300" cy="1678800"/>
          </a:xfrm>
          <a:prstGeom prst="roundRect">
            <a:avLst>
              <a:gd fmla="val 3404"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2"/>
          <p:cNvSpPr/>
          <p:nvPr/>
        </p:nvSpPr>
        <p:spPr>
          <a:xfrm>
            <a:off x="5800725" y="1557338"/>
            <a:ext cx="16431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83D4F1"/>
                </a:solidFill>
                <a:latin typeface="Verdana"/>
                <a:ea typeface="Verdana"/>
                <a:cs typeface="Verdana"/>
                <a:sym typeface="Verdana"/>
              </a:rPr>
              <a:t>recording.har</a:t>
            </a:r>
            <a:endParaRPr b="0" i="0" sz="1100" u="none" cap="none" strike="noStrike">
              <a:solidFill>
                <a:srgbClr val="000000"/>
              </a:solidFill>
              <a:latin typeface="Arial"/>
              <a:ea typeface="Arial"/>
              <a:cs typeface="Arial"/>
              <a:sym typeface="Arial"/>
            </a:endParaRPr>
          </a:p>
        </p:txBody>
      </p:sp>
      <p:sp>
        <p:nvSpPr>
          <p:cNvPr id="330" name="Google Shape;330;p12"/>
          <p:cNvSpPr/>
          <p:nvPr/>
        </p:nvSpPr>
        <p:spPr>
          <a:xfrm>
            <a:off x="5800725" y="1950244"/>
            <a:ext cx="2464800" cy="7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Verdana"/>
                <a:ea typeface="Verdana"/>
                <a:cs typeface="Verdana"/>
                <a:sym typeface="Verdana"/>
              </a:rPr>
              <a:t>POST /refund/request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Verdana"/>
                <a:ea typeface="Verdana"/>
                <a:cs typeface="Verdana"/>
                <a:sym typeface="Verdana"/>
              </a:rPr>
              <a:t>HTTP 201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Verdana"/>
                <a:ea typeface="Verdana"/>
                <a:cs typeface="Verdana"/>
                <a:sym typeface="Verdana"/>
              </a:rPr>
              <a:t>refund.status = pending</a:t>
            </a:r>
            <a:endParaRPr b="0" i="0" sz="1100" u="none" cap="none" strike="noStrike">
              <a:solidFill>
                <a:srgbClr val="000000"/>
              </a:solidFill>
              <a:latin typeface="Arial"/>
              <a:ea typeface="Arial"/>
              <a:cs typeface="Arial"/>
              <a:sym typeface="Arial"/>
            </a:endParaRPr>
          </a:p>
        </p:txBody>
      </p:sp>
      <p:sp>
        <p:nvSpPr>
          <p:cNvPr id="331" name="Google Shape;331;p12"/>
          <p:cNvSpPr/>
          <p:nvPr/>
        </p:nvSpPr>
        <p:spPr>
          <a:xfrm>
            <a:off x="3607594" y="2114550"/>
            <a:ext cx="357300" cy="243000"/>
          </a:xfrm>
          <a:prstGeom prst="rightArrow">
            <a:avLst>
              <a:gd fmla="val 50000" name="adj1"/>
              <a:gd fmla="val 50000" name="adj2"/>
            </a:avLst>
          </a:prstGeom>
          <a:solidFill>
            <a:srgbClr val="1479A6"/>
          </a:solidFill>
          <a:ln cap="flat" cmpd="sng" w="9525">
            <a:solidFill>
              <a:srgbClr val="1479A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2"/>
          <p:cNvSpPr/>
          <p:nvPr/>
        </p:nvSpPr>
        <p:spPr>
          <a:xfrm>
            <a:off x="5179219" y="2114550"/>
            <a:ext cx="357300" cy="243000"/>
          </a:xfrm>
          <a:prstGeom prst="rightArrow">
            <a:avLst>
              <a:gd fmla="val 50000" name="adj1"/>
              <a:gd fmla="val 50000" name="adj2"/>
            </a:avLst>
          </a:prstGeom>
          <a:solidFill>
            <a:srgbClr val="B86B00"/>
          </a:solidFill>
          <a:ln cap="flat" cmpd="sng" w="9525">
            <a:solidFill>
              <a:srgbClr val="B86B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2"/>
          <p:cNvSpPr/>
          <p:nvPr/>
        </p:nvSpPr>
        <p:spPr>
          <a:xfrm>
            <a:off x="4036219" y="1685925"/>
            <a:ext cx="1071600" cy="1100400"/>
          </a:xfrm>
          <a:prstGeom prst="roundRect">
            <a:avLst>
              <a:gd fmla="val 5333" name="adj"/>
            </a:avLst>
          </a:prstGeom>
          <a:solidFill>
            <a:srgbClr val="FFB81C"/>
          </a:solidFill>
          <a:ln cap="flat" cmpd="sng" w="9525">
            <a:solidFill>
              <a:srgbClr val="E6B87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2"/>
          <p:cNvSpPr/>
          <p:nvPr/>
        </p:nvSpPr>
        <p:spPr>
          <a:xfrm>
            <a:off x="4157663" y="2007394"/>
            <a:ext cx="828600" cy="41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6B00"/>
                </a:solidFill>
                <a:latin typeface="Arial"/>
                <a:ea typeface="Arial"/>
                <a:cs typeface="Arial"/>
                <a:sym typeface="Arial"/>
              </a:rPr>
              <a:t>AI links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6B00"/>
                </a:solidFill>
                <a:latin typeface="Arial"/>
                <a:ea typeface="Arial"/>
                <a:cs typeface="Arial"/>
                <a:sym typeface="Arial"/>
              </a:rPr>
              <a:t>meaning</a:t>
            </a:r>
            <a:endParaRPr b="0" i="0" sz="1100" u="none" cap="none" strike="noStrike">
              <a:solidFill>
                <a:srgbClr val="000000"/>
              </a:solidFill>
              <a:latin typeface="Arial"/>
              <a:ea typeface="Arial"/>
              <a:cs typeface="Arial"/>
              <a:sym typeface="Arial"/>
            </a:endParaRPr>
          </a:p>
        </p:txBody>
      </p:sp>
      <p:sp>
        <p:nvSpPr>
          <p:cNvPr id="335" name="Google Shape;335;p12"/>
          <p:cNvSpPr/>
          <p:nvPr/>
        </p:nvSpPr>
        <p:spPr>
          <a:xfrm>
            <a:off x="457200" y="3907075"/>
            <a:ext cx="7808400" cy="414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200" u="none" cap="none" strike="noStrike">
                <a:solidFill>
                  <a:srgbClr val="B86B00"/>
                </a:solidFill>
                <a:latin typeface="Arial"/>
                <a:ea typeface="Arial"/>
                <a:cs typeface="Arial"/>
                <a:sym typeface="Arial"/>
              </a:rPr>
              <a:t>Reasonable claim: the request moved the refund to pending, and the UI later displayed that state</a:t>
            </a:r>
            <a:r>
              <a:rPr b="1" i="0" lang="en-US" sz="1300" u="none" cap="none" strike="noStrike">
                <a:solidFill>
                  <a:srgbClr val="0E497B"/>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0" name="Shape 340"/>
        <p:cNvGrpSpPr/>
        <p:nvPr/>
      </p:nvGrpSpPr>
      <p:grpSpPr>
        <a:xfrm>
          <a:off x="0" y="0"/>
          <a:ext cx="0" cy="0"/>
          <a:chOff x="0" y="0"/>
          <a:chExt cx="0" cy="0"/>
        </a:xfrm>
      </p:grpSpPr>
      <p:sp>
        <p:nvSpPr>
          <p:cNvPr id="341" name="Google Shape;341;p13"/>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3"/>
          <p:cNvSpPr/>
          <p:nvPr/>
        </p:nvSpPr>
        <p:spPr>
          <a:xfrm>
            <a:off x="457200" y="442913"/>
            <a:ext cx="8229600" cy="44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E497B"/>
              </a:buClr>
              <a:buSzPts val="2000"/>
              <a:buFont typeface="Arial"/>
              <a:buNone/>
            </a:pPr>
            <a:r>
              <a:rPr b="1" i="0" lang="en-US" sz="2000" u="none" cap="none" strike="noStrike">
                <a:solidFill>
                  <a:srgbClr val="4A4A4A"/>
                </a:solidFill>
                <a:latin typeface="Arial"/>
                <a:ea typeface="Arial"/>
                <a:cs typeface="Arial"/>
                <a:sym typeface="Arial"/>
              </a:rPr>
              <a:t>state_map.json: inferred states and transitions</a:t>
            </a:r>
            <a:endParaRPr b="0" i="0" sz="1100" u="none" cap="none" strike="noStrike">
              <a:solidFill>
                <a:srgbClr val="000000"/>
              </a:solidFill>
              <a:latin typeface="Arial"/>
              <a:ea typeface="Arial"/>
              <a:cs typeface="Arial"/>
              <a:sym typeface="Arial"/>
            </a:endParaRPr>
          </a:p>
        </p:txBody>
      </p:sp>
      <p:cxnSp>
        <p:nvCxnSpPr>
          <p:cNvPr id="343" name="Google Shape;343;p13"/>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344" name="Google Shape;344;p13"/>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12</a:t>
            </a:r>
            <a:endParaRPr b="0" i="0" sz="1100" u="none" cap="none" strike="noStrike">
              <a:solidFill>
                <a:srgbClr val="000000"/>
              </a:solidFill>
              <a:latin typeface="Arial"/>
              <a:ea typeface="Arial"/>
              <a:cs typeface="Arial"/>
              <a:sym typeface="Arial"/>
            </a:endParaRPr>
          </a:p>
        </p:txBody>
      </p:sp>
      <p:sp>
        <p:nvSpPr>
          <p:cNvPr id="345" name="Google Shape;345;p13"/>
          <p:cNvSpPr/>
          <p:nvPr/>
        </p:nvSpPr>
        <p:spPr>
          <a:xfrm>
            <a:off x="514350" y="1128713"/>
            <a:ext cx="4786503" cy="3533775"/>
          </a:xfrm>
          <a:prstGeom prst="roundRect">
            <a:avLst>
              <a:gd fmla="val 1684"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3"/>
          <p:cNvSpPr/>
          <p:nvPr/>
        </p:nvSpPr>
        <p:spPr>
          <a:xfrm>
            <a:off x="642938" y="1514475"/>
            <a:ext cx="4529423" cy="304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"states":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{"id":"refund_available", "ui_step":3},</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{"id":"refund_pending", "ui_step":4},</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{"id":"refund_completed", "ui_step":6, "terminal":true}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"transitions":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"id":"request_refund",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"from":"refund_available", "to":"refund_pending",</a:t>
            </a:r>
            <a:endParaRPr b="1" i="0" sz="11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"method":"POST", "path":"/api/order/refund/request",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"observed_status":201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"id":"complete_refund",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"from":"refund_pending", "to":"refund_completed",</a:t>
            </a:r>
            <a:endParaRPr b="1" i="0" sz="11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"method":"POST", "path":"/api/order/refund/complete",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"observed_status":200,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"depends_on":["request_refund"]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p:txBody>
      </p:sp>
      <p:sp>
        <p:nvSpPr>
          <p:cNvPr id="347" name="Google Shape;347;p13"/>
          <p:cNvSpPr/>
          <p:nvPr/>
        </p:nvSpPr>
        <p:spPr>
          <a:xfrm>
            <a:off x="5572125" y="1800225"/>
            <a:ext cx="1000200" cy="821400"/>
          </a:xfrm>
          <a:prstGeom prst="roundRect">
            <a:avLst>
              <a:gd fmla="val 6957"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3"/>
          <p:cNvSpPr/>
          <p:nvPr/>
        </p:nvSpPr>
        <p:spPr>
          <a:xfrm>
            <a:off x="5643563" y="1921669"/>
            <a:ext cx="857400" cy="1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479A6"/>
                </a:solidFill>
                <a:latin typeface="Arial"/>
                <a:ea typeface="Arial"/>
                <a:cs typeface="Arial"/>
                <a:sym typeface="Arial"/>
              </a:rPr>
              <a:t>AVAILABLE</a:t>
            </a:r>
            <a:endParaRPr b="0" i="0" sz="1100" u="none" cap="none" strike="noStrike">
              <a:solidFill>
                <a:srgbClr val="000000"/>
              </a:solidFill>
              <a:latin typeface="Arial"/>
              <a:ea typeface="Arial"/>
              <a:cs typeface="Arial"/>
              <a:sym typeface="Arial"/>
            </a:endParaRPr>
          </a:p>
        </p:txBody>
      </p:sp>
      <p:sp>
        <p:nvSpPr>
          <p:cNvPr id="349" name="Google Shape;349;p13"/>
          <p:cNvSpPr/>
          <p:nvPr/>
        </p:nvSpPr>
        <p:spPr>
          <a:xfrm>
            <a:off x="5643563" y="2207419"/>
            <a:ext cx="857400" cy="30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E497B"/>
                </a:solidFill>
                <a:latin typeface="Arial"/>
                <a:ea typeface="Arial"/>
                <a:cs typeface="Arial"/>
                <a:sym typeface="Arial"/>
              </a:rPr>
              <a:t>Request refund</a:t>
            </a:r>
            <a:endParaRPr b="0" i="0" sz="1100" u="none" cap="none" strike="noStrike">
              <a:solidFill>
                <a:srgbClr val="000000"/>
              </a:solidFill>
              <a:latin typeface="Arial"/>
              <a:ea typeface="Arial"/>
              <a:cs typeface="Arial"/>
              <a:sym typeface="Arial"/>
            </a:endParaRPr>
          </a:p>
        </p:txBody>
      </p:sp>
      <p:sp>
        <p:nvSpPr>
          <p:cNvPr id="350" name="Google Shape;350;p13"/>
          <p:cNvSpPr/>
          <p:nvPr/>
        </p:nvSpPr>
        <p:spPr>
          <a:xfrm>
            <a:off x="6593681" y="2107406"/>
            <a:ext cx="135600" cy="164100"/>
          </a:xfrm>
          <a:prstGeom prst="rightArrow">
            <a:avLst>
              <a:gd fmla="val 50000" name="adj1"/>
              <a:gd fmla="val 50000" name="adj2"/>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3"/>
          <p:cNvSpPr/>
          <p:nvPr/>
        </p:nvSpPr>
        <p:spPr>
          <a:xfrm>
            <a:off x="6750844" y="1800225"/>
            <a:ext cx="1000200" cy="821400"/>
          </a:xfrm>
          <a:prstGeom prst="roundRect">
            <a:avLst>
              <a:gd fmla="val 6957"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p:nvPr/>
        </p:nvSpPr>
        <p:spPr>
          <a:xfrm>
            <a:off x="6822281" y="1921669"/>
            <a:ext cx="857400" cy="1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479A6"/>
                </a:solidFill>
                <a:latin typeface="Arial"/>
                <a:ea typeface="Arial"/>
                <a:cs typeface="Arial"/>
                <a:sym typeface="Arial"/>
              </a:rPr>
              <a:t>PENDING</a:t>
            </a:r>
            <a:endParaRPr b="0" i="0" sz="1100" u="none" cap="none" strike="noStrike">
              <a:solidFill>
                <a:srgbClr val="000000"/>
              </a:solidFill>
              <a:latin typeface="Arial"/>
              <a:ea typeface="Arial"/>
              <a:cs typeface="Arial"/>
              <a:sym typeface="Arial"/>
            </a:endParaRPr>
          </a:p>
        </p:txBody>
      </p:sp>
      <p:sp>
        <p:nvSpPr>
          <p:cNvPr id="353" name="Google Shape;353;p13"/>
          <p:cNvSpPr/>
          <p:nvPr/>
        </p:nvSpPr>
        <p:spPr>
          <a:xfrm>
            <a:off x="6822281" y="2207419"/>
            <a:ext cx="857400" cy="30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E497B"/>
                </a:solidFill>
                <a:latin typeface="Arial"/>
                <a:ea typeface="Arial"/>
                <a:cs typeface="Arial"/>
                <a:sym typeface="Arial"/>
              </a:rPr>
              <a:t>Complete refund</a:t>
            </a:r>
            <a:endParaRPr b="0" i="0" sz="1100" u="none" cap="none" strike="noStrike">
              <a:solidFill>
                <a:srgbClr val="000000"/>
              </a:solidFill>
              <a:latin typeface="Arial"/>
              <a:ea typeface="Arial"/>
              <a:cs typeface="Arial"/>
              <a:sym typeface="Arial"/>
            </a:endParaRPr>
          </a:p>
        </p:txBody>
      </p:sp>
      <p:sp>
        <p:nvSpPr>
          <p:cNvPr id="354" name="Google Shape;354;p13"/>
          <p:cNvSpPr/>
          <p:nvPr/>
        </p:nvSpPr>
        <p:spPr>
          <a:xfrm>
            <a:off x="7772400" y="2107406"/>
            <a:ext cx="135600" cy="164100"/>
          </a:xfrm>
          <a:prstGeom prst="rightArrow">
            <a:avLst>
              <a:gd fmla="val 50000" name="adj1"/>
              <a:gd fmla="val 50000" name="adj2"/>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p:nvPr/>
        </p:nvSpPr>
        <p:spPr>
          <a:xfrm>
            <a:off x="7929563" y="1800225"/>
            <a:ext cx="1000200" cy="821400"/>
          </a:xfrm>
          <a:prstGeom prst="roundRect">
            <a:avLst>
              <a:gd fmla="val 6957"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3"/>
          <p:cNvSpPr/>
          <p:nvPr/>
        </p:nvSpPr>
        <p:spPr>
          <a:xfrm>
            <a:off x="8001000" y="1921669"/>
            <a:ext cx="857400" cy="18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E497B"/>
                </a:solidFill>
                <a:latin typeface="Arial"/>
                <a:ea typeface="Arial"/>
                <a:cs typeface="Arial"/>
                <a:sym typeface="Arial"/>
              </a:rPr>
              <a:t>COMPLETED</a:t>
            </a:r>
            <a:endParaRPr b="0" i="0" sz="1100" u="none" cap="none" strike="noStrike">
              <a:solidFill>
                <a:srgbClr val="000000"/>
              </a:solidFill>
              <a:latin typeface="Arial"/>
              <a:ea typeface="Arial"/>
              <a:cs typeface="Arial"/>
              <a:sym typeface="Arial"/>
            </a:endParaRPr>
          </a:p>
        </p:txBody>
      </p:sp>
      <p:sp>
        <p:nvSpPr>
          <p:cNvPr id="357" name="Google Shape;357;p13"/>
          <p:cNvSpPr/>
          <p:nvPr/>
        </p:nvSpPr>
        <p:spPr>
          <a:xfrm>
            <a:off x="8001000" y="2207419"/>
            <a:ext cx="857400" cy="30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0E497B"/>
                </a:solidFill>
                <a:latin typeface="Arial"/>
                <a:ea typeface="Arial"/>
                <a:cs typeface="Arial"/>
                <a:sym typeface="Arial"/>
              </a:rPr>
              <a:t>Terminal</a:t>
            </a:r>
            <a:endParaRPr b="0" i="0" sz="1100" u="none" cap="none" strike="noStrike">
              <a:solidFill>
                <a:srgbClr val="000000"/>
              </a:solidFill>
              <a:latin typeface="Arial"/>
              <a:ea typeface="Arial"/>
              <a:cs typeface="Arial"/>
              <a:sym typeface="Arial"/>
            </a:endParaRPr>
          </a:p>
        </p:txBody>
      </p:sp>
      <p:sp>
        <p:nvSpPr>
          <p:cNvPr id="358" name="Google Shape;358;p13"/>
          <p:cNvSpPr/>
          <p:nvPr/>
        </p:nvSpPr>
        <p:spPr>
          <a:xfrm>
            <a:off x="5657850" y="3036094"/>
            <a:ext cx="3300600" cy="5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86B00"/>
                </a:solidFill>
                <a:latin typeface="Arial"/>
                <a:ea typeface="Arial"/>
                <a:cs typeface="Arial"/>
                <a:sym typeface="Arial"/>
              </a:rPr>
              <a:t>Generated by AI, then checked against the raw artifacts.</a:t>
            </a:r>
            <a:endParaRPr b="0" i="0" sz="1100" u="none" cap="none" strike="noStrike">
              <a:solidFill>
                <a:srgbClr val="000000"/>
              </a:solidFill>
              <a:latin typeface="Arial"/>
              <a:ea typeface="Arial"/>
              <a:cs typeface="Arial"/>
              <a:sym typeface="Arial"/>
            </a:endParaRPr>
          </a:p>
        </p:txBody>
      </p:sp>
      <p:sp>
        <p:nvSpPr>
          <p:cNvPr id="359" name="Google Shape;359;p13"/>
          <p:cNvSpPr/>
          <p:nvPr/>
        </p:nvSpPr>
        <p:spPr>
          <a:xfrm>
            <a:off x="642938" y="1252538"/>
            <a:ext cx="4500753"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state_map.json</a:t>
            </a:r>
            <a:endParaRPr b="0" i="0" sz="1400" u="none" cap="none" strike="noStrike">
              <a:solidFill>
                <a:srgbClr val="000000"/>
              </a:solidFill>
              <a:latin typeface="Arial"/>
              <a:ea typeface="Arial"/>
              <a:cs typeface="Arial"/>
              <a:sym typeface="Arial"/>
            </a:endParaRPr>
          </a:p>
        </p:txBody>
      </p:sp>
      <p:sp>
        <p:nvSpPr>
          <p:cNvPr id="360" name="Google Shape;360;p13"/>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ANALYZE PHASE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5" name="Shape 365"/>
        <p:cNvGrpSpPr/>
        <p:nvPr/>
      </p:nvGrpSpPr>
      <p:grpSpPr>
        <a:xfrm>
          <a:off x="0" y="0"/>
          <a:ext cx="0" cy="0"/>
          <a:chOff x="0" y="0"/>
          <a:chExt cx="0" cy="0"/>
        </a:xfrm>
      </p:grpSpPr>
      <p:sp>
        <p:nvSpPr>
          <p:cNvPr id="366" name="Google Shape;366;p14"/>
          <p:cNvSpPr/>
          <p:nvPr/>
        </p:nvSpPr>
        <p:spPr>
          <a:xfrm>
            <a:off x="4686300" y="3838575"/>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4"/>
          <p:cNvSpPr/>
          <p:nvPr/>
        </p:nvSpPr>
        <p:spPr>
          <a:xfrm>
            <a:off x="457200" y="3838575"/>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4"/>
          <p:cNvSpPr/>
          <p:nvPr/>
        </p:nvSpPr>
        <p:spPr>
          <a:xfrm>
            <a:off x="4686300" y="3028950"/>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4"/>
          <p:cNvSpPr/>
          <p:nvPr/>
        </p:nvSpPr>
        <p:spPr>
          <a:xfrm>
            <a:off x="457200" y="3028950"/>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4"/>
          <p:cNvSpPr/>
          <p:nvPr/>
        </p:nvSpPr>
        <p:spPr>
          <a:xfrm>
            <a:off x="4686300" y="2219325"/>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4"/>
          <p:cNvSpPr/>
          <p:nvPr/>
        </p:nvSpPr>
        <p:spPr>
          <a:xfrm>
            <a:off x="457200" y="2219325"/>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p:nvPr/>
        </p:nvSpPr>
        <p:spPr>
          <a:xfrm>
            <a:off x="4686300" y="1409700"/>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4"/>
          <p:cNvSpPr/>
          <p:nvPr/>
        </p:nvSpPr>
        <p:spPr>
          <a:xfrm>
            <a:off x="457200" y="1409700"/>
            <a:ext cx="4000500" cy="733425"/>
          </a:xfrm>
          <a:prstGeom prst="roundRect">
            <a:avLst>
              <a:gd fmla="val 20779" name="adj"/>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14"/>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14"/>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MUTATE PHASE</a:t>
            </a:r>
            <a:endParaRPr b="0" i="0" sz="1100" u="none" cap="none" strike="noStrike">
              <a:solidFill>
                <a:srgbClr val="000000"/>
              </a:solidFill>
              <a:latin typeface="Arial"/>
              <a:ea typeface="Arial"/>
              <a:cs typeface="Arial"/>
              <a:sym typeface="Arial"/>
            </a:endParaRPr>
          </a:p>
        </p:txBody>
      </p:sp>
      <p:sp>
        <p:nvSpPr>
          <p:cNvPr id="376" name="Google Shape;376;p14"/>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Attack patterns guide test generation</a:t>
            </a:r>
            <a:endParaRPr b="1" i="0" sz="2100" u="none" cap="none" strike="noStrike">
              <a:solidFill>
                <a:srgbClr val="4A4A4A"/>
              </a:solidFill>
              <a:latin typeface="Arial"/>
              <a:ea typeface="Arial"/>
              <a:cs typeface="Arial"/>
              <a:sym typeface="Arial"/>
            </a:endParaRPr>
          </a:p>
        </p:txBody>
      </p:sp>
      <p:sp>
        <p:nvSpPr>
          <p:cNvPr id="377" name="Google Shape;377;p14"/>
          <p:cNvSpPr/>
          <p:nvPr/>
        </p:nvSpPr>
        <p:spPr>
          <a:xfrm>
            <a:off x="457200" y="981075"/>
            <a:ext cx="8229600" cy="304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A4A4A"/>
                </a:solidFill>
                <a:latin typeface="Arial"/>
                <a:ea typeface="Arial"/>
                <a:cs typeface="Arial"/>
                <a:sym typeface="Arial"/>
              </a:rPr>
              <a:t>The AI agent turns each selected attack pattern into specific API requests and a rule to check. </a:t>
            </a:r>
            <a:endParaRPr b="0" i="0" sz="1100" u="none" cap="none" strike="noStrike">
              <a:solidFill>
                <a:srgbClr val="000000"/>
              </a:solidFill>
              <a:latin typeface="Arial"/>
              <a:ea typeface="Arial"/>
              <a:cs typeface="Arial"/>
              <a:sym typeface="Arial"/>
            </a:endParaRPr>
          </a:p>
        </p:txBody>
      </p:sp>
      <p:sp>
        <p:nvSpPr>
          <p:cNvPr id="378" name="Google Shape;378;p14"/>
          <p:cNvSpPr/>
          <p:nvPr/>
        </p:nvSpPr>
        <p:spPr>
          <a:xfrm>
            <a:off x="971550" y="1485900"/>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SKIP_STEP</a:t>
            </a:r>
            <a:endParaRPr b="0" i="0" sz="1100" u="none" cap="none" strike="noStrike">
              <a:solidFill>
                <a:srgbClr val="000000"/>
              </a:solidFill>
              <a:latin typeface="Arial"/>
              <a:ea typeface="Arial"/>
              <a:cs typeface="Arial"/>
              <a:sym typeface="Arial"/>
            </a:endParaRPr>
          </a:p>
        </p:txBody>
      </p:sp>
      <p:sp>
        <p:nvSpPr>
          <p:cNvPr id="379" name="Google Shape;379;p14"/>
          <p:cNvSpPr/>
          <p:nvPr/>
        </p:nvSpPr>
        <p:spPr>
          <a:xfrm>
            <a:off x="971550" y="1733550"/>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US" sz="1100" u="none" cap="none" strike="noStrike">
                <a:solidFill>
                  <a:srgbClr val="4A4A4A"/>
                </a:solidFill>
                <a:latin typeface="Arial"/>
                <a:ea typeface="Arial"/>
                <a:cs typeface="Arial"/>
                <a:sym typeface="Arial"/>
              </a:rPr>
              <a:t>Call a later endpoint without its prerequisite</a:t>
            </a:r>
            <a:endParaRPr b="0" i="0" sz="1000" u="none" cap="none" strike="noStrike">
              <a:solidFill>
                <a:srgbClr val="000000"/>
              </a:solidFill>
              <a:latin typeface="Arial"/>
              <a:ea typeface="Arial"/>
              <a:cs typeface="Arial"/>
              <a:sym typeface="Arial"/>
            </a:endParaRPr>
          </a:p>
        </p:txBody>
      </p:sp>
      <p:cxnSp>
        <p:nvCxnSpPr>
          <p:cNvPr id="380" name="Google Shape;380;p14"/>
          <p:cNvCxnSpPr/>
          <p:nvPr/>
        </p:nvCxnSpPr>
        <p:spPr>
          <a:xfrm>
            <a:off x="546513" y="2096782"/>
            <a:ext cx="3714900" cy="0"/>
          </a:xfrm>
          <a:prstGeom prst="straightConnector1">
            <a:avLst/>
          </a:prstGeom>
          <a:noFill/>
          <a:ln>
            <a:noFill/>
          </a:ln>
        </p:spPr>
      </p:cxnSp>
      <p:sp>
        <p:nvSpPr>
          <p:cNvPr id="381" name="Google Shape;381;p14"/>
          <p:cNvSpPr/>
          <p:nvPr/>
        </p:nvSpPr>
        <p:spPr>
          <a:xfrm>
            <a:off x="5200650" y="1485900"/>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ROLE_SWAP</a:t>
            </a:r>
            <a:endParaRPr b="0" i="0" sz="1100" u="none" cap="none" strike="noStrike">
              <a:solidFill>
                <a:srgbClr val="000000"/>
              </a:solidFill>
              <a:latin typeface="Arial"/>
              <a:ea typeface="Arial"/>
              <a:cs typeface="Arial"/>
              <a:sym typeface="Arial"/>
            </a:endParaRPr>
          </a:p>
        </p:txBody>
      </p:sp>
      <p:sp>
        <p:nvSpPr>
          <p:cNvPr id="382" name="Google Shape;382;p14"/>
          <p:cNvSpPr/>
          <p:nvPr/>
        </p:nvSpPr>
        <p:spPr>
          <a:xfrm>
            <a:off x="5200650" y="1733550"/>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0" i="0" lang="en-US" sz="1100" u="none" cap="none" strike="noStrike">
                <a:solidFill>
                  <a:srgbClr val="4A4A4A"/>
                </a:solidFill>
                <a:latin typeface="Arial"/>
                <a:ea typeface="Arial"/>
                <a:cs typeface="Arial"/>
                <a:sym typeface="Arial"/>
              </a:rPr>
              <a:t>Use one role's session for another action</a:t>
            </a:r>
            <a:endParaRPr b="0" i="0" sz="1000" u="none" cap="none" strike="noStrike">
              <a:solidFill>
                <a:srgbClr val="000000"/>
              </a:solidFill>
              <a:latin typeface="Arial"/>
              <a:ea typeface="Arial"/>
              <a:cs typeface="Arial"/>
              <a:sym typeface="Arial"/>
            </a:endParaRPr>
          </a:p>
        </p:txBody>
      </p:sp>
      <p:cxnSp>
        <p:nvCxnSpPr>
          <p:cNvPr id="383" name="Google Shape;383;p14"/>
          <p:cNvCxnSpPr/>
          <p:nvPr/>
        </p:nvCxnSpPr>
        <p:spPr>
          <a:xfrm>
            <a:off x="4704175" y="2096782"/>
            <a:ext cx="3714900" cy="0"/>
          </a:xfrm>
          <a:prstGeom prst="straightConnector1">
            <a:avLst/>
          </a:prstGeom>
          <a:noFill/>
          <a:ln>
            <a:noFill/>
          </a:ln>
        </p:spPr>
      </p:cxnSp>
      <p:sp>
        <p:nvSpPr>
          <p:cNvPr id="384" name="Google Shape;384;p14"/>
          <p:cNvSpPr/>
          <p:nvPr/>
        </p:nvSpPr>
        <p:spPr>
          <a:xfrm>
            <a:off x="971550" y="2295525"/>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DATA_TAMPER</a:t>
            </a:r>
            <a:endParaRPr b="0" i="0" sz="1100" u="none" cap="none" strike="noStrike">
              <a:solidFill>
                <a:srgbClr val="000000"/>
              </a:solidFill>
              <a:latin typeface="Arial"/>
              <a:ea typeface="Arial"/>
              <a:cs typeface="Arial"/>
              <a:sym typeface="Arial"/>
            </a:endParaRPr>
          </a:p>
        </p:txBody>
      </p:sp>
      <p:sp>
        <p:nvSpPr>
          <p:cNvPr id="385" name="Google Shape;385;p14"/>
          <p:cNvSpPr/>
          <p:nvPr/>
        </p:nvSpPr>
        <p:spPr>
          <a:xfrm>
            <a:off x="971550" y="2543175"/>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100" u="none" cap="none" strike="noStrike">
                <a:solidFill>
                  <a:srgbClr val="4A4A4A"/>
                </a:solidFill>
                <a:latin typeface="Arial"/>
                <a:ea typeface="Arial"/>
                <a:cs typeface="Arial"/>
                <a:sym typeface="Arial"/>
              </a:rPr>
              <a:t>Change an ID, amount, status or owner</a:t>
            </a:r>
            <a:endParaRPr b="0" i="0" sz="1100" u="none" cap="none" strike="noStrike">
              <a:solidFill>
                <a:srgbClr val="000000"/>
              </a:solidFill>
              <a:latin typeface="Arial"/>
              <a:ea typeface="Arial"/>
              <a:cs typeface="Arial"/>
              <a:sym typeface="Arial"/>
            </a:endParaRPr>
          </a:p>
        </p:txBody>
      </p:sp>
      <p:cxnSp>
        <p:nvCxnSpPr>
          <p:cNvPr id="386" name="Google Shape;386;p14"/>
          <p:cNvCxnSpPr/>
          <p:nvPr/>
        </p:nvCxnSpPr>
        <p:spPr>
          <a:xfrm>
            <a:off x="546513" y="2761151"/>
            <a:ext cx="3714900" cy="0"/>
          </a:xfrm>
          <a:prstGeom prst="straightConnector1">
            <a:avLst/>
          </a:prstGeom>
          <a:noFill/>
          <a:ln>
            <a:noFill/>
          </a:ln>
        </p:spPr>
      </p:cxnSp>
      <p:sp>
        <p:nvSpPr>
          <p:cNvPr id="387" name="Google Shape;387;p14"/>
          <p:cNvSpPr/>
          <p:nvPr/>
        </p:nvSpPr>
        <p:spPr>
          <a:xfrm>
            <a:off x="5200650" y="2295525"/>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MASS_ASSIGNMENT</a:t>
            </a:r>
            <a:endParaRPr b="0" i="0" sz="1100" u="none" cap="none" strike="noStrike">
              <a:solidFill>
                <a:srgbClr val="000000"/>
              </a:solidFill>
              <a:latin typeface="Arial"/>
              <a:ea typeface="Arial"/>
              <a:cs typeface="Arial"/>
              <a:sym typeface="Arial"/>
            </a:endParaRPr>
          </a:p>
        </p:txBody>
      </p:sp>
      <p:sp>
        <p:nvSpPr>
          <p:cNvPr id="388" name="Google Shape;388;p14"/>
          <p:cNvSpPr/>
          <p:nvPr/>
        </p:nvSpPr>
        <p:spPr>
          <a:xfrm>
            <a:off x="5200650" y="2543175"/>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100" u="none" cap="none" strike="noStrike">
                <a:solidFill>
                  <a:srgbClr val="4A4A4A"/>
                </a:solidFill>
                <a:latin typeface="Arial"/>
                <a:ea typeface="Arial"/>
                <a:cs typeface="Arial"/>
                <a:sym typeface="Arial"/>
              </a:rPr>
              <a:t>Add privileged fields hidden by the UI</a:t>
            </a:r>
            <a:endParaRPr b="0" i="0" sz="1100" u="none" cap="none" strike="noStrike">
              <a:solidFill>
                <a:srgbClr val="000000"/>
              </a:solidFill>
              <a:latin typeface="Arial"/>
              <a:ea typeface="Arial"/>
              <a:cs typeface="Arial"/>
              <a:sym typeface="Arial"/>
            </a:endParaRPr>
          </a:p>
        </p:txBody>
      </p:sp>
      <p:cxnSp>
        <p:nvCxnSpPr>
          <p:cNvPr id="389" name="Google Shape;389;p14"/>
          <p:cNvCxnSpPr/>
          <p:nvPr/>
        </p:nvCxnSpPr>
        <p:spPr>
          <a:xfrm>
            <a:off x="4704175" y="2761151"/>
            <a:ext cx="3714900" cy="0"/>
          </a:xfrm>
          <a:prstGeom prst="straightConnector1">
            <a:avLst/>
          </a:prstGeom>
          <a:noFill/>
          <a:ln>
            <a:noFill/>
          </a:ln>
        </p:spPr>
      </p:cxnSp>
      <p:sp>
        <p:nvSpPr>
          <p:cNvPr id="390" name="Google Shape;390;p14"/>
          <p:cNvSpPr/>
          <p:nvPr/>
        </p:nvSpPr>
        <p:spPr>
          <a:xfrm>
            <a:off x="971550" y="3105150"/>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PRICING_TAMPER</a:t>
            </a:r>
            <a:endParaRPr b="0" i="0" sz="1100" u="none" cap="none" strike="noStrike">
              <a:solidFill>
                <a:srgbClr val="000000"/>
              </a:solidFill>
              <a:latin typeface="Arial"/>
              <a:ea typeface="Arial"/>
              <a:cs typeface="Arial"/>
              <a:sym typeface="Arial"/>
            </a:endParaRPr>
          </a:p>
        </p:txBody>
      </p:sp>
      <p:sp>
        <p:nvSpPr>
          <p:cNvPr id="391" name="Google Shape;391;p14"/>
          <p:cNvSpPr/>
          <p:nvPr/>
        </p:nvSpPr>
        <p:spPr>
          <a:xfrm>
            <a:off x="971550" y="3352800"/>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100" u="none" cap="none" strike="noStrike">
                <a:solidFill>
                  <a:srgbClr val="4A4A4A"/>
                </a:solidFill>
                <a:latin typeface="Arial"/>
                <a:ea typeface="Arial"/>
                <a:cs typeface="Arial"/>
                <a:sym typeface="Arial"/>
              </a:rPr>
              <a:t>Change price, discount, or refund</a:t>
            </a:r>
            <a:endParaRPr b="0" i="0" sz="1100" u="none" cap="none" strike="noStrike">
              <a:solidFill>
                <a:srgbClr val="000000"/>
              </a:solidFill>
              <a:latin typeface="Arial"/>
              <a:ea typeface="Arial"/>
              <a:cs typeface="Arial"/>
              <a:sym typeface="Arial"/>
            </a:endParaRPr>
          </a:p>
        </p:txBody>
      </p:sp>
      <p:cxnSp>
        <p:nvCxnSpPr>
          <p:cNvPr id="392" name="Google Shape;392;p14"/>
          <p:cNvCxnSpPr/>
          <p:nvPr/>
        </p:nvCxnSpPr>
        <p:spPr>
          <a:xfrm>
            <a:off x="546513" y="3425518"/>
            <a:ext cx="3714900" cy="0"/>
          </a:xfrm>
          <a:prstGeom prst="straightConnector1">
            <a:avLst/>
          </a:prstGeom>
          <a:noFill/>
          <a:ln>
            <a:noFill/>
          </a:ln>
        </p:spPr>
      </p:cxnSp>
      <p:sp>
        <p:nvSpPr>
          <p:cNvPr id="393" name="Google Shape;393;p14"/>
          <p:cNvSpPr/>
          <p:nvPr/>
        </p:nvSpPr>
        <p:spPr>
          <a:xfrm>
            <a:off x="5200650" y="3105150"/>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DOUBLE_SPEND</a:t>
            </a:r>
            <a:endParaRPr b="0" i="0" sz="1100" u="none" cap="none" strike="noStrike">
              <a:solidFill>
                <a:srgbClr val="000000"/>
              </a:solidFill>
              <a:latin typeface="Arial"/>
              <a:ea typeface="Arial"/>
              <a:cs typeface="Arial"/>
              <a:sym typeface="Arial"/>
            </a:endParaRPr>
          </a:p>
        </p:txBody>
      </p:sp>
      <p:sp>
        <p:nvSpPr>
          <p:cNvPr id="394" name="Google Shape;394;p14"/>
          <p:cNvSpPr/>
          <p:nvPr/>
        </p:nvSpPr>
        <p:spPr>
          <a:xfrm>
            <a:off x="5200650" y="3352800"/>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US" sz="1100" u="none" cap="none" strike="noStrike">
                <a:solidFill>
                  <a:srgbClr val="4A4A4A"/>
                </a:solidFill>
                <a:latin typeface="Arial"/>
                <a:ea typeface="Arial"/>
                <a:cs typeface="Arial"/>
                <a:sym typeface="Arial"/>
              </a:rPr>
              <a:t>Repeat a one-time action concurrently or in sequence</a:t>
            </a:r>
            <a:endParaRPr b="0" i="0" sz="1000" u="none" cap="none" strike="noStrike">
              <a:solidFill>
                <a:srgbClr val="000000"/>
              </a:solidFill>
              <a:latin typeface="Arial"/>
              <a:ea typeface="Arial"/>
              <a:cs typeface="Arial"/>
              <a:sym typeface="Arial"/>
            </a:endParaRPr>
          </a:p>
        </p:txBody>
      </p:sp>
      <p:cxnSp>
        <p:nvCxnSpPr>
          <p:cNvPr id="395" name="Google Shape;395;p14"/>
          <p:cNvCxnSpPr/>
          <p:nvPr/>
        </p:nvCxnSpPr>
        <p:spPr>
          <a:xfrm>
            <a:off x="4704175" y="3425518"/>
            <a:ext cx="3714900" cy="0"/>
          </a:xfrm>
          <a:prstGeom prst="straightConnector1">
            <a:avLst/>
          </a:prstGeom>
          <a:noFill/>
          <a:ln>
            <a:noFill/>
          </a:ln>
        </p:spPr>
      </p:cxnSp>
      <p:sp>
        <p:nvSpPr>
          <p:cNvPr id="396" name="Google Shape;396;p14"/>
          <p:cNvSpPr/>
          <p:nvPr/>
        </p:nvSpPr>
        <p:spPr>
          <a:xfrm>
            <a:off x="971550" y="3914775"/>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REPLAY_ATTACK</a:t>
            </a:r>
            <a:endParaRPr b="0" i="0" sz="1100" u="none" cap="none" strike="noStrike">
              <a:solidFill>
                <a:srgbClr val="000000"/>
              </a:solidFill>
              <a:latin typeface="Arial"/>
              <a:ea typeface="Arial"/>
              <a:cs typeface="Arial"/>
              <a:sym typeface="Arial"/>
            </a:endParaRPr>
          </a:p>
        </p:txBody>
      </p:sp>
      <p:sp>
        <p:nvSpPr>
          <p:cNvPr id="397" name="Google Shape;397;p14"/>
          <p:cNvSpPr/>
          <p:nvPr/>
        </p:nvSpPr>
        <p:spPr>
          <a:xfrm>
            <a:off x="971550" y="4162425"/>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US" sz="1100" u="none" cap="none" strike="noStrike">
                <a:solidFill>
                  <a:srgbClr val="4A4A4A"/>
                </a:solidFill>
                <a:latin typeface="Arial"/>
                <a:ea typeface="Arial"/>
                <a:cs typeface="Arial"/>
                <a:sym typeface="Arial"/>
              </a:rPr>
              <a:t>Reuse a completed request after it should expire</a:t>
            </a:r>
            <a:endParaRPr b="0" i="0" sz="1000" u="none" cap="none" strike="noStrike">
              <a:solidFill>
                <a:srgbClr val="000000"/>
              </a:solidFill>
              <a:latin typeface="Arial"/>
              <a:ea typeface="Arial"/>
              <a:cs typeface="Arial"/>
              <a:sym typeface="Arial"/>
            </a:endParaRPr>
          </a:p>
        </p:txBody>
      </p:sp>
      <p:sp>
        <p:nvSpPr>
          <p:cNvPr id="398" name="Google Shape;398;p14"/>
          <p:cNvSpPr/>
          <p:nvPr/>
        </p:nvSpPr>
        <p:spPr>
          <a:xfrm>
            <a:off x="5200650" y="3914775"/>
            <a:ext cx="325755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1150" u="none" cap="none" strike="noStrike">
                <a:solidFill>
                  <a:srgbClr val="0E497B"/>
                </a:solidFill>
                <a:latin typeface="Arial"/>
                <a:ea typeface="Arial"/>
                <a:cs typeface="Arial"/>
                <a:sym typeface="Arial"/>
              </a:rPr>
              <a:t>FORCED_BROWSING</a:t>
            </a:r>
            <a:endParaRPr b="0" i="0" sz="1100" u="none" cap="none" strike="noStrike">
              <a:solidFill>
                <a:srgbClr val="000000"/>
              </a:solidFill>
              <a:latin typeface="Arial"/>
              <a:ea typeface="Arial"/>
              <a:cs typeface="Arial"/>
              <a:sym typeface="Arial"/>
            </a:endParaRPr>
          </a:p>
        </p:txBody>
      </p:sp>
      <p:sp>
        <p:nvSpPr>
          <p:cNvPr id="399" name="Google Shape;399;p14"/>
          <p:cNvSpPr/>
          <p:nvPr/>
        </p:nvSpPr>
        <p:spPr>
          <a:xfrm>
            <a:off x="5200650" y="4162425"/>
            <a:ext cx="3257550" cy="352425"/>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0" i="0" lang="en-US" sz="1100" u="none" cap="none" strike="noStrike">
                <a:solidFill>
                  <a:srgbClr val="4A4A4A"/>
                </a:solidFill>
                <a:latin typeface="Arial"/>
                <a:ea typeface="Arial"/>
                <a:cs typeface="Arial"/>
                <a:sym typeface="Arial"/>
              </a:rPr>
              <a:t>Call an endpoint without following the browser flow</a:t>
            </a:r>
            <a:endParaRPr b="0" i="0" sz="1000" u="none" cap="none" strike="noStrike">
              <a:solidFill>
                <a:srgbClr val="000000"/>
              </a:solidFill>
              <a:latin typeface="Arial"/>
              <a:ea typeface="Arial"/>
              <a:cs typeface="Arial"/>
              <a:sym typeface="Arial"/>
            </a:endParaRPr>
          </a:p>
        </p:txBody>
      </p:sp>
      <p:cxnSp>
        <p:nvCxnSpPr>
          <p:cNvPr id="400" name="Google Shape;400;p14"/>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sp>
        <p:nvSpPr>
          <p:cNvPr id="401" name="Google Shape;401;p14"/>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13</a:t>
            </a:r>
            <a:endParaRPr b="0" i="0" sz="1100" u="none" cap="none" strike="noStrike">
              <a:solidFill>
                <a:srgbClr val="000000"/>
              </a:solidFill>
              <a:latin typeface="Arial"/>
              <a:ea typeface="Arial"/>
              <a:cs typeface="Arial"/>
              <a:sym typeface="Arial"/>
            </a:endParaRPr>
          </a:p>
        </p:txBody>
      </p:sp>
      <p:sp>
        <p:nvSpPr>
          <p:cNvPr id="402" name="Google Shape;402;p14"/>
          <p:cNvSpPr/>
          <p:nvPr/>
        </p:nvSpPr>
        <p:spPr>
          <a:xfrm>
            <a:off x="590550" y="1543050"/>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4"/>
          <p:cNvSpPr/>
          <p:nvPr/>
        </p:nvSpPr>
        <p:spPr>
          <a:xfrm>
            <a:off x="590550" y="1581150"/>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04" name="Google Shape;404;p14"/>
          <p:cNvSpPr/>
          <p:nvPr/>
        </p:nvSpPr>
        <p:spPr>
          <a:xfrm>
            <a:off x="4819650" y="1543050"/>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4"/>
          <p:cNvSpPr/>
          <p:nvPr/>
        </p:nvSpPr>
        <p:spPr>
          <a:xfrm>
            <a:off x="4819650" y="1581150"/>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06" name="Google Shape;406;p14"/>
          <p:cNvSpPr/>
          <p:nvPr/>
        </p:nvSpPr>
        <p:spPr>
          <a:xfrm>
            <a:off x="590550" y="2352675"/>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4"/>
          <p:cNvSpPr/>
          <p:nvPr/>
        </p:nvSpPr>
        <p:spPr>
          <a:xfrm>
            <a:off x="590550" y="2390775"/>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08" name="Google Shape;408;p14"/>
          <p:cNvSpPr/>
          <p:nvPr/>
        </p:nvSpPr>
        <p:spPr>
          <a:xfrm>
            <a:off x="4819650" y="2352675"/>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4"/>
          <p:cNvSpPr/>
          <p:nvPr/>
        </p:nvSpPr>
        <p:spPr>
          <a:xfrm>
            <a:off x="4819650" y="2390775"/>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410" name="Google Shape;410;p14"/>
          <p:cNvSpPr/>
          <p:nvPr/>
        </p:nvSpPr>
        <p:spPr>
          <a:xfrm>
            <a:off x="590550" y="3162300"/>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4"/>
          <p:cNvSpPr/>
          <p:nvPr/>
        </p:nvSpPr>
        <p:spPr>
          <a:xfrm>
            <a:off x="590550" y="3200400"/>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412" name="Google Shape;412;p14"/>
          <p:cNvSpPr/>
          <p:nvPr/>
        </p:nvSpPr>
        <p:spPr>
          <a:xfrm>
            <a:off x="4819650" y="3162300"/>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4"/>
          <p:cNvSpPr/>
          <p:nvPr/>
        </p:nvSpPr>
        <p:spPr>
          <a:xfrm>
            <a:off x="4819650" y="3200400"/>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414" name="Google Shape;414;p14"/>
          <p:cNvSpPr/>
          <p:nvPr/>
        </p:nvSpPr>
        <p:spPr>
          <a:xfrm>
            <a:off x="590550" y="3971925"/>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4"/>
          <p:cNvSpPr/>
          <p:nvPr/>
        </p:nvSpPr>
        <p:spPr>
          <a:xfrm>
            <a:off x="590550" y="4010025"/>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
        <p:nvSpPr>
          <p:cNvPr id="416" name="Google Shape;416;p14"/>
          <p:cNvSpPr/>
          <p:nvPr/>
        </p:nvSpPr>
        <p:spPr>
          <a:xfrm>
            <a:off x="4819650" y="3971925"/>
            <a:ext cx="266700" cy="2667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14"/>
          <p:cNvSpPr/>
          <p:nvPr/>
        </p:nvSpPr>
        <p:spPr>
          <a:xfrm>
            <a:off x="4819650" y="4010025"/>
            <a:ext cx="266700" cy="2381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22" name="Shape 422"/>
        <p:cNvGrpSpPr/>
        <p:nvPr/>
      </p:nvGrpSpPr>
      <p:grpSpPr>
        <a:xfrm>
          <a:off x="0" y="0"/>
          <a:ext cx="0" cy="0"/>
          <a:chOff x="0" y="0"/>
          <a:chExt cx="0" cy="0"/>
        </a:xfrm>
      </p:grpSpPr>
      <p:sp>
        <p:nvSpPr>
          <p:cNvPr id="423" name="Google Shape;423;p15"/>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5"/>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MUTATE / INFERRED RULE</a:t>
            </a:r>
            <a:endParaRPr b="0" i="0" sz="1100" u="none" cap="none" strike="noStrike">
              <a:solidFill>
                <a:srgbClr val="000000"/>
              </a:solidFill>
              <a:latin typeface="Arial"/>
              <a:ea typeface="Arial"/>
              <a:cs typeface="Arial"/>
              <a:sym typeface="Arial"/>
            </a:endParaRPr>
          </a:p>
        </p:txBody>
      </p:sp>
      <p:sp>
        <p:nvSpPr>
          <p:cNvPr id="425" name="Google Shape;425;p15"/>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4A4A4A"/>
                </a:solidFill>
                <a:latin typeface="Arial"/>
                <a:ea typeface="Arial"/>
                <a:cs typeface="Arial"/>
                <a:sym typeface="Arial"/>
              </a:rPr>
              <a:t>How an AI-inferred rule is created</a:t>
            </a:r>
            <a:endParaRPr b="0" i="0" sz="1100" u="none" cap="none" strike="noStrike">
              <a:solidFill>
                <a:srgbClr val="000000"/>
              </a:solidFill>
              <a:latin typeface="Arial"/>
              <a:ea typeface="Arial"/>
              <a:cs typeface="Arial"/>
              <a:sym typeface="Arial"/>
            </a:endParaRPr>
          </a:p>
        </p:txBody>
      </p:sp>
      <p:cxnSp>
        <p:nvCxnSpPr>
          <p:cNvPr id="426" name="Google Shape;426;p15"/>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427" name="Google Shape;427;p15"/>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14</a:t>
            </a:r>
            <a:endParaRPr b="0" i="0" sz="1100" u="none" cap="none" strike="noStrike">
              <a:solidFill>
                <a:srgbClr val="000000"/>
              </a:solidFill>
              <a:latin typeface="Arial"/>
              <a:ea typeface="Arial"/>
              <a:cs typeface="Arial"/>
              <a:sym typeface="Arial"/>
            </a:endParaRPr>
          </a:p>
        </p:txBody>
      </p:sp>
      <p:sp>
        <p:nvSpPr>
          <p:cNvPr id="428" name="Google Shape;428;p15"/>
          <p:cNvSpPr/>
          <p:nvPr/>
        </p:nvSpPr>
        <p:spPr>
          <a:xfrm>
            <a:off x="457200" y="1352550"/>
            <a:ext cx="1943100" cy="1714500"/>
          </a:xfrm>
          <a:prstGeom prst="roundRect">
            <a:avLst>
              <a:gd fmla="val 3265"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5"/>
          <p:cNvSpPr/>
          <p:nvPr/>
        </p:nvSpPr>
        <p:spPr>
          <a:xfrm>
            <a:off x="1009650" y="1533525"/>
            <a:ext cx="1257300" cy="2762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0E497B"/>
                </a:solidFill>
                <a:latin typeface="Arial"/>
                <a:ea typeface="Arial"/>
                <a:cs typeface="Arial"/>
                <a:sym typeface="Arial"/>
              </a:rPr>
              <a:t>Observe</a:t>
            </a:r>
            <a:endParaRPr b="0" i="0" sz="1100" u="none" cap="none" strike="noStrike">
              <a:solidFill>
                <a:srgbClr val="000000"/>
              </a:solidFill>
              <a:latin typeface="Arial"/>
              <a:ea typeface="Arial"/>
              <a:cs typeface="Arial"/>
              <a:sym typeface="Arial"/>
            </a:endParaRPr>
          </a:p>
        </p:txBody>
      </p:sp>
      <p:sp>
        <p:nvSpPr>
          <p:cNvPr id="430" name="Google Shape;430;p15"/>
          <p:cNvSpPr/>
          <p:nvPr/>
        </p:nvSpPr>
        <p:spPr>
          <a:xfrm>
            <a:off x="609600" y="2038350"/>
            <a:ext cx="16764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4A4A4A"/>
                </a:solidFill>
                <a:latin typeface="Arial"/>
                <a:ea typeface="Arial"/>
                <a:cs typeface="Arial"/>
                <a:sym typeface="Arial"/>
              </a:rPr>
              <a:t>$100 refund 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4A4A4A"/>
                </a:solidFill>
                <a:latin typeface="Arial"/>
                <a:ea typeface="Arial"/>
                <a:cs typeface="Arial"/>
                <a:sym typeface="Arial"/>
              </a:rPr>
              <a:t>a $100 order</a:t>
            </a:r>
            <a:endParaRPr b="0" i="0" sz="1100" u="none" cap="none" strike="noStrike">
              <a:solidFill>
                <a:srgbClr val="000000"/>
              </a:solidFill>
              <a:latin typeface="Arial"/>
              <a:ea typeface="Arial"/>
              <a:cs typeface="Arial"/>
              <a:sym typeface="Arial"/>
            </a:endParaRPr>
          </a:p>
        </p:txBody>
      </p:sp>
      <p:sp>
        <p:nvSpPr>
          <p:cNvPr id="431" name="Google Shape;431;p15"/>
          <p:cNvSpPr/>
          <p:nvPr/>
        </p:nvSpPr>
        <p:spPr>
          <a:xfrm>
            <a:off x="2419350" y="2124075"/>
            <a:ext cx="114300" cy="133350"/>
          </a:xfrm>
          <a:prstGeom prst="rightArrow">
            <a:avLst>
              <a:gd fmla="val 50000" name="adj1"/>
              <a:gd fmla="val 50000" name="adj2"/>
            </a:avLst>
          </a:prstGeom>
          <a:solidFill>
            <a:srgbClr val="0E497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5"/>
          <p:cNvSpPr/>
          <p:nvPr/>
        </p:nvSpPr>
        <p:spPr>
          <a:xfrm>
            <a:off x="2552700" y="1352550"/>
            <a:ext cx="1943100" cy="1714500"/>
          </a:xfrm>
          <a:prstGeom prst="roundRect">
            <a:avLst>
              <a:gd fmla="val 3265"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5"/>
          <p:cNvSpPr/>
          <p:nvPr/>
        </p:nvSpPr>
        <p:spPr>
          <a:xfrm>
            <a:off x="3105150" y="1533525"/>
            <a:ext cx="1257300" cy="2762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0E497B"/>
                </a:solidFill>
                <a:latin typeface="Arial"/>
                <a:ea typeface="Arial"/>
                <a:cs typeface="Arial"/>
                <a:sym typeface="Arial"/>
              </a:rPr>
              <a:t>Infer</a:t>
            </a:r>
            <a:endParaRPr b="0" i="0" sz="1100" u="none" cap="none" strike="noStrike">
              <a:solidFill>
                <a:srgbClr val="000000"/>
              </a:solidFill>
              <a:latin typeface="Arial"/>
              <a:ea typeface="Arial"/>
              <a:cs typeface="Arial"/>
              <a:sym typeface="Arial"/>
            </a:endParaRPr>
          </a:p>
        </p:txBody>
      </p:sp>
      <p:sp>
        <p:nvSpPr>
          <p:cNvPr id="434" name="Google Shape;434;p15"/>
          <p:cNvSpPr/>
          <p:nvPr/>
        </p:nvSpPr>
        <p:spPr>
          <a:xfrm>
            <a:off x="2705100" y="2038350"/>
            <a:ext cx="16764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4A4A4A"/>
                </a:solidFill>
                <a:latin typeface="Arial"/>
                <a:ea typeface="Arial"/>
                <a:cs typeface="Arial"/>
                <a:sym typeface="Arial"/>
              </a:rPr>
              <a:t>Total returned should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4A4A4A"/>
                </a:solidFill>
                <a:latin typeface="Arial"/>
                <a:ea typeface="Arial"/>
                <a:cs typeface="Arial"/>
                <a:sym typeface="Arial"/>
              </a:rPr>
              <a:t>not exceed payment</a:t>
            </a:r>
            <a:endParaRPr b="0" i="0" sz="1100" u="none" cap="none" strike="noStrike">
              <a:solidFill>
                <a:srgbClr val="000000"/>
              </a:solidFill>
              <a:latin typeface="Arial"/>
              <a:ea typeface="Arial"/>
              <a:cs typeface="Arial"/>
              <a:sym typeface="Arial"/>
            </a:endParaRPr>
          </a:p>
        </p:txBody>
      </p:sp>
      <p:sp>
        <p:nvSpPr>
          <p:cNvPr id="435" name="Google Shape;435;p15"/>
          <p:cNvSpPr/>
          <p:nvPr/>
        </p:nvSpPr>
        <p:spPr>
          <a:xfrm>
            <a:off x="4514850" y="2124075"/>
            <a:ext cx="114300" cy="133350"/>
          </a:xfrm>
          <a:prstGeom prst="rightArrow">
            <a:avLst>
              <a:gd fmla="val 50000" name="adj1"/>
              <a:gd fmla="val 50000" name="adj2"/>
            </a:avLst>
          </a:prstGeom>
          <a:solidFill>
            <a:srgbClr val="0E497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5"/>
          <p:cNvSpPr/>
          <p:nvPr/>
        </p:nvSpPr>
        <p:spPr>
          <a:xfrm>
            <a:off x="4648200" y="1352550"/>
            <a:ext cx="1943100" cy="1714500"/>
          </a:xfrm>
          <a:prstGeom prst="roundRect">
            <a:avLst>
              <a:gd fmla="val 3265"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15"/>
          <p:cNvSpPr/>
          <p:nvPr/>
        </p:nvSpPr>
        <p:spPr>
          <a:xfrm>
            <a:off x="5200650" y="1533525"/>
            <a:ext cx="1257300" cy="2762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0E497B"/>
                </a:solidFill>
                <a:latin typeface="Arial"/>
                <a:ea typeface="Arial"/>
                <a:cs typeface="Arial"/>
                <a:sym typeface="Arial"/>
              </a:rPr>
              <a:t>Express</a:t>
            </a:r>
            <a:endParaRPr b="0" i="0" sz="1100" u="none" cap="none" strike="noStrike">
              <a:solidFill>
                <a:srgbClr val="000000"/>
              </a:solidFill>
              <a:latin typeface="Arial"/>
              <a:ea typeface="Arial"/>
              <a:cs typeface="Arial"/>
              <a:sym typeface="Arial"/>
            </a:endParaRPr>
          </a:p>
        </p:txBody>
      </p:sp>
      <p:sp>
        <p:nvSpPr>
          <p:cNvPr id="438" name="Google Shape;438;p15"/>
          <p:cNvSpPr/>
          <p:nvPr/>
        </p:nvSpPr>
        <p:spPr>
          <a:xfrm>
            <a:off x="4800600" y="2038350"/>
            <a:ext cx="16764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4A4A4A"/>
                </a:solidFill>
                <a:latin typeface="Arial"/>
                <a:ea typeface="Arial"/>
                <a:cs typeface="Arial"/>
                <a:sym typeface="Arial"/>
              </a:rPr>
              <a:t>Write the rule as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4A4A4A"/>
                </a:solidFill>
                <a:latin typeface="Arial"/>
                <a:ea typeface="Arial"/>
                <a:cs typeface="Arial"/>
                <a:sym typeface="Arial"/>
              </a:rPr>
              <a:t>a JSON predicate</a:t>
            </a:r>
            <a:endParaRPr b="0" i="0" sz="1100" u="none" cap="none" strike="noStrike">
              <a:solidFill>
                <a:srgbClr val="000000"/>
              </a:solidFill>
              <a:latin typeface="Arial"/>
              <a:ea typeface="Arial"/>
              <a:cs typeface="Arial"/>
              <a:sym typeface="Arial"/>
            </a:endParaRPr>
          </a:p>
        </p:txBody>
      </p:sp>
      <p:sp>
        <p:nvSpPr>
          <p:cNvPr id="439" name="Google Shape;439;p15"/>
          <p:cNvSpPr/>
          <p:nvPr/>
        </p:nvSpPr>
        <p:spPr>
          <a:xfrm>
            <a:off x="6610350" y="2124075"/>
            <a:ext cx="114300" cy="133350"/>
          </a:xfrm>
          <a:prstGeom prst="rightArrow">
            <a:avLst>
              <a:gd fmla="val 50000" name="adj1"/>
              <a:gd fmla="val 50000" name="adj2"/>
            </a:avLst>
          </a:prstGeom>
          <a:solidFill>
            <a:srgbClr val="0E497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5"/>
          <p:cNvSpPr/>
          <p:nvPr/>
        </p:nvSpPr>
        <p:spPr>
          <a:xfrm>
            <a:off x="6743700" y="1352550"/>
            <a:ext cx="1943100" cy="1714500"/>
          </a:xfrm>
          <a:prstGeom prst="roundRect">
            <a:avLst>
              <a:gd fmla="val 3265"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5"/>
          <p:cNvSpPr/>
          <p:nvPr/>
        </p:nvSpPr>
        <p:spPr>
          <a:xfrm>
            <a:off x="7296150" y="1533525"/>
            <a:ext cx="1257300" cy="2762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450" u="none" cap="none" strike="noStrike">
                <a:solidFill>
                  <a:srgbClr val="0E497B"/>
                </a:solidFill>
                <a:latin typeface="Arial"/>
                <a:ea typeface="Arial"/>
                <a:cs typeface="Arial"/>
                <a:sym typeface="Arial"/>
              </a:rPr>
              <a:t>Test</a:t>
            </a:r>
            <a:endParaRPr b="0" i="0" sz="1100" u="none" cap="none" strike="noStrike">
              <a:solidFill>
                <a:srgbClr val="000000"/>
              </a:solidFill>
              <a:latin typeface="Arial"/>
              <a:ea typeface="Arial"/>
              <a:cs typeface="Arial"/>
              <a:sym typeface="Arial"/>
            </a:endParaRPr>
          </a:p>
        </p:txBody>
      </p:sp>
      <p:sp>
        <p:nvSpPr>
          <p:cNvPr id="442" name="Google Shape;442;p15"/>
          <p:cNvSpPr/>
          <p:nvPr/>
        </p:nvSpPr>
        <p:spPr>
          <a:xfrm>
            <a:off x="6896100" y="2038350"/>
            <a:ext cx="1676400" cy="7524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300" u="none" cap="none" strike="noStrike">
                <a:solidFill>
                  <a:srgbClr val="4A4A4A"/>
                </a:solidFill>
                <a:latin typeface="Arial"/>
                <a:ea typeface="Arial"/>
                <a:cs typeface="Arial"/>
                <a:sym typeface="Arial"/>
              </a:rPr>
              <a:t>Repeat Refund completion</a:t>
            </a:r>
            <a:endParaRPr b="0" i="0" sz="1100" u="none" cap="none" strike="noStrike">
              <a:solidFill>
                <a:srgbClr val="000000"/>
              </a:solidFill>
              <a:latin typeface="Arial"/>
              <a:ea typeface="Arial"/>
              <a:cs typeface="Arial"/>
              <a:sym typeface="Arial"/>
            </a:endParaRPr>
          </a:p>
        </p:txBody>
      </p:sp>
      <p:sp>
        <p:nvSpPr>
          <p:cNvPr id="443" name="Google Shape;443;p15"/>
          <p:cNvSpPr/>
          <p:nvPr/>
        </p:nvSpPr>
        <p:spPr>
          <a:xfrm>
            <a:off x="1485900" y="3324225"/>
            <a:ext cx="6172200" cy="1371600"/>
          </a:xfrm>
          <a:prstGeom prst="roundRect">
            <a:avLst>
              <a:gd fmla="val 5839"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15"/>
          <p:cNvSpPr/>
          <p:nvPr/>
        </p:nvSpPr>
        <p:spPr>
          <a:xfrm>
            <a:off x="1695450" y="3724275"/>
            <a:ext cx="56769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"rule_origin": "AI_INFERRED",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"predicate":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"operator": "sum_lte",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"terms": [["order", "totalReturned"]],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  "limit": ["order", "originalAmount"]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p:txBody>
      </p:sp>
      <p:sp>
        <p:nvSpPr>
          <p:cNvPr id="445" name="Google Shape;445;p15"/>
          <p:cNvSpPr/>
          <p:nvPr/>
        </p:nvSpPr>
        <p:spPr>
          <a:xfrm>
            <a:off x="1695450" y="3438525"/>
            <a:ext cx="5676900" cy="238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AI-inferred rule (JSON)</a:t>
            </a:r>
            <a:endParaRPr b="0" i="0" sz="1400" u="none" cap="none" strike="noStrike">
              <a:solidFill>
                <a:srgbClr val="000000"/>
              </a:solidFill>
              <a:latin typeface="Arial"/>
              <a:ea typeface="Arial"/>
              <a:cs typeface="Arial"/>
              <a:sym typeface="Arial"/>
            </a:endParaRPr>
          </a:p>
        </p:txBody>
      </p:sp>
      <p:sp>
        <p:nvSpPr>
          <p:cNvPr id="446" name="Google Shape;446;p15"/>
          <p:cNvSpPr/>
          <p:nvPr/>
        </p:nvSpPr>
        <p:spPr>
          <a:xfrm>
            <a:off x="609600" y="15049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5"/>
          <p:cNvSpPr/>
          <p:nvPr/>
        </p:nvSpPr>
        <p:spPr>
          <a:xfrm>
            <a:off x="609600" y="15430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448" name="Google Shape;448;p15"/>
          <p:cNvSpPr/>
          <p:nvPr/>
        </p:nvSpPr>
        <p:spPr>
          <a:xfrm>
            <a:off x="2705100" y="15049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15"/>
          <p:cNvSpPr/>
          <p:nvPr/>
        </p:nvSpPr>
        <p:spPr>
          <a:xfrm>
            <a:off x="2705100" y="15430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450" name="Google Shape;450;p15"/>
          <p:cNvSpPr/>
          <p:nvPr/>
        </p:nvSpPr>
        <p:spPr>
          <a:xfrm>
            <a:off x="4800600" y="15049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5"/>
          <p:cNvSpPr/>
          <p:nvPr/>
        </p:nvSpPr>
        <p:spPr>
          <a:xfrm>
            <a:off x="4800600" y="15430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452" name="Google Shape;452;p15"/>
          <p:cNvSpPr/>
          <p:nvPr/>
        </p:nvSpPr>
        <p:spPr>
          <a:xfrm>
            <a:off x="6896100" y="1504950"/>
            <a:ext cx="304800" cy="304800"/>
          </a:xfrm>
          <a:prstGeom prst="roundRect">
            <a:avLst>
              <a:gd fmla="val 50000" name="adj"/>
            </a:avLst>
          </a:prstGeom>
          <a:solidFill>
            <a:srgbClr val="FFB8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15"/>
          <p:cNvSpPr/>
          <p:nvPr/>
        </p:nvSpPr>
        <p:spPr>
          <a:xfrm>
            <a:off x="6896100" y="1543050"/>
            <a:ext cx="304800" cy="276225"/>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16"/>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6"/>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MUTATE / TEST CASE</a:t>
            </a:r>
            <a:endParaRPr b="0" i="0" sz="1100" u="none" cap="none" strike="noStrike">
              <a:solidFill>
                <a:srgbClr val="000000"/>
              </a:solidFill>
              <a:latin typeface="Arial"/>
              <a:ea typeface="Arial"/>
              <a:cs typeface="Arial"/>
              <a:sym typeface="Arial"/>
            </a:endParaRPr>
          </a:p>
        </p:txBody>
      </p:sp>
      <p:sp>
        <p:nvSpPr>
          <p:cNvPr id="461" name="Google Shape;461;p16"/>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0E497B"/>
                </a:solidFill>
                <a:latin typeface="Arial"/>
                <a:ea typeface="Arial"/>
                <a:cs typeface="Arial"/>
                <a:sym typeface="Arial"/>
              </a:rPr>
              <a:t>The AI proposes a structured test case</a:t>
            </a:r>
            <a:endParaRPr b="0" i="0" sz="1100" u="none" cap="none" strike="noStrike">
              <a:solidFill>
                <a:srgbClr val="000000"/>
              </a:solidFill>
              <a:latin typeface="Arial"/>
              <a:ea typeface="Arial"/>
              <a:cs typeface="Arial"/>
              <a:sym typeface="Arial"/>
            </a:endParaRPr>
          </a:p>
        </p:txBody>
      </p:sp>
      <p:cxnSp>
        <p:nvCxnSpPr>
          <p:cNvPr id="462" name="Google Shape;462;p16"/>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463" name="Google Shape;463;p16"/>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15</a:t>
            </a:r>
            <a:endParaRPr b="0" i="0" sz="1100" u="none" cap="none" strike="noStrike">
              <a:solidFill>
                <a:srgbClr val="000000"/>
              </a:solidFill>
              <a:latin typeface="Arial"/>
              <a:ea typeface="Arial"/>
              <a:cs typeface="Arial"/>
              <a:sym typeface="Arial"/>
            </a:endParaRPr>
          </a:p>
        </p:txBody>
      </p:sp>
      <p:sp>
        <p:nvSpPr>
          <p:cNvPr id="464" name="Google Shape;464;p16"/>
          <p:cNvSpPr/>
          <p:nvPr/>
        </p:nvSpPr>
        <p:spPr>
          <a:xfrm>
            <a:off x="514350" y="1121569"/>
            <a:ext cx="5643600" cy="3464700"/>
          </a:xfrm>
          <a:prstGeom prst="roundRect">
            <a:avLst>
              <a:gd fmla="val 1649"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6"/>
          <p:cNvSpPr/>
          <p:nvPr/>
        </p:nvSpPr>
        <p:spPr>
          <a:xfrm>
            <a:off x="642938" y="1524000"/>
            <a:ext cx="5386197" cy="29527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"name": "double_complete",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"setup": {"method":"POST", "path":"/api/demo/reset"},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"before": {"method":"GET", "path":"/api/order"},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"actions":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{"method":"POST", "path":"/api/order/refund/request"},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{"method":"POST", "path":"/api/order/refund/complete"},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{"method":"POST", "path":"/api/order/refund/complete"}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"after": {"method":"GET", "path":"/api/order"},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"inferred_invariant":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"operator":"sum_lte",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"terms":[["order","totalReturned"]],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"limit":["order","originalAmount"]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"required_terminal_state": {"order.refund.status":"completed"}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p:txBody>
      </p:sp>
      <p:sp>
        <p:nvSpPr>
          <p:cNvPr id="466" name="Google Shape;466;p16"/>
          <p:cNvSpPr/>
          <p:nvPr/>
        </p:nvSpPr>
        <p:spPr>
          <a:xfrm>
            <a:off x="6429375" y="1243013"/>
            <a:ext cx="2085880" cy="3143250"/>
          </a:xfrm>
          <a:prstGeom prst="roundRect">
            <a:avLst>
              <a:gd fmla="val 2740" name="adj"/>
            </a:avLst>
          </a:prstGeom>
          <a:solidFill>
            <a:srgbClr val="F6F9FB"/>
          </a:solidFill>
          <a:ln cap="flat" cmpd="sng" w="9525">
            <a:solidFill>
              <a:srgbClr val="C7D7E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6"/>
          <p:cNvSpPr/>
          <p:nvPr/>
        </p:nvSpPr>
        <p:spPr>
          <a:xfrm>
            <a:off x="6572250" y="1414463"/>
            <a:ext cx="1821600" cy="214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BACKEND ADMITS ONLY</a:t>
            </a:r>
            <a:endParaRPr b="0" i="0" sz="1100" u="none" cap="none" strike="noStrike">
              <a:solidFill>
                <a:srgbClr val="000000"/>
              </a:solidFill>
              <a:latin typeface="Arial"/>
              <a:ea typeface="Arial"/>
              <a:cs typeface="Arial"/>
              <a:sym typeface="Arial"/>
            </a:endParaRPr>
          </a:p>
        </p:txBody>
      </p:sp>
      <p:sp>
        <p:nvSpPr>
          <p:cNvPr id="468" name="Google Shape;468;p16"/>
          <p:cNvSpPr/>
          <p:nvPr/>
        </p:nvSpPr>
        <p:spPr>
          <a:xfrm>
            <a:off x="6572250" y="1743075"/>
            <a:ext cx="1821561" cy="628650"/>
          </a:xfrm>
          <a:prstGeom prst="rect">
            <a:avLst/>
          </a:prstGeom>
          <a:noFill/>
          <a:ln>
            <a:noFill/>
          </a:ln>
        </p:spPr>
        <p:txBody>
          <a:bodyPr anchorCtr="0" anchor="t" bIns="0" lIns="0" spcFirstLastPara="1" rIns="0" wrap="square" tIns="0">
            <a:noAutofit/>
          </a:bodyPr>
          <a:lstStyle/>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API scope and methods</a:t>
            </a:r>
            <a:endParaRPr b="0" i="0" sz="1100" u="none" cap="none" strike="noStrike">
              <a:solidFill>
                <a:srgbClr val="0E497B"/>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Evidence and JSON fields</a:t>
            </a:r>
            <a:endParaRPr b="0" i="0" sz="1100" u="none" cap="none" strike="noStrike">
              <a:solidFill>
                <a:srgbClr val="0E497B"/>
              </a:solidFill>
              <a:latin typeface="Arial"/>
              <a:ea typeface="Arial"/>
              <a:cs typeface="Arial"/>
              <a:sym typeface="Arial"/>
            </a:endParaRPr>
          </a:p>
          <a:p>
            <a:pPr indent="-82550" lvl="0" marL="165100" marR="0" rtl="0" algn="l">
              <a:lnSpc>
                <a:spcPct val="100000"/>
              </a:lnSpc>
              <a:spcBef>
                <a:spcPts val="1000"/>
              </a:spcBef>
              <a:spcAft>
                <a:spcPts val="0"/>
              </a:spcAft>
              <a:buClr>
                <a:srgbClr val="0E497B"/>
              </a:buClr>
              <a:buSzPts val="1100"/>
              <a:buFont typeface="Arial"/>
              <a:buChar char="•"/>
            </a:pPr>
            <a:r>
              <a:rPr b="0" i="0" lang="en-US" sz="1100" u="none" cap="none" strike="noStrike">
                <a:solidFill>
                  <a:srgbClr val="0E497B"/>
                </a:solidFill>
                <a:latin typeface="Arial"/>
                <a:ea typeface="Arial"/>
                <a:cs typeface="Arial"/>
                <a:sym typeface="Arial"/>
              </a:rPr>
              <a:t>Configured test setup</a:t>
            </a:r>
            <a:endParaRPr b="0" i="0" sz="1100" u="none" cap="none" strike="noStrike">
              <a:solidFill>
                <a:srgbClr val="0E497B"/>
              </a:solidFill>
              <a:latin typeface="Arial"/>
              <a:ea typeface="Arial"/>
              <a:cs typeface="Arial"/>
              <a:sym typeface="Arial"/>
            </a:endParaRPr>
          </a:p>
        </p:txBody>
      </p:sp>
      <p:sp>
        <p:nvSpPr>
          <p:cNvPr id="469" name="Google Shape;469;p16"/>
          <p:cNvSpPr/>
          <p:nvPr/>
        </p:nvSpPr>
        <p:spPr>
          <a:xfrm>
            <a:off x="6572250" y="2667000"/>
            <a:ext cx="1821561" cy="7429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B86B00"/>
                </a:solidFill>
                <a:latin typeface="Arial"/>
                <a:ea typeface="Arial"/>
                <a:cs typeface="Arial"/>
                <a:sym typeface="Arial"/>
              </a:rPr>
              <a:t>Invalid plans stop before Python or HTTP execution.</a:t>
            </a:r>
            <a:endParaRPr b="0" i="0" sz="1100" u="none" cap="none" strike="noStrike">
              <a:solidFill>
                <a:srgbClr val="000000"/>
              </a:solidFill>
              <a:latin typeface="Arial"/>
              <a:ea typeface="Arial"/>
              <a:cs typeface="Arial"/>
              <a:sym typeface="Arial"/>
            </a:endParaRPr>
          </a:p>
        </p:txBody>
      </p:sp>
      <p:sp>
        <p:nvSpPr>
          <p:cNvPr id="470" name="Google Shape;470;p16"/>
          <p:cNvSpPr/>
          <p:nvPr/>
        </p:nvSpPr>
        <p:spPr>
          <a:xfrm>
            <a:off x="642938" y="1245394"/>
            <a:ext cx="53578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Test case (JSON)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sp>
        <p:nvSpPr>
          <p:cNvPr id="476" name="Google Shape;476;p17"/>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7"/>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PROBE PHASE  / GENERATION AND EXECUTION</a:t>
            </a:r>
            <a:endParaRPr b="0" i="0" sz="1100" u="none" cap="none" strike="noStrike">
              <a:solidFill>
                <a:srgbClr val="000000"/>
              </a:solidFill>
              <a:latin typeface="Arial"/>
              <a:ea typeface="Arial"/>
              <a:cs typeface="Arial"/>
              <a:sym typeface="Arial"/>
            </a:endParaRPr>
          </a:p>
        </p:txBody>
      </p:sp>
      <p:sp>
        <p:nvSpPr>
          <p:cNvPr id="478" name="Google Shape;478;p17"/>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0E497B"/>
                </a:solidFill>
                <a:latin typeface="Arial"/>
                <a:ea typeface="Arial"/>
                <a:cs typeface="Arial"/>
                <a:sym typeface="Arial"/>
              </a:rPr>
              <a:t>Backend generates and runs Python test</a:t>
            </a:r>
            <a:endParaRPr b="0" i="0" sz="1100" u="none" cap="none" strike="noStrike">
              <a:solidFill>
                <a:srgbClr val="000000"/>
              </a:solidFill>
              <a:latin typeface="Arial"/>
              <a:ea typeface="Arial"/>
              <a:cs typeface="Arial"/>
              <a:sym typeface="Arial"/>
            </a:endParaRPr>
          </a:p>
        </p:txBody>
      </p:sp>
      <p:cxnSp>
        <p:nvCxnSpPr>
          <p:cNvPr id="479" name="Google Shape;479;p17"/>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480" name="Google Shape;480;p17"/>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16</a:t>
            </a:r>
            <a:endParaRPr b="0" i="0" sz="1100" u="none" cap="none" strike="noStrike">
              <a:solidFill>
                <a:srgbClr val="000000"/>
              </a:solidFill>
              <a:latin typeface="Arial"/>
              <a:ea typeface="Arial"/>
              <a:cs typeface="Arial"/>
              <a:sym typeface="Arial"/>
            </a:endParaRPr>
          </a:p>
        </p:txBody>
      </p:sp>
      <p:sp>
        <p:nvSpPr>
          <p:cNvPr id="481" name="Google Shape;481;p17"/>
          <p:cNvSpPr/>
          <p:nvPr/>
        </p:nvSpPr>
        <p:spPr>
          <a:xfrm>
            <a:off x="514350" y="1135856"/>
            <a:ext cx="5358000" cy="3393300"/>
          </a:xfrm>
          <a:prstGeom prst="roundRect">
            <a:avLst>
              <a:gd fmla="val 1684"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7"/>
          <p:cNvSpPr/>
          <p:nvPr/>
        </p:nvSpPr>
        <p:spPr>
          <a:xfrm>
            <a:off x="642938" y="1562100"/>
            <a:ext cx="5100923" cy="2809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import 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import requests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6425B"/>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s = requests.Session()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base = "http://localhost:3000"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6425B"/>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s.post(base + "/api/demo/reset").raise_for_status()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before = s.get(base + "/api/order").json()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6425B"/>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s.post(base + "/api/order/refund/request", 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s.post(base + "/api/order/refund/complete", 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s.post(base + "/api/order/refund/complete", 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rgbClr val="16425B"/>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after = s.get(base + "/api/order").json()</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1000" u="none" cap="none" strike="noStrike">
                <a:solidFill>
                  <a:srgbClr val="FFFFFF"/>
                </a:solidFill>
                <a:latin typeface="Verdana"/>
                <a:ea typeface="Verdana"/>
                <a:cs typeface="Verdana"/>
                <a:sym typeface="Verdana"/>
              </a:rPr>
              <a:t>print(json.dumps({"before": before, "after": after}))</a:t>
            </a:r>
            <a:endParaRPr b="0" i="0" sz="1100" u="none" cap="none" strike="noStrike">
              <a:solidFill>
                <a:srgbClr val="000000"/>
              </a:solidFill>
              <a:latin typeface="Arial"/>
              <a:ea typeface="Arial"/>
              <a:cs typeface="Arial"/>
              <a:sym typeface="Arial"/>
            </a:endParaRPr>
          </a:p>
        </p:txBody>
      </p:sp>
      <p:sp>
        <p:nvSpPr>
          <p:cNvPr id="483" name="Google Shape;483;p17"/>
          <p:cNvSpPr/>
          <p:nvPr/>
        </p:nvSpPr>
        <p:spPr>
          <a:xfrm>
            <a:off x="6179344" y="980525"/>
            <a:ext cx="2357700" cy="2893200"/>
          </a:xfrm>
          <a:prstGeom prst="roundRect">
            <a:avLst>
              <a:gd fmla="val 2424" name="adj"/>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7"/>
          <p:cNvSpPr/>
          <p:nvPr/>
        </p:nvSpPr>
        <p:spPr>
          <a:xfrm>
            <a:off x="6191250" y="1276350"/>
            <a:ext cx="2381250" cy="2190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1  JSON TEST CASE</a:t>
            </a:r>
            <a:endParaRPr b="0" i="0" sz="1100" u="none" cap="none" strike="noStrike">
              <a:solidFill>
                <a:srgbClr val="000000"/>
              </a:solidFill>
              <a:latin typeface="Arial"/>
              <a:ea typeface="Arial"/>
              <a:cs typeface="Arial"/>
              <a:sym typeface="Arial"/>
            </a:endParaRPr>
          </a:p>
        </p:txBody>
      </p:sp>
      <p:sp>
        <p:nvSpPr>
          <p:cNvPr id="485" name="Google Shape;485;p17"/>
          <p:cNvSpPr/>
          <p:nvPr/>
        </p:nvSpPr>
        <p:spPr>
          <a:xfrm>
            <a:off x="642938" y="1259681"/>
            <a:ext cx="50722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02_double_complete.py</a:t>
            </a:r>
            <a:endParaRPr b="0" i="0" sz="1400" u="none" cap="none" strike="noStrike">
              <a:solidFill>
                <a:srgbClr val="000000"/>
              </a:solidFill>
              <a:latin typeface="Arial"/>
              <a:ea typeface="Arial"/>
              <a:cs typeface="Arial"/>
              <a:sym typeface="Arial"/>
            </a:endParaRPr>
          </a:p>
        </p:txBody>
      </p:sp>
      <p:sp>
        <p:nvSpPr>
          <p:cNvPr id="486" name="Google Shape;486;p17"/>
          <p:cNvSpPr/>
          <p:nvPr/>
        </p:nvSpPr>
        <p:spPr>
          <a:xfrm>
            <a:off x="6167500" y="1466950"/>
            <a:ext cx="238140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0E497B"/>
                </a:solidFill>
                <a:latin typeface="Arial"/>
                <a:ea typeface="Arial"/>
                <a:cs typeface="Arial"/>
                <a:sym typeface="Arial"/>
              </a:rPr>
              <a:t>AI specifies actions, setup, state </a:t>
            </a:r>
            <a:endParaRPr b="0" i="0" sz="1400" u="none" cap="none" strike="noStrike">
              <a:solidFill>
                <a:srgbClr val="000000"/>
              </a:solidFill>
              <a:latin typeface="Arial"/>
              <a:ea typeface="Arial"/>
              <a:cs typeface="Arial"/>
              <a:sym typeface="Arial"/>
            </a:endParaRPr>
          </a:p>
        </p:txBody>
      </p:sp>
      <p:sp>
        <p:nvSpPr>
          <p:cNvPr id="487" name="Google Shape;487;p17"/>
          <p:cNvSpPr/>
          <p:nvPr/>
        </p:nvSpPr>
        <p:spPr>
          <a:xfrm>
            <a:off x="6167500" y="1889995"/>
            <a:ext cx="2381400" cy="514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rgbClr val="1479A6"/>
                </a:solidFill>
                <a:latin typeface="Arial"/>
                <a:ea typeface="Arial"/>
                <a:cs typeface="Arial"/>
                <a:sym typeface="Arial"/>
              </a:rPr>
              <a:t>2  BACKEND TEMPLATE</a:t>
            </a:r>
            <a:endParaRPr b="0" i="0" sz="1150" u="none" cap="none" strike="noStrike">
              <a:solidFill>
                <a:srgbClr val="0E497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t/>
            </a:r>
            <a:endParaRPr b="0" i="0" sz="1150" u="none" cap="none" strike="noStrike">
              <a:solidFill>
                <a:srgbClr val="0E497B"/>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0E497B"/>
                </a:solidFill>
                <a:latin typeface="Arial"/>
                <a:ea typeface="Arial"/>
                <a:cs typeface="Arial"/>
                <a:sym typeface="Arial"/>
              </a:rPr>
              <a:t>Validates fields, generates Python.</a:t>
            </a:r>
            <a:endParaRPr b="0" i="0" sz="1400" u="none" cap="none" strike="noStrike">
              <a:solidFill>
                <a:srgbClr val="000000"/>
              </a:solidFill>
              <a:latin typeface="Arial"/>
              <a:ea typeface="Arial"/>
              <a:cs typeface="Arial"/>
              <a:sym typeface="Arial"/>
            </a:endParaRPr>
          </a:p>
        </p:txBody>
      </p:sp>
      <p:sp>
        <p:nvSpPr>
          <p:cNvPr id="488" name="Google Shape;488;p17"/>
          <p:cNvSpPr/>
          <p:nvPr/>
        </p:nvSpPr>
        <p:spPr>
          <a:xfrm>
            <a:off x="6191250" y="2807026"/>
            <a:ext cx="2381400" cy="2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3  PYTHON EXECUTION</a:t>
            </a:r>
            <a:endParaRPr b="0" i="0" sz="1400" u="none" cap="none" strike="noStrike">
              <a:solidFill>
                <a:srgbClr val="000000"/>
              </a:solidFill>
              <a:latin typeface="Arial"/>
              <a:ea typeface="Arial"/>
              <a:cs typeface="Arial"/>
              <a:sym typeface="Arial"/>
            </a:endParaRPr>
          </a:p>
        </p:txBody>
      </p:sp>
      <p:sp>
        <p:nvSpPr>
          <p:cNvPr id="489" name="Google Shape;489;p17"/>
          <p:cNvSpPr/>
          <p:nvPr/>
        </p:nvSpPr>
        <p:spPr>
          <a:xfrm>
            <a:off x="6191250" y="3111826"/>
            <a:ext cx="2381400" cy="590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z="1150" u="none" cap="none" strike="noStrike">
                <a:solidFill>
                  <a:srgbClr val="0E497B"/>
                </a:solidFill>
                <a:latin typeface="Arial"/>
                <a:ea typeface="Arial"/>
                <a:cs typeface="Arial"/>
                <a:sym typeface="Arial"/>
              </a:rPr>
              <a:t>Sends HTTP requests outside the browser and captures results.</a:t>
            </a:r>
            <a:endParaRPr b="0" i="0" sz="1400" u="none" cap="none" strike="noStrike">
              <a:solidFill>
                <a:srgbClr val="000000"/>
              </a:solidFill>
              <a:latin typeface="Arial"/>
              <a:ea typeface="Arial"/>
              <a:cs typeface="Arial"/>
              <a:sym typeface="Arial"/>
            </a:endParaRPr>
          </a:p>
        </p:txBody>
      </p:sp>
      <p:sp>
        <p:nvSpPr>
          <p:cNvPr id="490" name="Google Shape;490;p17"/>
          <p:cNvSpPr/>
          <p:nvPr/>
        </p:nvSpPr>
        <p:spPr>
          <a:xfrm>
            <a:off x="514350" y="4572000"/>
            <a:ext cx="8048625" cy="200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86B00"/>
                </a:solidFill>
                <a:latin typeface="Arial"/>
                <a:ea typeface="Arial"/>
                <a:cs typeface="Arial"/>
                <a:sym typeface="Arial"/>
              </a:rPr>
              <a:t>Shortened example: the full probe also captures the HTTP trace and errors.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5" name="Shape 495"/>
        <p:cNvGrpSpPr/>
        <p:nvPr/>
      </p:nvGrpSpPr>
      <p:grpSpPr>
        <a:xfrm>
          <a:off x="0" y="0"/>
          <a:ext cx="0" cy="0"/>
          <a:chOff x="0" y="0"/>
          <a:chExt cx="0" cy="0"/>
        </a:xfrm>
      </p:grpSpPr>
      <p:sp>
        <p:nvSpPr>
          <p:cNvPr id="496" name="Google Shape;496;p18"/>
          <p:cNvSpPr/>
          <p:nvPr/>
        </p:nvSpPr>
        <p:spPr>
          <a:xfrm>
            <a:off x="6482850" y="1320950"/>
            <a:ext cx="1943100" cy="1714500"/>
          </a:xfrm>
          <a:prstGeom prst="roundRect">
            <a:avLst>
              <a:gd fmla="val 3265" name="adj"/>
            </a:avLst>
          </a:prstGeom>
          <a:solidFill>
            <a:srgbClr val="EAF5F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chemeClr val="dk1"/>
              </a:buClr>
              <a:buSzPts val="1000"/>
              <a:buFont typeface="Arial"/>
              <a:buNone/>
            </a:pPr>
            <a:r>
              <a:rPr b="1" i="0" lang="en-US" sz="1000" u="none" cap="none" strike="noStrike">
                <a:solidFill>
                  <a:srgbClr val="1479A6"/>
                </a:solidFill>
                <a:latin typeface="Arial"/>
                <a:ea typeface="Arial"/>
                <a:cs typeface="Arial"/>
                <a:sym typeface="Arial"/>
              </a:rPr>
              <a:t>SAVED AFTER EACH PROBE</a:t>
            </a:r>
            <a:br>
              <a:rPr b="1" i="0" lang="en-US" sz="1000" u="none" cap="none" strike="noStrike">
                <a:solidFill>
                  <a:srgbClr val="1479A6"/>
                </a:solidFill>
                <a:latin typeface="Arial"/>
                <a:ea typeface="Arial"/>
                <a:cs typeface="Arial"/>
                <a:sym typeface="Arial"/>
              </a:rPr>
            </a:br>
            <a:endParaRPr b="1" i="0" sz="1000" u="none" cap="none" strike="noStrike">
              <a:solidFill>
                <a:srgbClr val="1479A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rPr b="0" i="0" lang="en-US" sz="900" u="none" cap="none" strike="noStrike">
                <a:solidFill>
                  <a:srgbClr val="1479A6"/>
                </a:solidFill>
                <a:latin typeface="Verdana"/>
                <a:ea typeface="Verdana"/>
                <a:cs typeface="Verdana"/>
                <a:sym typeface="Verdana"/>
              </a:rPr>
              <a:t>runs/&lt;run&gt;/reports/&lt;flow&gt;/executions/&lt;execution&gt;.json</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1" i="0" sz="1000" u="none" cap="none" strike="noStrike">
              <a:solidFill>
                <a:srgbClr val="1479A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00"/>
              <a:buFont typeface="Arial"/>
              <a:buNone/>
            </a:pPr>
            <a:r>
              <a:t/>
            </a:r>
            <a:endParaRPr b="1" i="0" sz="1000" u="none" cap="none" strike="noStrike">
              <a:solidFill>
                <a:srgbClr val="1479A6"/>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rgbClr val="0E497B"/>
                </a:solidFill>
                <a:latin typeface="Arial"/>
                <a:ea typeface="Arial"/>
                <a:cs typeface="Arial"/>
                <a:sym typeface="Arial"/>
              </a:rPr>
              <a:t>Script identity</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rgbClr val="0E497B"/>
                </a:solidFill>
                <a:latin typeface="Arial"/>
                <a:ea typeface="Arial"/>
                <a:cs typeface="Arial"/>
                <a:sym typeface="Arial"/>
              </a:rPr>
              <a:t>Ordered HTTP trace</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rgbClr val="0E497B"/>
                </a:solidFill>
                <a:latin typeface="Arial"/>
                <a:ea typeface="Arial"/>
                <a:cs typeface="Arial"/>
                <a:sym typeface="Arial"/>
              </a:rPr>
              <a:t>Before / final state</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z="1100" u="none" cap="none" strike="noStrike">
                <a:solidFill>
                  <a:srgbClr val="0E497B"/>
                </a:solidFill>
                <a:latin typeface="Arial"/>
                <a:ea typeface="Arial"/>
                <a:cs typeface="Arial"/>
                <a:sym typeface="Arial"/>
              </a:rPr>
              <a:t>Errors and integrity data</a:t>
            </a:r>
            <a:endParaRPr b="1" i="0" sz="1000" u="none" cap="none" strike="noStrike">
              <a:solidFill>
                <a:srgbClr val="1479A6"/>
              </a:solidFill>
              <a:latin typeface="Arial"/>
              <a:ea typeface="Arial"/>
              <a:cs typeface="Arial"/>
              <a:sym typeface="Arial"/>
            </a:endParaRPr>
          </a:p>
        </p:txBody>
      </p:sp>
      <p:sp>
        <p:nvSpPr>
          <p:cNvPr id="497" name="Google Shape;497;p18"/>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8"/>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PROBE PHASE  / EXECUTION EVIDENCE</a:t>
            </a:r>
            <a:endParaRPr b="0" i="0" sz="1100" u="none" cap="none" strike="noStrike">
              <a:solidFill>
                <a:srgbClr val="000000"/>
              </a:solidFill>
              <a:latin typeface="Arial"/>
              <a:ea typeface="Arial"/>
              <a:cs typeface="Arial"/>
              <a:sym typeface="Arial"/>
            </a:endParaRPr>
          </a:p>
        </p:txBody>
      </p:sp>
      <p:sp>
        <p:nvSpPr>
          <p:cNvPr id="499" name="Google Shape;499;p18"/>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0E497B"/>
                </a:solidFill>
                <a:latin typeface="Arial"/>
                <a:ea typeface="Arial"/>
                <a:cs typeface="Arial"/>
                <a:sym typeface="Arial"/>
              </a:rPr>
              <a:t>The receipt records what actually ran</a:t>
            </a:r>
            <a:endParaRPr b="0" i="0" sz="1100" u="none" cap="none" strike="noStrike">
              <a:solidFill>
                <a:srgbClr val="000000"/>
              </a:solidFill>
              <a:latin typeface="Arial"/>
              <a:ea typeface="Arial"/>
              <a:cs typeface="Arial"/>
              <a:sym typeface="Arial"/>
            </a:endParaRPr>
          </a:p>
        </p:txBody>
      </p:sp>
      <p:cxnSp>
        <p:nvCxnSpPr>
          <p:cNvPr id="500" name="Google Shape;500;p18"/>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501" name="Google Shape;501;p18"/>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17</a:t>
            </a:r>
            <a:endParaRPr b="0" i="0" sz="1100" u="none" cap="none" strike="noStrike">
              <a:solidFill>
                <a:srgbClr val="000000"/>
              </a:solidFill>
              <a:latin typeface="Arial"/>
              <a:ea typeface="Arial"/>
              <a:cs typeface="Arial"/>
              <a:sym typeface="Arial"/>
            </a:endParaRPr>
          </a:p>
        </p:txBody>
      </p:sp>
      <p:sp>
        <p:nvSpPr>
          <p:cNvPr id="502" name="Google Shape;502;p18"/>
          <p:cNvSpPr/>
          <p:nvPr/>
        </p:nvSpPr>
        <p:spPr>
          <a:xfrm>
            <a:off x="514350" y="1143000"/>
            <a:ext cx="5643600" cy="3393300"/>
          </a:xfrm>
          <a:prstGeom prst="roundRect">
            <a:avLst>
              <a:gd fmla="val 1684" name="adj"/>
            </a:avLst>
          </a:prstGeom>
          <a:solidFill>
            <a:srgbClr val="112F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8"/>
          <p:cNvSpPr/>
          <p:nvPr/>
        </p:nvSpPr>
        <p:spPr>
          <a:xfrm>
            <a:off x="642938" y="1533525"/>
            <a:ext cx="5386197" cy="29051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"script": "02_double_complete.py",</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"execution_status": "COMPLETED",</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"trace":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{"sequence":1, "method":"POST", "path":"/api/demo/reset", "status":200},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{"sequence":2, "method":"GET",  "path":"/api/order", "status":200},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{"sequence":3, "method":"POST", "path":"/api/order/refund/request", "status":201},</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{"sequence":4, "method":"POST", "path":"/api/order/refund/complete", "status":200},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{"sequence":5, "method":"POST", "path":"/api/order/refund/complete", "status":200},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{"sequence":6, "method":"GET",  "path":"/api/order", "status":200}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  "after": {"originalAmount":100, "totalReturned":200}</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FFFFFF"/>
                </a:solidFill>
                <a:latin typeface="Verdana"/>
                <a:ea typeface="Verdana"/>
                <a:cs typeface="Verdana"/>
                <a:sym typeface="Verdana"/>
              </a:rPr>
              <a:t>}</a:t>
            </a:r>
            <a:endParaRPr b="0" i="0" sz="1100" u="none" cap="none" strike="noStrike">
              <a:solidFill>
                <a:srgbClr val="000000"/>
              </a:solidFill>
              <a:latin typeface="Arial"/>
              <a:ea typeface="Arial"/>
              <a:cs typeface="Arial"/>
              <a:sym typeface="Arial"/>
            </a:endParaRPr>
          </a:p>
        </p:txBody>
      </p:sp>
      <p:sp>
        <p:nvSpPr>
          <p:cNvPr id="504" name="Google Shape;504;p18"/>
          <p:cNvSpPr/>
          <p:nvPr/>
        </p:nvSpPr>
        <p:spPr>
          <a:xfrm>
            <a:off x="642938" y="1266825"/>
            <a:ext cx="535785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83D4F1"/>
                </a:solidFill>
                <a:latin typeface="Verdana"/>
                <a:ea typeface="Verdana"/>
                <a:cs typeface="Verdana"/>
                <a:sym typeface="Verdana"/>
              </a:rPr>
              <a:t>&lt;execution&gt;.json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09" name="Shape 509"/>
        <p:cNvGrpSpPr/>
        <p:nvPr/>
      </p:nvGrpSpPr>
      <p:grpSpPr>
        <a:xfrm>
          <a:off x="0" y="0"/>
          <a:ext cx="0" cy="0"/>
          <a:chOff x="0" y="0"/>
          <a:chExt cx="0" cy="0"/>
        </a:xfrm>
      </p:grpSpPr>
      <p:sp>
        <p:nvSpPr>
          <p:cNvPr id="510" name="Google Shape;510;h1471d29b42600248_0_80"/>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h1471d29b42600248_0_80"/>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REPORT</a:t>
            </a:r>
            <a:endParaRPr b="0" i="0" sz="1100" u="none" cap="none" strike="noStrike">
              <a:solidFill>
                <a:srgbClr val="000000"/>
              </a:solidFill>
              <a:latin typeface="Arial"/>
              <a:ea typeface="Arial"/>
              <a:cs typeface="Arial"/>
              <a:sym typeface="Arial"/>
            </a:endParaRPr>
          </a:p>
        </p:txBody>
      </p:sp>
      <p:sp>
        <p:nvSpPr>
          <p:cNvPr id="512" name="Google Shape;512;h1471d29b42600248_0_80"/>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4A4A4A"/>
                </a:solidFill>
                <a:latin typeface="Arial"/>
                <a:ea typeface="Arial"/>
                <a:cs typeface="Arial"/>
                <a:sym typeface="Arial"/>
              </a:rPr>
              <a:t>Verification and Final report</a:t>
            </a:r>
            <a:endParaRPr b="0" i="0" sz="1100" u="none" cap="none" strike="noStrike">
              <a:solidFill>
                <a:srgbClr val="000000"/>
              </a:solidFill>
              <a:latin typeface="Arial"/>
              <a:ea typeface="Arial"/>
              <a:cs typeface="Arial"/>
              <a:sym typeface="Arial"/>
            </a:endParaRPr>
          </a:p>
        </p:txBody>
      </p:sp>
      <p:cxnSp>
        <p:nvCxnSpPr>
          <p:cNvPr id="513" name="Google Shape;513;h1471d29b42600248_0_80"/>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514" name="Google Shape;514;h1471d29b42600248_0_80"/>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18</a:t>
            </a:r>
            <a:endParaRPr b="0" i="0" sz="1100" u="none" cap="none" strike="noStrike">
              <a:solidFill>
                <a:srgbClr val="000000"/>
              </a:solidFill>
              <a:latin typeface="Arial"/>
              <a:ea typeface="Arial"/>
              <a:cs typeface="Arial"/>
              <a:sym typeface="Arial"/>
            </a:endParaRPr>
          </a:p>
        </p:txBody>
      </p:sp>
      <p:sp>
        <p:nvSpPr>
          <p:cNvPr id="515" name="Google Shape;515;h1471d29b42600248_0_80"/>
          <p:cNvSpPr/>
          <p:nvPr/>
        </p:nvSpPr>
        <p:spPr>
          <a:xfrm>
            <a:off x="533400" y="1333500"/>
            <a:ext cx="8077200" cy="2914800"/>
          </a:xfrm>
          <a:prstGeom prst="rect">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h1471d29b42600248_0_80"/>
          <p:cNvSpPr/>
          <p:nvPr/>
        </p:nvSpPr>
        <p:spPr>
          <a:xfrm>
            <a:off x="723900" y="1485900"/>
            <a:ext cx="2571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FB81C"/>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517" name="Google Shape;517;h1471d29b42600248_0_80"/>
          <p:cNvSpPr/>
          <p:nvPr/>
        </p:nvSpPr>
        <p:spPr>
          <a:xfrm>
            <a:off x="1019175" y="1504950"/>
            <a:ext cx="20955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0E497B"/>
                </a:solidFill>
                <a:latin typeface="Arial"/>
                <a:ea typeface="Arial"/>
                <a:cs typeface="Arial"/>
                <a:sym typeface="Arial"/>
              </a:rPr>
              <a:t>Backend checks</a:t>
            </a:r>
            <a:endParaRPr b="0" i="0" sz="1400" u="none" cap="none" strike="noStrike">
              <a:solidFill>
                <a:srgbClr val="000000"/>
              </a:solidFill>
              <a:latin typeface="Arial"/>
              <a:ea typeface="Arial"/>
              <a:cs typeface="Arial"/>
              <a:sym typeface="Arial"/>
            </a:endParaRPr>
          </a:p>
        </p:txBody>
      </p:sp>
      <p:sp>
        <p:nvSpPr>
          <p:cNvPr id="518" name="Google Shape;518;h1471d29b42600248_0_80"/>
          <p:cNvSpPr/>
          <p:nvPr/>
        </p:nvSpPr>
        <p:spPr>
          <a:xfrm>
            <a:off x="3419475" y="1485900"/>
            <a:ext cx="2571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FB81C"/>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519" name="Google Shape;519;h1471d29b42600248_0_80"/>
          <p:cNvSpPr/>
          <p:nvPr/>
        </p:nvSpPr>
        <p:spPr>
          <a:xfrm>
            <a:off x="3714750" y="1504950"/>
            <a:ext cx="20955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0E497B"/>
                </a:solidFill>
                <a:latin typeface="Arial"/>
                <a:ea typeface="Arial"/>
                <a:cs typeface="Arial"/>
                <a:sym typeface="Arial"/>
              </a:rPr>
              <a:t>Test outcome</a:t>
            </a:r>
            <a:endParaRPr b="0" i="0" sz="1400" u="none" cap="none" strike="noStrike">
              <a:solidFill>
                <a:srgbClr val="000000"/>
              </a:solidFill>
              <a:latin typeface="Arial"/>
              <a:ea typeface="Arial"/>
              <a:cs typeface="Arial"/>
              <a:sym typeface="Arial"/>
            </a:endParaRPr>
          </a:p>
        </p:txBody>
      </p:sp>
      <p:sp>
        <p:nvSpPr>
          <p:cNvPr id="520" name="Google Shape;520;h1471d29b42600248_0_80"/>
          <p:cNvSpPr/>
          <p:nvPr/>
        </p:nvSpPr>
        <p:spPr>
          <a:xfrm>
            <a:off x="6115050" y="1485900"/>
            <a:ext cx="2571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FFB81C"/>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521" name="Google Shape;521;h1471d29b42600248_0_80"/>
          <p:cNvSpPr/>
          <p:nvPr/>
        </p:nvSpPr>
        <p:spPr>
          <a:xfrm>
            <a:off x="6410325" y="1504950"/>
            <a:ext cx="20955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1" i="0" lang="en-US" sz="1425" u="none" cap="none" strike="noStrike">
                <a:solidFill>
                  <a:srgbClr val="0E497B"/>
                </a:solidFill>
                <a:latin typeface="Arial"/>
                <a:ea typeface="Arial"/>
                <a:cs typeface="Arial"/>
                <a:sym typeface="Arial"/>
              </a:rPr>
              <a:t>Final report</a:t>
            </a:r>
            <a:endParaRPr b="0" i="0" sz="1400" u="none" cap="none" strike="noStrike">
              <a:solidFill>
                <a:srgbClr val="000000"/>
              </a:solidFill>
              <a:latin typeface="Arial"/>
              <a:ea typeface="Arial"/>
              <a:cs typeface="Arial"/>
              <a:sym typeface="Arial"/>
            </a:endParaRPr>
          </a:p>
        </p:txBody>
      </p:sp>
      <p:sp>
        <p:nvSpPr>
          <p:cNvPr id="522" name="Google Shape;522;h1471d29b42600248_0_80"/>
          <p:cNvSpPr/>
          <p:nvPr/>
        </p:nvSpPr>
        <p:spPr>
          <a:xfrm>
            <a:off x="723900" y="2000250"/>
            <a:ext cx="2343300" cy="52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Reported requests match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the HTTP trace</a:t>
            </a:r>
            <a:endParaRPr b="0" i="0" sz="1400" u="none" cap="none" strike="noStrike">
              <a:solidFill>
                <a:srgbClr val="000000"/>
              </a:solidFill>
              <a:latin typeface="Arial"/>
              <a:ea typeface="Arial"/>
              <a:cs typeface="Arial"/>
              <a:sym typeface="Arial"/>
            </a:endParaRPr>
          </a:p>
        </p:txBody>
      </p:sp>
      <p:sp>
        <p:nvSpPr>
          <p:cNvPr id="523" name="Google Shape;523;h1471d29b42600248_0_80"/>
          <p:cNvSpPr/>
          <p:nvPr/>
        </p:nvSpPr>
        <p:spPr>
          <a:xfrm>
            <a:off x="723900" y="2686050"/>
            <a:ext cx="2343300" cy="52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Before and after reads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are verified</a:t>
            </a:r>
            <a:endParaRPr b="0" i="0" sz="1400" u="none" cap="none" strike="noStrike">
              <a:solidFill>
                <a:srgbClr val="000000"/>
              </a:solidFill>
              <a:latin typeface="Arial"/>
              <a:ea typeface="Arial"/>
              <a:cs typeface="Arial"/>
              <a:sym typeface="Arial"/>
            </a:endParaRPr>
          </a:p>
        </p:txBody>
      </p:sp>
      <p:sp>
        <p:nvSpPr>
          <p:cNvPr id="524" name="Google Shape;524;h1471d29b42600248_0_80"/>
          <p:cNvSpPr/>
          <p:nvPr/>
        </p:nvSpPr>
        <p:spPr>
          <a:xfrm>
            <a:off x="723900" y="3371850"/>
            <a:ext cx="2343300" cy="523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Final condition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recalculated</a:t>
            </a:r>
            <a:endParaRPr b="0" i="0" sz="1400" u="none" cap="none" strike="noStrike">
              <a:solidFill>
                <a:srgbClr val="000000"/>
              </a:solidFill>
              <a:latin typeface="Arial"/>
              <a:ea typeface="Arial"/>
              <a:cs typeface="Arial"/>
              <a:sym typeface="Arial"/>
            </a:endParaRPr>
          </a:p>
        </p:txBody>
      </p:sp>
      <p:sp>
        <p:nvSpPr>
          <p:cNvPr id="525" name="Google Shape;525;h1471d29b42600248_0_80"/>
          <p:cNvSpPr/>
          <p:nvPr/>
        </p:nvSpPr>
        <p:spPr>
          <a:xfrm>
            <a:off x="3419475" y="1981200"/>
            <a:ext cx="2324100" cy="2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43B43"/>
                </a:solidFill>
                <a:latin typeface="Arial"/>
                <a:ea typeface="Arial"/>
                <a:cs typeface="Arial"/>
                <a:sym typeface="Arial"/>
              </a:rPr>
              <a:t>CONFIRMED</a:t>
            </a:r>
            <a:endParaRPr b="0" i="0" sz="1400" u="none" cap="none" strike="noStrike">
              <a:solidFill>
                <a:srgbClr val="000000"/>
              </a:solidFill>
              <a:latin typeface="Arial"/>
              <a:ea typeface="Arial"/>
              <a:cs typeface="Arial"/>
              <a:sym typeface="Arial"/>
            </a:endParaRPr>
          </a:p>
        </p:txBody>
      </p:sp>
      <p:sp>
        <p:nvSpPr>
          <p:cNvPr id="526" name="Google Shape;526;h1471d29b42600248_0_80"/>
          <p:cNvSpPr/>
          <p:nvPr/>
        </p:nvSpPr>
        <p:spPr>
          <a:xfrm>
            <a:off x="3419475" y="2238375"/>
            <a:ext cx="2324100" cy="44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4A4A4A"/>
                </a:solidFill>
                <a:latin typeface="Arial"/>
                <a:ea typeface="Arial"/>
                <a:cs typeface="Arial"/>
                <a:sym typeface="Arial"/>
              </a:rPr>
              <a:t>Unsafe outcome reproduced</a:t>
            </a:r>
            <a:endParaRPr b="0" i="0" sz="1400" u="none" cap="none" strike="noStrike">
              <a:solidFill>
                <a:srgbClr val="000000"/>
              </a:solidFill>
              <a:latin typeface="Arial"/>
              <a:ea typeface="Arial"/>
              <a:cs typeface="Arial"/>
              <a:sym typeface="Arial"/>
            </a:endParaRPr>
          </a:p>
        </p:txBody>
      </p:sp>
      <p:sp>
        <p:nvSpPr>
          <p:cNvPr id="527" name="Google Shape;527;h1471d29b42600248_0_80"/>
          <p:cNvSpPr/>
          <p:nvPr/>
        </p:nvSpPr>
        <p:spPr>
          <a:xfrm>
            <a:off x="3419475" y="2686050"/>
            <a:ext cx="2324100" cy="2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247A50"/>
                </a:solidFill>
                <a:latin typeface="Arial"/>
                <a:ea typeface="Arial"/>
                <a:cs typeface="Arial"/>
                <a:sym typeface="Arial"/>
              </a:rPr>
              <a:t>NOT REPRODUCED</a:t>
            </a:r>
            <a:endParaRPr b="0" i="0" sz="1400" u="none" cap="none" strike="noStrike">
              <a:solidFill>
                <a:srgbClr val="000000"/>
              </a:solidFill>
              <a:latin typeface="Arial"/>
              <a:ea typeface="Arial"/>
              <a:cs typeface="Arial"/>
              <a:sym typeface="Arial"/>
            </a:endParaRPr>
          </a:p>
        </p:txBody>
      </p:sp>
      <p:sp>
        <p:nvSpPr>
          <p:cNvPr id="528" name="Google Shape;528;h1471d29b42600248_0_80"/>
          <p:cNvSpPr/>
          <p:nvPr/>
        </p:nvSpPr>
        <p:spPr>
          <a:xfrm>
            <a:off x="3419475" y="2943225"/>
            <a:ext cx="2324100" cy="44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4A4A4A"/>
                </a:solidFill>
                <a:latin typeface="Arial"/>
                <a:ea typeface="Arial"/>
                <a:cs typeface="Arial"/>
                <a:sym typeface="Arial"/>
              </a:rPr>
              <a:t>Tested condition did not occur</a:t>
            </a:r>
            <a:endParaRPr b="0" i="0" sz="1400" u="none" cap="none" strike="noStrike">
              <a:solidFill>
                <a:srgbClr val="000000"/>
              </a:solidFill>
              <a:latin typeface="Arial"/>
              <a:ea typeface="Arial"/>
              <a:cs typeface="Arial"/>
              <a:sym typeface="Arial"/>
            </a:endParaRPr>
          </a:p>
        </p:txBody>
      </p:sp>
      <p:sp>
        <p:nvSpPr>
          <p:cNvPr id="529" name="Google Shape;529;h1471d29b42600248_0_80"/>
          <p:cNvSpPr/>
          <p:nvPr/>
        </p:nvSpPr>
        <p:spPr>
          <a:xfrm>
            <a:off x="3419475" y="3390900"/>
            <a:ext cx="2324100" cy="219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AF6500"/>
                </a:solidFill>
                <a:latin typeface="Arial"/>
                <a:ea typeface="Arial"/>
                <a:cs typeface="Arial"/>
                <a:sym typeface="Arial"/>
              </a:rPr>
              <a:t>NEEDS REVIEW</a:t>
            </a:r>
            <a:endParaRPr b="0" i="0" sz="1400" u="none" cap="none" strike="noStrike">
              <a:solidFill>
                <a:srgbClr val="000000"/>
              </a:solidFill>
              <a:latin typeface="Arial"/>
              <a:ea typeface="Arial"/>
              <a:cs typeface="Arial"/>
              <a:sym typeface="Arial"/>
            </a:endParaRPr>
          </a:p>
        </p:txBody>
      </p:sp>
      <p:sp>
        <p:nvSpPr>
          <p:cNvPr id="530" name="Google Shape;530;h1471d29b42600248_0_80"/>
          <p:cNvSpPr/>
          <p:nvPr/>
        </p:nvSpPr>
        <p:spPr>
          <a:xfrm>
            <a:off x="3419475" y="3648075"/>
            <a:ext cx="2324100" cy="447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4A4A4A"/>
                </a:solidFill>
                <a:latin typeface="Arial"/>
                <a:ea typeface="Arial"/>
                <a:cs typeface="Arial"/>
                <a:sym typeface="Arial"/>
              </a:rPr>
              <a:t>This test does not resolve the claim</a:t>
            </a:r>
            <a:endParaRPr b="0" i="0" sz="1400" u="none" cap="none" strike="noStrike">
              <a:solidFill>
                <a:srgbClr val="000000"/>
              </a:solidFill>
              <a:latin typeface="Arial"/>
              <a:ea typeface="Arial"/>
              <a:cs typeface="Arial"/>
              <a:sym typeface="Arial"/>
            </a:endParaRPr>
          </a:p>
        </p:txBody>
      </p:sp>
      <p:sp>
        <p:nvSpPr>
          <p:cNvPr id="531" name="Google Shape;531;h1471d29b42600248_0_80"/>
          <p:cNvSpPr/>
          <p:nvPr/>
        </p:nvSpPr>
        <p:spPr>
          <a:xfrm>
            <a:off x="6115050" y="1981200"/>
            <a:ext cx="2295600" cy="2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0E497B"/>
                </a:solidFill>
                <a:latin typeface="Arial"/>
                <a:ea typeface="Arial"/>
                <a:cs typeface="Arial"/>
                <a:sym typeface="Arial"/>
              </a:rPr>
              <a:t>Test and evidence</a:t>
            </a:r>
            <a:endParaRPr b="0" i="0" sz="1400" u="none" cap="none" strike="noStrike">
              <a:solidFill>
                <a:srgbClr val="000000"/>
              </a:solidFill>
              <a:latin typeface="Arial"/>
              <a:ea typeface="Arial"/>
              <a:cs typeface="Arial"/>
              <a:sym typeface="Arial"/>
            </a:endParaRPr>
          </a:p>
        </p:txBody>
      </p:sp>
      <p:sp>
        <p:nvSpPr>
          <p:cNvPr id="532" name="Google Shape;532;h1471d29b42600248_0_80"/>
          <p:cNvSpPr/>
          <p:nvPr/>
        </p:nvSpPr>
        <p:spPr>
          <a:xfrm>
            <a:off x="6115050" y="2305050"/>
            <a:ext cx="2295600" cy="552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4A4A4A"/>
                </a:solidFill>
                <a:latin typeface="Arial"/>
                <a:ea typeface="Arial"/>
                <a:cs typeface="Arial"/>
                <a:sym typeface="Arial"/>
              </a:rPr>
              <a:t>Hypothesis, executed script, HTTP trace, receipt and outcome</a:t>
            </a:r>
            <a:endParaRPr b="0" i="0" sz="1400" u="none" cap="none" strike="noStrike">
              <a:solidFill>
                <a:srgbClr val="000000"/>
              </a:solidFill>
              <a:latin typeface="Arial"/>
              <a:ea typeface="Arial"/>
              <a:cs typeface="Arial"/>
              <a:sym typeface="Arial"/>
            </a:endParaRPr>
          </a:p>
        </p:txBody>
      </p:sp>
      <p:sp>
        <p:nvSpPr>
          <p:cNvPr id="533" name="Google Shape;533;h1471d29b42600248_0_80"/>
          <p:cNvSpPr/>
          <p:nvPr/>
        </p:nvSpPr>
        <p:spPr>
          <a:xfrm>
            <a:off x="6115050" y="3009900"/>
            <a:ext cx="2295600" cy="24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0E497B"/>
                </a:solidFill>
                <a:latin typeface="Arial"/>
                <a:ea typeface="Arial"/>
                <a:cs typeface="Arial"/>
                <a:sym typeface="Arial"/>
              </a:rPr>
              <a:t>AI suggestions</a:t>
            </a:r>
            <a:endParaRPr b="0" i="0" sz="1400" u="none" cap="none" strike="noStrike">
              <a:solidFill>
                <a:srgbClr val="000000"/>
              </a:solidFill>
              <a:latin typeface="Arial"/>
              <a:ea typeface="Arial"/>
              <a:cs typeface="Arial"/>
              <a:sym typeface="Arial"/>
            </a:endParaRPr>
          </a:p>
        </p:txBody>
      </p:sp>
      <p:sp>
        <p:nvSpPr>
          <p:cNvPr id="534" name="Google Shape;534;h1471d29b42600248_0_80"/>
          <p:cNvSpPr/>
          <p:nvPr/>
        </p:nvSpPr>
        <p:spPr>
          <a:xfrm>
            <a:off x="6115050" y="3333750"/>
            <a:ext cx="2295600" cy="50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4A4A4A"/>
                </a:solidFill>
                <a:latin typeface="Arial"/>
                <a:ea typeface="Arial"/>
                <a:cs typeface="Arial"/>
                <a:sym typeface="Arial"/>
              </a:rPr>
              <a:t>Remediation, severity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75"/>
              <a:buFont typeface="Arial"/>
              <a:buNone/>
            </a:pPr>
            <a:r>
              <a:rPr b="0" i="0" lang="en-US" sz="1275" u="none" cap="none" strike="noStrike">
                <a:solidFill>
                  <a:srgbClr val="4A4A4A"/>
                </a:solidFill>
                <a:latin typeface="Arial"/>
                <a:ea typeface="Arial"/>
                <a:cs typeface="Arial"/>
                <a:sym typeface="Arial"/>
              </a:rPr>
              <a:t>and CWE category</a:t>
            </a:r>
            <a:endParaRPr b="0" i="0" sz="1400" u="none" cap="none" strike="noStrike">
              <a:solidFill>
                <a:srgbClr val="000000"/>
              </a:solidFill>
              <a:latin typeface="Arial"/>
              <a:ea typeface="Arial"/>
              <a:cs typeface="Arial"/>
              <a:sym typeface="Arial"/>
            </a:endParaRPr>
          </a:p>
        </p:txBody>
      </p:sp>
      <p:sp>
        <p:nvSpPr>
          <p:cNvPr id="535" name="Google Shape;535;h1471d29b42600248_0_80"/>
          <p:cNvSpPr/>
          <p:nvPr/>
        </p:nvSpPr>
        <p:spPr>
          <a:xfrm>
            <a:off x="6115050" y="3895725"/>
            <a:ext cx="22956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B86B00"/>
                </a:solidFill>
                <a:latin typeface="Arial"/>
                <a:ea typeface="Arial"/>
                <a:cs typeface="Arial"/>
                <a:sym typeface="Arial"/>
              </a:rPr>
              <a:t>Human review required</a:t>
            </a:r>
            <a:endParaRPr b="0" i="0" sz="1400" u="none" cap="none" strike="noStrike">
              <a:solidFill>
                <a:srgbClr val="000000"/>
              </a:solidFill>
              <a:latin typeface="Arial"/>
              <a:ea typeface="Arial"/>
              <a:cs typeface="Arial"/>
              <a:sym typeface="Arial"/>
            </a:endParaRPr>
          </a:p>
        </p:txBody>
      </p:sp>
      <p:sp>
        <p:nvSpPr>
          <p:cNvPr id="536" name="Google Shape;536;h1471d29b42600248_0_80"/>
          <p:cNvSpPr/>
          <p:nvPr/>
        </p:nvSpPr>
        <p:spPr>
          <a:xfrm>
            <a:off x="533400" y="4548188"/>
            <a:ext cx="8077200" cy="18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526D82"/>
                </a:solidFill>
                <a:latin typeface="Arial"/>
                <a:ea typeface="Arial"/>
                <a:cs typeface="Arial"/>
                <a:sym typeface="Arial"/>
              </a:rPr>
              <a:t>Other outcomes include insufficient evidence and check errors.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20"/>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0"/>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1479A6"/>
              </a:buClr>
              <a:buSzPts val="700"/>
              <a:buFont typeface="Arial"/>
              <a:buNone/>
            </a:pPr>
            <a:r>
              <a:rPr b="1" i="0" lang="en-US" sz="700" u="none" cap="none" strike="noStrike">
                <a:solidFill>
                  <a:srgbClr val="1479A6"/>
                </a:solidFill>
                <a:latin typeface="Arial"/>
                <a:ea typeface="Arial"/>
                <a:cs typeface="Arial"/>
                <a:sym typeface="Arial"/>
              </a:rPr>
              <a:t>CROSS-FLOW TESTING</a:t>
            </a:r>
            <a:endParaRPr b="0" i="0" sz="1100" u="none" cap="none" strike="noStrike">
              <a:solidFill>
                <a:srgbClr val="000000"/>
              </a:solidFill>
              <a:latin typeface="Arial"/>
              <a:ea typeface="Arial"/>
              <a:cs typeface="Arial"/>
              <a:sym typeface="Arial"/>
            </a:endParaRPr>
          </a:p>
        </p:txBody>
      </p:sp>
      <p:sp>
        <p:nvSpPr>
          <p:cNvPr id="544" name="Google Shape;544;p20"/>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E497B"/>
              </a:buClr>
              <a:buSzPts val="2100"/>
              <a:buFont typeface="Arial"/>
              <a:buNone/>
            </a:pPr>
            <a:r>
              <a:rPr b="1" i="0" lang="en-US" sz="2100" u="none" cap="none" strike="noStrike">
                <a:solidFill>
                  <a:srgbClr val="0E497B"/>
                </a:solidFill>
                <a:latin typeface="Arial"/>
                <a:ea typeface="Arial"/>
                <a:cs typeface="Arial"/>
                <a:sym typeface="Arial"/>
              </a:rPr>
              <a:t>What if safe-looking flows become unsafe together?</a:t>
            </a:r>
            <a:endParaRPr b="0" i="0" sz="1100" u="none" cap="none" strike="noStrike">
              <a:solidFill>
                <a:srgbClr val="000000"/>
              </a:solidFill>
              <a:latin typeface="Arial"/>
              <a:ea typeface="Arial"/>
              <a:cs typeface="Arial"/>
              <a:sym typeface="Arial"/>
            </a:endParaRPr>
          </a:p>
        </p:txBody>
      </p:sp>
      <p:cxnSp>
        <p:nvCxnSpPr>
          <p:cNvPr id="545" name="Google Shape;545;p20"/>
          <p:cNvCxnSpPr/>
          <p:nvPr/>
        </p:nvCxnSpPr>
        <p:spPr>
          <a:xfrm>
            <a:off x="457200" y="4857750"/>
            <a:ext cx="8229600" cy="0"/>
          </a:xfrm>
          <a:prstGeom prst="straightConnector1">
            <a:avLst/>
          </a:prstGeom>
          <a:noFill/>
          <a:ln cap="flat" cmpd="sng" w="9525">
            <a:solidFill>
              <a:srgbClr val="386B95"/>
            </a:solidFill>
            <a:prstDash val="solid"/>
            <a:round/>
            <a:headEnd len="sm" w="sm" type="none"/>
            <a:tailEnd len="sm" w="sm" type="none"/>
          </a:ln>
        </p:spPr>
      </p:cxnSp>
      <p:sp>
        <p:nvSpPr>
          <p:cNvPr id="546" name="Google Shape;546;p20"/>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526D82"/>
              </a:buClr>
              <a:buSzPts val="500"/>
              <a:buFont typeface="Arial"/>
              <a:buNone/>
            </a:pPr>
            <a:r>
              <a:rPr b="1" i="0" lang="en-US" sz="500" u="none" cap="none" strike="noStrike">
                <a:solidFill>
                  <a:srgbClr val="0E497B"/>
                </a:solidFill>
                <a:latin typeface="Arial"/>
                <a:ea typeface="Arial"/>
                <a:cs typeface="Arial"/>
                <a:sym typeface="Arial"/>
              </a:rPr>
              <a:t>19</a:t>
            </a:r>
            <a:endParaRPr b="0" i="0" sz="1100" u="none" cap="none" strike="noStrike">
              <a:solidFill>
                <a:srgbClr val="000000"/>
              </a:solidFill>
              <a:latin typeface="Arial"/>
              <a:ea typeface="Arial"/>
              <a:cs typeface="Arial"/>
              <a:sym typeface="Arial"/>
            </a:endParaRPr>
          </a:p>
        </p:txBody>
      </p:sp>
      <p:sp>
        <p:nvSpPr>
          <p:cNvPr id="547" name="Google Shape;547;p20"/>
          <p:cNvSpPr/>
          <p:nvPr/>
        </p:nvSpPr>
        <p:spPr>
          <a:xfrm>
            <a:off x="657225" y="1635919"/>
            <a:ext cx="2036100" cy="1464600"/>
          </a:xfrm>
          <a:prstGeom prst="roundRect">
            <a:avLst>
              <a:gd fmla="val 3902" name="adj"/>
            </a:avLst>
          </a:prstGeom>
          <a:solidFill>
            <a:srgbClr val="EAF5FA"/>
          </a:solidFill>
          <a:ln cap="flat" cmpd="sng" w="9525">
            <a:solidFill>
              <a:srgbClr val="1479A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20"/>
          <p:cNvSpPr/>
          <p:nvPr/>
        </p:nvSpPr>
        <p:spPr>
          <a:xfrm>
            <a:off x="828675" y="1785938"/>
            <a:ext cx="7143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FLOW A</a:t>
            </a:r>
            <a:endParaRPr b="0" i="0" sz="1100" u="none" cap="none" strike="noStrike">
              <a:solidFill>
                <a:srgbClr val="000000"/>
              </a:solidFill>
              <a:latin typeface="Arial"/>
              <a:ea typeface="Arial"/>
              <a:cs typeface="Arial"/>
              <a:sym typeface="Arial"/>
            </a:endParaRPr>
          </a:p>
        </p:txBody>
      </p:sp>
      <p:sp>
        <p:nvSpPr>
          <p:cNvPr id="549" name="Google Shape;549;p20"/>
          <p:cNvSpPr/>
          <p:nvPr/>
        </p:nvSpPr>
        <p:spPr>
          <a:xfrm>
            <a:off x="828675" y="2100263"/>
            <a:ext cx="1643100" cy="28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Price adjustment</a:t>
            </a:r>
            <a:endParaRPr b="0" i="0" sz="1100" u="none" cap="none" strike="noStrike">
              <a:solidFill>
                <a:srgbClr val="000000"/>
              </a:solidFill>
              <a:latin typeface="Arial"/>
              <a:ea typeface="Arial"/>
              <a:cs typeface="Arial"/>
              <a:sym typeface="Arial"/>
            </a:endParaRPr>
          </a:p>
        </p:txBody>
      </p:sp>
      <p:sp>
        <p:nvSpPr>
          <p:cNvPr id="550" name="Google Shape;550;p20"/>
          <p:cNvSpPr/>
          <p:nvPr/>
        </p:nvSpPr>
        <p:spPr>
          <a:xfrm>
            <a:off x="828675" y="2514600"/>
            <a:ext cx="1643100" cy="37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79A6"/>
                </a:solidFill>
                <a:latin typeface="Arial"/>
                <a:ea typeface="Arial"/>
                <a:cs typeface="Arial"/>
                <a:sym typeface="Arial"/>
              </a:rPr>
              <a:t>$30</a:t>
            </a:r>
            <a:endParaRPr b="0" i="0" sz="1100" u="none" cap="none" strike="noStrike">
              <a:solidFill>
                <a:srgbClr val="000000"/>
              </a:solidFill>
              <a:latin typeface="Arial"/>
              <a:ea typeface="Arial"/>
              <a:cs typeface="Arial"/>
              <a:sym typeface="Arial"/>
            </a:endParaRPr>
          </a:p>
        </p:txBody>
      </p:sp>
      <p:sp>
        <p:nvSpPr>
          <p:cNvPr id="551" name="Google Shape;551;p20"/>
          <p:cNvSpPr/>
          <p:nvPr/>
        </p:nvSpPr>
        <p:spPr>
          <a:xfrm>
            <a:off x="3336131" y="1635919"/>
            <a:ext cx="2036100" cy="1464600"/>
          </a:xfrm>
          <a:prstGeom prst="roundRect">
            <a:avLst>
              <a:gd fmla="val 3902" name="adj"/>
            </a:avLst>
          </a:prstGeom>
          <a:solidFill>
            <a:srgbClr val="EAF5FA"/>
          </a:solidFill>
          <a:ln cap="flat" cmpd="sng" w="9525">
            <a:solidFill>
              <a:srgbClr val="1479A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p:nvPr/>
        </p:nvSpPr>
        <p:spPr>
          <a:xfrm>
            <a:off x="3507581" y="1785938"/>
            <a:ext cx="7143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1479A6"/>
                </a:solidFill>
                <a:latin typeface="Arial"/>
                <a:ea typeface="Arial"/>
                <a:cs typeface="Arial"/>
                <a:sym typeface="Arial"/>
              </a:rPr>
              <a:t>FLOW B</a:t>
            </a:r>
            <a:endParaRPr b="0" i="0" sz="1100" u="none" cap="none" strike="noStrike">
              <a:solidFill>
                <a:srgbClr val="000000"/>
              </a:solidFill>
              <a:latin typeface="Arial"/>
              <a:ea typeface="Arial"/>
              <a:cs typeface="Arial"/>
              <a:sym typeface="Arial"/>
            </a:endParaRPr>
          </a:p>
        </p:txBody>
      </p:sp>
      <p:sp>
        <p:nvSpPr>
          <p:cNvPr id="553" name="Google Shape;553;p20"/>
          <p:cNvSpPr/>
          <p:nvPr/>
        </p:nvSpPr>
        <p:spPr>
          <a:xfrm>
            <a:off x="3507581" y="2100263"/>
            <a:ext cx="1643100" cy="28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Refund</a:t>
            </a:r>
            <a:endParaRPr b="0" i="0" sz="1100" u="none" cap="none" strike="noStrike">
              <a:solidFill>
                <a:srgbClr val="000000"/>
              </a:solidFill>
              <a:latin typeface="Arial"/>
              <a:ea typeface="Arial"/>
              <a:cs typeface="Arial"/>
              <a:sym typeface="Arial"/>
            </a:endParaRPr>
          </a:p>
        </p:txBody>
      </p:sp>
      <p:sp>
        <p:nvSpPr>
          <p:cNvPr id="554" name="Google Shape;554;p20"/>
          <p:cNvSpPr/>
          <p:nvPr/>
        </p:nvSpPr>
        <p:spPr>
          <a:xfrm>
            <a:off x="3507581" y="2514600"/>
            <a:ext cx="1643100" cy="37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479A6"/>
                </a:solidFill>
                <a:latin typeface="Arial"/>
                <a:ea typeface="Arial"/>
                <a:cs typeface="Arial"/>
                <a:sym typeface="Arial"/>
              </a:rPr>
              <a:t>$100</a:t>
            </a:r>
            <a:endParaRPr b="0" i="0" sz="1100" u="none" cap="none" strike="noStrike">
              <a:solidFill>
                <a:srgbClr val="000000"/>
              </a:solidFill>
              <a:latin typeface="Arial"/>
              <a:ea typeface="Arial"/>
              <a:cs typeface="Arial"/>
              <a:sym typeface="Arial"/>
            </a:endParaRPr>
          </a:p>
        </p:txBody>
      </p:sp>
      <p:sp>
        <p:nvSpPr>
          <p:cNvPr id="555" name="Google Shape;555;p20"/>
          <p:cNvSpPr/>
          <p:nvPr/>
        </p:nvSpPr>
        <p:spPr>
          <a:xfrm>
            <a:off x="2878931" y="2157413"/>
            <a:ext cx="285900" cy="357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B86B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p:txBody>
      </p:sp>
      <p:sp>
        <p:nvSpPr>
          <p:cNvPr id="556" name="Google Shape;556;p20"/>
          <p:cNvSpPr/>
          <p:nvPr/>
        </p:nvSpPr>
        <p:spPr>
          <a:xfrm>
            <a:off x="5572125" y="2207419"/>
            <a:ext cx="750300" cy="285900"/>
          </a:xfrm>
          <a:prstGeom prst="rightArrow">
            <a:avLst>
              <a:gd fmla="val 50000" name="adj1"/>
              <a:gd fmla="val 50000" name="adj2"/>
            </a:avLst>
          </a:prstGeom>
          <a:solidFill>
            <a:srgbClr val="B86B00"/>
          </a:solidFill>
          <a:ln cap="flat" cmpd="sng" w="9525">
            <a:solidFill>
              <a:srgbClr val="B86B0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0"/>
          <p:cNvSpPr/>
          <p:nvPr/>
        </p:nvSpPr>
        <p:spPr>
          <a:xfrm>
            <a:off x="6522244" y="1528763"/>
            <a:ext cx="2036100" cy="1678800"/>
          </a:xfrm>
          <a:prstGeom prst="roundRect">
            <a:avLst>
              <a:gd fmla="val 3404" name="adj"/>
            </a:avLst>
          </a:prstGeom>
          <a:solidFill>
            <a:srgbClr val="FFF6E9"/>
          </a:solidFill>
          <a:ln cap="flat" cmpd="sng" w="9525">
            <a:solidFill>
              <a:srgbClr val="E6B875"/>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20"/>
          <p:cNvSpPr/>
          <p:nvPr/>
        </p:nvSpPr>
        <p:spPr>
          <a:xfrm>
            <a:off x="6693694" y="1707356"/>
            <a:ext cx="1643100" cy="1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B86B00"/>
                </a:solidFill>
                <a:latin typeface="Arial"/>
                <a:ea typeface="Arial"/>
                <a:cs typeface="Arial"/>
                <a:sym typeface="Arial"/>
              </a:rPr>
              <a:t>UNEXPECTED FLOW</a:t>
            </a:r>
            <a:endParaRPr b="0" i="0" sz="1100" u="none" cap="none" strike="noStrike">
              <a:solidFill>
                <a:srgbClr val="000000"/>
              </a:solidFill>
              <a:latin typeface="Arial"/>
              <a:ea typeface="Arial"/>
              <a:cs typeface="Arial"/>
              <a:sym typeface="Arial"/>
            </a:endParaRPr>
          </a:p>
        </p:txBody>
      </p:sp>
      <p:sp>
        <p:nvSpPr>
          <p:cNvPr id="559" name="Google Shape;559;p20"/>
          <p:cNvSpPr/>
          <p:nvPr/>
        </p:nvSpPr>
        <p:spPr>
          <a:xfrm>
            <a:off x="6693694" y="2071688"/>
            <a:ext cx="1643100" cy="28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E497B"/>
                </a:solidFill>
                <a:latin typeface="Arial"/>
                <a:ea typeface="Arial"/>
                <a:cs typeface="Arial"/>
                <a:sym typeface="Arial"/>
              </a:rPr>
              <a:t>Combined payout</a:t>
            </a:r>
            <a:endParaRPr b="0" i="0" sz="1100" u="none" cap="none" strike="noStrike">
              <a:solidFill>
                <a:srgbClr val="000000"/>
              </a:solidFill>
              <a:latin typeface="Arial"/>
              <a:ea typeface="Arial"/>
              <a:cs typeface="Arial"/>
              <a:sym typeface="Arial"/>
            </a:endParaRPr>
          </a:p>
        </p:txBody>
      </p:sp>
      <p:sp>
        <p:nvSpPr>
          <p:cNvPr id="560" name="Google Shape;560;p20"/>
          <p:cNvSpPr/>
          <p:nvPr/>
        </p:nvSpPr>
        <p:spPr>
          <a:xfrm>
            <a:off x="6693694" y="2486025"/>
            <a:ext cx="1643100" cy="4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B86B00"/>
                </a:solidFill>
                <a:latin typeface="Arial"/>
                <a:ea typeface="Arial"/>
                <a:cs typeface="Arial"/>
                <a:sym typeface="Arial"/>
              </a:rPr>
              <a:t>$130</a:t>
            </a:r>
            <a:endParaRPr b="0" i="0" sz="1100" u="none" cap="none" strike="noStrike">
              <a:solidFill>
                <a:srgbClr val="000000"/>
              </a:solidFill>
              <a:latin typeface="Arial"/>
              <a:ea typeface="Arial"/>
              <a:cs typeface="Arial"/>
              <a:sym typeface="Arial"/>
            </a:endParaRPr>
          </a:p>
        </p:txBody>
      </p:sp>
      <p:sp>
        <p:nvSpPr>
          <p:cNvPr id="561" name="Google Shape;561;p20"/>
          <p:cNvSpPr/>
          <p:nvPr/>
        </p:nvSpPr>
        <p:spPr>
          <a:xfrm>
            <a:off x="514350" y="3821906"/>
            <a:ext cx="8115300" cy="46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B86B00"/>
                </a:solidFill>
                <a:latin typeface="Arial"/>
                <a:ea typeface="Arial"/>
                <a:cs typeface="Arial"/>
                <a:sym typeface="Arial"/>
              </a:rPr>
              <a:t>Cross-flow testing recombines observed actions from separate source recordings.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21"/>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1"/>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479A6"/>
                </a:solidFill>
                <a:latin typeface="Arial"/>
                <a:ea typeface="Arial"/>
                <a:cs typeface="Arial"/>
                <a:sym typeface="Arial"/>
              </a:rPr>
              <a:t>CONTROLLED EXPLOIT</a:t>
            </a:r>
            <a:endParaRPr b="0" i="0" sz="1100" u="none" cap="none" strike="noStrike">
              <a:solidFill>
                <a:srgbClr val="000000"/>
              </a:solidFill>
              <a:latin typeface="Arial"/>
              <a:ea typeface="Arial"/>
              <a:cs typeface="Arial"/>
              <a:sym typeface="Arial"/>
            </a:endParaRPr>
          </a:p>
        </p:txBody>
      </p:sp>
      <p:sp>
        <p:nvSpPr>
          <p:cNvPr id="569" name="Google Shape;569;p21"/>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E497B"/>
                </a:solidFill>
                <a:latin typeface="Arial"/>
                <a:ea typeface="Arial"/>
                <a:cs typeface="Arial"/>
                <a:sym typeface="Arial"/>
              </a:rPr>
              <a:t>Live demo: the customer receives more than they paid</a:t>
            </a:r>
            <a:endParaRPr b="0" i="0" sz="1100" u="none" cap="none" strike="noStrike">
              <a:solidFill>
                <a:srgbClr val="000000"/>
              </a:solidFill>
              <a:latin typeface="Arial"/>
              <a:ea typeface="Arial"/>
              <a:cs typeface="Arial"/>
              <a:sym typeface="Arial"/>
            </a:endParaRPr>
          </a:p>
        </p:txBody>
      </p:sp>
      <p:sp>
        <p:nvSpPr>
          <p:cNvPr id="570" name="Google Shape;570;p21"/>
          <p:cNvSpPr/>
          <p:nvPr/>
        </p:nvSpPr>
        <p:spPr>
          <a:xfrm>
            <a:off x="7443788" y="342900"/>
            <a:ext cx="1185900" cy="214500"/>
          </a:xfrm>
          <a:prstGeom prst="roundRect">
            <a:avLst>
              <a:gd fmla="val 50000" name="adj"/>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1"/>
          <p:cNvSpPr/>
          <p:nvPr/>
        </p:nvSpPr>
        <p:spPr>
          <a:xfrm>
            <a:off x="7515225" y="357188"/>
            <a:ext cx="1043100" cy="178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2C2C2C"/>
                </a:solidFill>
                <a:latin typeface="Arial"/>
                <a:ea typeface="Arial"/>
                <a:cs typeface="Arial"/>
                <a:sym typeface="Arial"/>
              </a:rPr>
              <a:t>8 MINUTES</a:t>
            </a:r>
            <a:endParaRPr b="0" i="0" sz="1100" u="none" cap="none" strike="noStrike">
              <a:solidFill>
                <a:srgbClr val="000000"/>
              </a:solidFill>
              <a:latin typeface="Arial"/>
              <a:ea typeface="Arial"/>
              <a:cs typeface="Arial"/>
              <a:sym typeface="Arial"/>
            </a:endParaRPr>
          </a:p>
        </p:txBody>
      </p:sp>
      <p:sp>
        <p:nvSpPr>
          <p:cNvPr id="572" name="Google Shape;572;p21"/>
          <p:cNvSpPr/>
          <p:nvPr/>
        </p:nvSpPr>
        <p:spPr>
          <a:xfrm>
            <a:off x="514350" y="1200150"/>
            <a:ext cx="3786300" cy="585900"/>
          </a:xfrm>
          <a:prstGeom prst="roundRect">
            <a:avLst>
              <a:gd fmla="val 9756" name="adj"/>
            </a:avLst>
          </a:prstGeom>
          <a:solidFill>
            <a:srgbClr val="F6F9FB"/>
          </a:solidFill>
          <a:ln cap="flat" cmpd="sng" w="9525">
            <a:solidFill>
              <a:srgbClr val="C7D7E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21"/>
          <p:cNvSpPr/>
          <p:nvPr/>
        </p:nvSpPr>
        <p:spPr>
          <a:xfrm>
            <a:off x="642938" y="1321594"/>
            <a:ext cx="328800" cy="328800"/>
          </a:xfrm>
          <a:prstGeom prst="roundRect">
            <a:avLst>
              <a:gd fmla="val 50000" name="adj"/>
            </a:avLst>
          </a:prstGeom>
          <a:solidFill>
            <a:srgbClr val="83D4F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1"/>
          <p:cNvSpPr/>
          <p:nvPr/>
        </p:nvSpPr>
        <p:spPr>
          <a:xfrm>
            <a:off x="642938" y="1321594"/>
            <a:ext cx="328800" cy="31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575" name="Google Shape;575;p21"/>
          <p:cNvSpPr/>
          <p:nvPr/>
        </p:nvSpPr>
        <p:spPr>
          <a:xfrm>
            <a:off x="1143000" y="1257300"/>
            <a:ext cx="121440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497B"/>
                </a:solidFill>
                <a:latin typeface="Arial"/>
                <a:ea typeface="Arial"/>
                <a:cs typeface="Arial"/>
                <a:sym typeface="Arial"/>
              </a:rPr>
              <a:t>Source flows</a:t>
            </a:r>
            <a:endParaRPr b="0" i="0" sz="1100" u="none" cap="none" strike="noStrike">
              <a:solidFill>
                <a:srgbClr val="000000"/>
              </a:solidFill>
              <a:latin typeface="Arial"/>
              <a:ea typeface="Arial"/>
              <a:cs typeface="Arial"/>
              <a:sym typeface="Arial"/>
            </a:endParaRPr>
          </a:p>
        </p:txBody>
      </p:sp>
      <p:sp>
        <p:nvSpPr>
          <p:cNvPr id="576" name="Google Shape;576;p21"/>
          <p:cNvSpPr/>
          <p:nvPr/>
        </p:nvSpPr>
        <p:spPr>
          <a:xfrm>
            <a:off x="1143000" y="1471613"/>
            <a:ext cx="2914800"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E497B"/>
                </a:solidFill>
                <a:latin typeface="Arial"/>
                <a:ea typeface="Arial"/>
                <a:cs typeface="Arial"/>
                <a:sym typeface="Arial"/>
              </a:rPr>
              <a:t>Select adjustment and refund recordings</a:t>
            </a:r>
            <a:endParaRPr b="0" i="0" sz="1100" u="none" cap="none" strike="noStrike">
              <a:solidFill>
                <a:srgbClr val="000000"/>
              </a:solidFill>
              <a:latin typeface="Arial"/>
              <a:ea typeface="Arial"/>
              <a:cs typeface="Arial"/>
              <a:sym typeface="Arial"/>
            </a:endParaRPr>
          </a:p>
        </p:txBody>
      </p:sp>
      <p:sp>
        <p:nvSpPr>
          <p:cNvPr id="577" name="Google Shape;577;p21"/>
          <p:cNvSpPr/>
          <p:nvPr/>
        </p:nvSpPr>
        <p:spPr>
          <a:xfrm>
            <a:off x="514350" y="1950244"/>
            <a:ext cx="3786300" cy="585900"/>
          </a:xfrm>
          <a:prstGeom prst="roundRect">
            <a:avLst>
              <a:gd fmla="val 9756" name="adj"/>
            </a:avLst>
          </a:prstGeom>
          <a:solidFill>
            <a:srgbClr val="F6F9FB"/>
          </a:solidFill>
          <a:ln cap="flat" cmpd="sng" w="9525">
            <a:solidFill>
              <a:srgbClr val="C7D7E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21"/>
          <p:cNvSpPr/>
          <p:nvPr/>
        </p:nvSpPr>
        <p:spPr>
          <a:xfrm>
            <a:off x="642938" y="2071688"/>
            <a:ext cx="328800" cy="328800"/>
          </a:xfrm>
          <a:prstGeom prst="roundRect">
            <a:avLst>
              <a:gd fmla="val 50000" name="adj"/>
            </a:avLst>
          </a:prstGeom>
          <a:solidFill>
            <a:srgbClr val="83D4F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21"/>
          <p:cNvSpPr/>
          <p:nvPr/>
        </p:nvSpPr>
        <p:spPr>
          <a:xfrm>
            <a:off x="642938" y="2071688"/>
            <a:ext cx="328800" cy="31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
        <p:nvSpPr>
          <p:cNvPr id="580" name="Google Shape;580;p21"/>
          <p:cNvSpPr/>
          <p:nvPr/>
        </p:nvSpPr>
        <p:spPr>
          <a:xfrm>
            <a:off x="1143000" y="2007394"/>
            <a:ext cx="121440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497B"/>
                </a:solidFill>
                <a:latin typeface="Arial"/>
                <a:ea typeface="Arial"/>
                <a:cs typeface="Arial"/>
                <a:sym typeface="Arial"/>
              </a:rPr>
              <a:t>Test case</a:t>
            </a:r>
            <a:endParaRPr b="0" i="0" sz="1100" u="none" cap="none" strike="noStrike">
              <a:solidFill>
                <a:srgbClr val="000000"/>
              </a:solidFill>
              <a:latin typeface="Arial"/>
              <a:ea typeface="Arial"/>
              <a:cs typeface="Arial"/>
              <a:sym typeface="Arial"/>
            </a:endParaRPr>
          </a:p>
        </p:txBody>
      </p:sp>
      <p:sp>
        <p:nvSpPr>
          <p:cNvPr id="581" name="Google Shape;581;p21"/>
          <p:cNvSpPr/>
          <p:nvPr/>
        </p:nvSpPr>
        <p:spPr>
          <a:xfrm>
            <a:off x="1143000" y="2221706"/>
            <a:ext cx="2914800"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E497B"/>
                </a:solidFill>
                <a:latin typeface="Arial"/>
                <a:ea typeface="Arial"/>
                <a:cs typeface="Arial"/>
                <a:sym typeface="Arial"/>
              </a:rPr>
              <a:t>Combine actions on the same order</a:t>
            </a:r>
            <a:endParaRPr b="0" i="0" sz="1100" u="none" cap="none" strike="noStrike">
              <a:solidFill>
                <a:srgbClr val="000000"/>
              </a:solidFill>
              <a:latin typeface="Arial"/>
              <a:ea typeface="Arial"/>
              <a:cs typeface="Arial"/>
              <a:sym typeface="Arial"/>
            </a:endParaRPr>
          </a:p>
        </p:txBody>
      </p:sp>
      <p:sp>
        <p:nvSpPr>
          <p:cNvPr id="582" name="Google Shape;582;p21"/>
          <p:cNvSpPr/>
          <p:nvPr/>
        </p:nvSpPr>
        <p:spPr>
          <a:xfrm>
            <a:off x="514350" y="2700338"/>
            <a:ext cx="3786300" cy="585900"/>
          </a:xfrm>
          <a:prstGeom prst="roundRect">
            <a:avLst>
              <a:gd fmla="val 9756" name="adj"/>
            </a:avLst>
          </a:prstGeom>
          <a:solidFill>
            <a:srgbClr val="F6F9FB"/>
          </a:solidFill>
          <a:ln cap="flat" cmpd="sng" w="9525">
            <a:solidFill>
              <a:srgbClr val="C7D7E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21"/>
          <p:cNvSpPr/>
          <p:nvPr/>
        </p:nvSpPr>
        <p:spPr>
          <a:xfrm>
            <a:off x="642938" y="2821781"/>
            <a:ext cx="328800" cy="328800"/>
          </a:xfrm>
          <a:prstGeom prst="roundRect">
            <a:avLst>
              <a:gd fmla="val 50000" name="adj"/>
            </a:avLst>
          </a:prstGeom>
          <a:solidFill>
            <a:srgbClr val="83D4F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21"/>
          <p:cNvSpPr/>
          <p:nvPr/>
        </p:nvSpPr>
        <p:spPr>
          <a:xfrm>
            <a:off x="642938" y="2821781"/>
            <a:ext cx="328800" cy="31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3</a:t>
            </a:r>
            <a:endParaRPr b="0" i="0" sz="1100" u="none" cap="none" strike="noStrike">
              <a:solidFill>
                <a:srgbClr val="000000"/>
              </a:solidFill>
              <a:latin typeface="Arial"/>
              <a:ea typeface="Arial"/>
              <a:cs typeface="Arial"/>
              <a:sym typeface="Arial"/>
            </a:endParaRPr>
          </a:p>
        </p:txBody>
      </p:sp>
      <p:sp>
        <p:nvSpPr>
          <p:cNvPr id="585" name="Google Shape;585;p21"/>
          <p:cNvSpPr/>
          <p:nvPr/>
        </p:nvSpPr>
        <p:spPr>
          <a:xfrm>
            <a:off x="1143000" y="2757488"/>
            <a:ext cx="121440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497B"/>
                </a:solidFill>
                <a:latin typeface="Arial"/>
                <a:ea typeface="Arial"/>
                <a:cs typeface="Arial"/>
                <a:sym typeface="Arial"/>
              </a:rPr>
              <a:t>Execute</a:t>
            </a:r>
            <a:endParaRPr b="0" i="0" sz="1100" u="none" cap="none" strike="noStrike">
              <a:solidFill>
                <a:srgbClr val="000000"/>
              </a:solidFill>
              <a:latin typeface="Arial"/>
              <a:ea typeface="Arial"/>
              <a:cs typeface="Arial"/>
              <a:sym typeface="Arial"/>
            </a:endParaRPr>
          </a:p>
        </p:txBody>
      </p:sp>
      <p:sp>
        <p:nvSpPr>
          <p:cNvPr id="586" name="Google Shape;586;p21"/>
          <p:cNvSpPr/>
          <p:nvPr/>
        </p:nvSpPr>
        <p:spPr>
          <a:xfrm>
            <a:off x="1143000" y="2971800"/>
            <a:ext cx="2914800"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E497B"/>
                </a:solidFill>
                <a:latin typeface="Arial"/>
                <a:ea typeface="Arial"/>
                <a:cs typeface="Arial"/>
                <a:sym typeface="Arial"/>
              </a:rPr>
              <a:t>Backend runs the combined probe</a:t>
            </a:r>
            <a:endParaRPr b="0" i="0" sz="1100" u="none" cap="none" strike="noStrike">
              <a:solidFill>
                <a:srgbClr val="000000"/>
              </a:solidFill>
              <a:latin typeface="Arial"/>
              <a:ea typeface="Arial"/>
              <a:cs typeface="Arial"/>
              <a:sym typeface="Arial"/>
            </a:endParaRPr>
          </a:p>
        </p:txBody>
      </p:sp>
      <p:sp>
        <p:nvSpPr>
          <p:cNvPr id="587" name="Google Shape;587;p21"/>
          <p:cNvSpPr/>
          <p:nvPr/>
        </p:nvSpPr>
        <p:spPr>
          <a:xfrm>
            <a:off x="514350" y="3450431"/>
            <a:ext cx="3786300" cy="585900"/>
          </a:xfrm>
          <a:prstGeom prst="roundRect">
            <a:avLst>
              <a:gd fmla="val 9756" name="adj"/>
            </a:avLst>
          </a:prstGeom>
          <a:solidFill>
            <a:srgbClr val="FFF6E8"/>
          </a:solidFill>
          <a:ln cap="flat" cmpd="sng" w="9525">
            <a:solidFill>
              <a:srgbClr val="E6BC7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21"/>
          <p:cNvSpPr/>
          <p:nvPr/>
        </p:nvSpPr>
        <p:spPr>
          <a:xfrm>
            <a:off x="642938" y="3571875"/>
            <a:ext cx="328800" cy="328800"/>
          </a:xfrm>
          <a:prstGeom prst="roundRect">
            <a:avLst>
              <a:gd fmla="val 50000" name="adj"/>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21"/>
          <p:cNvSpPr/>
          <p:nvPr/>
        </p:nvSpPr>
        <p:spPr>
          <a:xfrm>
            <a:off x="642938" y="3571875"/>
            <a:ext cx="328800" cy="31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2C2C2C"/>
                </a:solidFill>
                <a:latin typeface="Arial"/>
                <a:ea typeface="Arial"/>
                <a:cs typeface="Arial"/>
                <a:sym typeface="Arial"/>
              </a:rPr>
              <a:t>4</a:t>
            </a:r>
            <a:endParaRPr b="0" i="0" sz="1100" u="none" cap="none" strike="noStrike">
              <a:solidFill>
                <a:srgbClr val="000000"/>
              </a:solidFill>
              <a:latin typeface="Arial"/>
              <a:ea typeface="Arial"/>
              <a:cs typeface="Arial"/>
              <a:sym typeface="Arial"/>
            </a:endParaRPr>
          </a:p>
        </p:txBody>
      </p:sp>
      <p:sp>
        <p:nvSpPr>
          <p:cNvPr id="590" name="Google Shape;590;p21"/>
          <p:cNvSpPr/>
          <p:nvPr/>
        </p:nvSpPr>
        <p:spPr>
          <a:xfrm>
            <a:off x="1143000" y="3507581"/>
            <a:ext cx="1214400" cy="228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E497B"/>
                </a:solidFill>
                <a:latin typeface="Arial"/>
                <a:ea typeface="Arial"/>
                <a:cs typeface="Arial"/>
                <a:sym typeface="Arial"/>
              </a:rPr>
              <a:t>Verify</a:t>
            </a:r>
            <a:endParaRPr b="0" i="0" sz="1100" u="none" cap="none" strike="noStrike">
              <a:solidFill>
                <a:srgbClr val="000000"/>
              </a:solidFill>
              <a:latin typeface="Arial"/>
              <a:ea typeface="Arial"/>
              <a:cs typeface="Arial"/>
              <a:sym typeface="Arial"/>
            </a:endParaRPr>
          </a:p>
        </p:txBody>
      </p:sp>
      <p:sp>
        <p:nvSpPr>
          <p:cNvPr id="591" name="Google Shape;591;p21"/>
          <p:cNvSpPr/>
          <p:nvPr/>
        </p:nvSpPr>
        <p:spPr>
          <a:xfrm>
            <a:off x="1143000" y="3721894"/>
            <a:ext cx="2914800" cy="243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E497B"/>
                </a:solidFill>
                <a:latin typeface="Arial"/>
                <a:ea typeface="Arial"/>
                <a:cs typeface="Arial"/>
                <a:sym typeface="Arial"/>
              </a:rPr>
              <a:t>Inspect the final state and evidence</a:t>
            </a:r>
            <a:endParaRPr b="0" i="0" sz="1100" u="none" cap="none" strike="noStrike">
              <a:solidFill>
                <a:srgbClr val="000000"/>
              </a:solidFill>
              <a:latin typeface="Arial"/>
              <a:ea typeface="Arial"/>
              <a:cs typeface="Arial"/>
              <a:sym typeface="Arial"/>
            </a:endParaRPr>
          </a:p>
        </p:txBody>
      </p:sp>
      <p:sp>
        <p:nvSpPr>
          <p:cNvPr id="592" name="Google Shape;592;p21"/>
          <p:cNvSpPr/>
          <p:nvPr/>
        </p:nvSpPr>
        <p:spPr>
          <a:xfrm>
            <a:off x="5000625" y="1257300"/>
            <a:ext cx="3571800" cy="2786100"/>
          </a:xfrm>
          <a:prstGeom prst="roundRect">
            <a:avLst>
              <a:gd fmla="val 2564" name="adj"/>
            </a:avLst>
          </a:prstGeom>
          <a:solidFill>
            <a:srgbClr val="F6F9FB"/>
          </a:solidFill>
          <a:ln cap="flat" cmpd="sng" w="9525">
            <a:solidFill>
              <a:srgbClr val="C7D7E1"/>
            </a:solidFill>
            <a:prstDash val="solid"/>
            <a:round/>
            <a:headEnd len="sm" w="sm" type="none"/>
            <a:tailEnd len="sm" w="sm" type="none"/>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21"/>
          <p:cNvSpPr/>
          <p:nvPr/>
        </p:nvSpPr>
        <p:spPr>
          <a:xfrm>
            <a:off x="5357813" y="1485900"/>
            <a:ext cx="28575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1570BC"/>
                </a:solidFill>
                <a:latin typeface="Arial"/>
                <a:ea typeface="Arial"/>
                <a:cs typeface="Arial"/>
                <a:sym typeface="Arial"/>
              </a:rPr>
              <a:t>ORIGINAL PAYMENT</a:t>
            </a:r>
            <a:endParaRPr b="0" i="0" sz="1100" u="none" cap="none" strike="noStrike">
              <a:solidFill>
                <a:srgbClr val="000000"/>
              </a:solidFill>
              <a:latin typeface="Arial"/>
              <a:ea typeface="Arial"/>
              <a:cs typeface="Arial"/>
              <a:sym typeface="Arial"/>
            </a:endParaRPr>
          </a:p>
        </p:txBody>
      </p:sp>
      <p:sp>
        <p:nvSpPr>
          <p:cNvPr id="594" name="Google Shape;594;p21"/>
          <p:cNvSpPr/>
          <p:nvPr/>
        </p:nvSpPr>
        <p:spPr>
          <a:xfrm>
            <a:off x="5357813" y="1800225"/>
            <a:ext cx="2857500" cy="4716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E497B"/>
                </a:solidFill>
                <a:latin typeface="Arial"/>
                <a:ea typeface="Arial"/>
                <a:cs typeface="Arial"/>
                <a:sym typeface="Arial"/>
              </a:rPr>
              <a:t>$100</a:t>
            </a:r>
            <a:endParaRPr b="0" i="0" sz="1100" u="none" cap="none" strike="noStrike">
              <a:solidFill>
                <a:srgbClr val="000000"/>
              </a:solidFill>
              <a:latin typeface="Arial"/>
              <a:ea typeface="Arial"/>
              <a:cs typeface="Arial"/>
              <a:sym typeface="Arial"/>
            </a:endParaRPr>
          </a:p>
        </p:txBody>
      </p:sp>
      <p:sp>
        <p:nvSpPr>
          <p:cNvPr id="595" name="Google Shape;595;p21"/>
          <p:cNvSpPr/>
          <p:nvPr/>
        </p:nvSpPr>
        <p:spPr>
          <a:xfrm>
            <a:off x="5286375" y="2543175"/>
            <a:ext cx="3000300" cy="314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570BC"/>
                </a:solidFill>
                <a:latin typeface="Arial"/>
                <a:ea typeface="Arial"/>
                <a:cs typeface="Arial"/>
                <a:sym typeface="Arial"/>
              </a:rPr>
              <a:t>$30 adjustment  +  $100 refund</a:t>
            </a:r>
            <a:endParaRPr b="0" i="0" sz="1100" u="none" cap="none" strike="noStrike">
              <a:solidFill>
                <a:srgbClr val="000000"/>
              </a:solidFill>
              <a:latin typeface="Arial"/>
              <a:ea typeface="Arial"/>
              <a:cs typeface="Arial"/>
              <a:sym typeface="Arial"/>
            </a:endParaRPr>
          </a:p>
        </p:txBody>
      </p:sp>
      <p:cxnSp>
        <p:nvCxnSpPr>
          <p:cNvPr id="596" name="Google Shape;596;p21"/>
          <p:cNvCxnSpPr/>
          <p:nvPr/>
        </p:nvCxnSpPr>
        <p:spPr>
          <a:xfrm>
            <a:off x="5643563" y="3000375"/>
            <a:ext cx="2286000" cy="0"/>
          </a:xfrm>
          <a:prstGeom prst="straightConnector1">
            <a:avLst/>
          </a:prstGeom>
          <a:noFill/>
          <a:ln cap="flat" cmpd="sng" w="9525">
            <a:solidFill>
              <a:srgbClr val="C7D7E1"/>
            </a:solidFill>
            <a:prstDash val="solid"/>
            <a:round/>
            <a:headEnd len="sm" w="sm" type="none"/>
            <a:tailEnd len="sm" w="sm" type="none"/>
          </a:ln>
        </p:spPr>
      </p:cxnSp>
      <p:sp>
        <p:nvSpPr>
          <p:cNvPr id="597" name="Google Shape;597;p21"/>
          <p:cNvSpPr/>
          <p:nvPr/>
        </p:nvSpPr>
        <p:spPr>
          <a:xfrm>
            <a:off x="5357813" y="3171825"/>
            <a:ext cx="2857500" cy="3714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B1444A"/>
                </a:solidFill>
                <a:latin typeface="Arial"/>
                <a:ea typeface="Arial"/>
                <a:cs typeface="Arial"/>
                <a:sym typeface="Arial"/>
              </a:rPr>
              <a:t>$130 returned</a:t>
            </a:r>
            <a:endParaRPr b="0" i="0" sz="1100" u="none" cap="none" strike="noStrike">
              <a:solidFill>
                <a:srgbClr val="000000"/>
              </a:solidFill>
              <a:latin typeface="Arial"/>
              <a:ea typeface="Arial"/>
              <a:cs typeface="Arial"/>
              <a:sym typeface="Arial"/>
            </a:endParaRPr>
          </a:p>
        </p:txBody>
      </p:sp>
      <p:sp>
        <p:nvSpPr>
          <p:cNvPr id="598" name="Google Shape;598;p21"/>
          <p:cNvSpPr/>
          <p:nvPr/>
        </p:nvSpPr>
        <p:spPr>
          <a:xfrm>
            <a:off x="5357813" y="3607594"/>
            <a:ext cx="2857500" cy="200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B1444A"/>
                </a:solidFill>
                <a:latin typeface="Arial"/>
                <a:ea typeface="Arial"/>
                <a:cs typeface="Arial"/>
                <a:sym typeface="Arial"/>
              </a:rPr>
              <a:t>Exploit reproduced</a:t>
            </a:r>
            <a:endParaRPr b="0" i="0" sz="1100" u="none" cap="none" strike="noStrike">
              <a:solidFill>
                <a:srgbClr val="000000"/>
              </a:solidFill>
              <a:latin typeface="Arial"/>
              <a:ea typeface="Arial"/>
              <a:cs typeface="Arial"/>
              <a:sym typeface="Arial"/>
            </a:endParaRPr>
          </a:p>
        </p:txBody>
      </p:sp>
      <p:cxnSp>
        <p:nvCxnSpPr>
          <p:cNvPr id="599" name="Google Shape;599;p21"/>
          <p:cNvCxnSpPr/>
          <p:nvPr/>
        </p:nvCxnSpPr>
        <p:spPr>
          <a:xfrm>
            <a:off x="457200" y="4857750"/>
            <a:ext cx="8229600" cy="0"/>
          </a:xfrm>
          <a:prstGeom prst="straightConnector1">
            <a:avLst/>
          </a:prstGeom>
          <a:noFill/>
          <a:ln cap="flat" cmpd="sng" w="9525">
            <a:solidFill>
              <a:srgbClr val="C7D7E1"/>
            </a:solidFill>
            <a:prstDash val="solid"/>
            <a:round/>
            <a:headEnd len="sm" w="sm" type="none"/>
            <a:tailEnd len="sm" w="sm" type="none"/>
          </a:ln>
        </p:spPr>
      </p:cxnSp>
      <p:sp>
        <p:nvSpPr>
          <p:cNvPr id="600" name="Google Shape;600;p21"/>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20</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05" name="Shape 605"/>
        <p:cNvGrpSpPr/>
        <p:nvPr/>
      </p:nvGrpSpPr>
      <p:grpSpPr>
        <a:xfrm>
          <a:off x="0" y="0"/>
          <a:ext cx="0" cy="0"/>
          <a:chOff x="0" y="0"/>
          <a:chExt cx="0" cy="0"/>
        </a:xfrm>
      </p:grpSpPr>
      <p:sp>
        <p:nvSpPr>
          <p:cNvPr id="606" name="Google Shape;606;p22"/>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2"/>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SAVED ASSESSMENT</a:t>
            </a:r>
            <a:endParaRPr b="0" i="0" sz="1100" u="none" cap="none" strike="noStrike">
              <a:solidFill>
                <a:srgbClr val="000000"/>
              </a:solidFill>
              <a:latin typeface="Arial"/>
              <a:ea typeface="Arial"/>
              <a:cs typeface="Arial"/>
              <a:sym typeface="Arial"/>
            </a:endParaRPr>
          </a:p>
        </p:txBody>
      </p:sp>
      <p:sp>
        <p:nvSpPr>
          <p:cNvPr id="608" name="Google Shape;608;p22"/>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Demo results</a:t>
            </a:r>
            <a:endParaRPr b="0" i="0" sz="1100" u="none" cap="none" strike="noStrike">
              <a:solidFill>
                <a:srgbClr val="000000"/>
              </a:solidFill>
              <a:latin typeface="Arial"/>
              <a:ea typeface="Arial"/>
              <a:cs typeface="Arial"/>
              <a:sym typeface="Arial"/>
            </a:endParaRPr>
          </a:p>
        </p:txBody>
      </p:sp>
      <p:sp>
        <p:nvSpPr>
          <p:cNvPr id="609" name="Google Shape;609;p22"/>
          <p:cNvSpPr/>
          <p:nvPr/>
        </p:nvSpPr>
        <p:spPr>
          <a:xfrm>
            <a:off x="457200" y="1243013"/>
            <a:ext cx="1929000" cy="1750200"/>
          </a:xfrm>
          <a:prstGeom prst="roundRect">
            <a:avLst>
              <a:gd fmla="val 4082" name="adj"/>
            </a:avLst>
          </a:prstGeom>
          <a:solidFill>
            <a:srgbClr val="EAF5FC"/>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22"/>
          <p:cNvSpPr/>
          <p:nvPr/>
        </p:nvSpPr>
        <p:spPr>
          <a:xfrm>
            <a:off x="628650" y="1528763"/>
            <a:ext cx="1586100" cy="514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1570BC"/>
                </a:solidFill>
                <a:latin typeface="Arial"/>
                <a:ea typeface="Arial"/>
                <a:cs typeface="Arial"/>
                <a:sym typeface="Arial"/>
              </a:rPr>
              <a:t>2</a:t>
            </a:r>
            <a:endParaRPr b="0" i="0" sz="1100" u="none" cap="none" strike="noStrike">
              <a:solidFill>
                <a:srgbClr val="000000"/>
              </a:solidFill>
              <a:latin typeface="Arial"/>
              <a:ea typeface="Arial"/>
              <a:cs typeface="Arial"/>
              <a:sym typeface="Arial"/>
            </a:endParaRPr>
          </a:p>
        </p:txBody>
      </p:sp>
      <p:sp>
        <p:nvSpPr>
          <p:cNvPr id="611" name="Google Shape;611;p22"/>
          <p:cNvSpPr/>
          <p:nvPr/>
        </p:nvSpPr>
        <p:spPr>
          <a:xfrm>
            <a:off x="657225" y="2228850"/>
            <a:ext cx="1528800" cy="4572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4A4A4A"/>
                </a:solidFill>
                <a:latin typeface="Arial"/>
                <a:ea typeface="Arial"/>
                <a:cs typeface="Arial"/>
                <a:sym typeface="Arial"/>
              </a:rPr>
              <a:t>recorded source flows</a:t>
            </a:r>
            <a:endParaRPr b="0" i="0" sz="1100" u="none" cap="none" strike="noStrike">
              <a:solidFill>
                <a:srgbClr val="000000"/>
              </a:solidFill>
              <a:latin typeface="Arial"/>
              <a:ea typeface="Arial"/>
              <a:cs typeface="Arial"/>
              <a:sym typeface="Arial"/>
            </a:endParaRPr>
          </a:p>
        </p:txBody>
      </p:sp>
      <p:sp>
        <p:nvSpPr>
          <p:cNvPr id="612" name="Google Shape;612;p22"/>
          <p:cNvSpPr/>
          <p:nvPr/>
        </p:nvSpPr>
        <p:spPr>
          <a:xfrm>
            <a:off x="2614613" y="1243013"/>
            <a:ext cx="1929000" cy="1750200"/>
          </a:xfrm>
          <a:prstGeom prst="roundRect">
            <a:avLst>
              <a:gd fmla="val 4082" name="adj"/>
            </a:avLst>
          </a:prstGeom>
          <a:solidFill>
            <a:srgbClr val="FFF5D8"/>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22"/>
          <p:cNvSpPr/>
          <p:nvPr/>
        </p:nvSpPr>
        <p:spPr>
          <a:xfrm>
            <a:off x="2786063" y="1528763"/>
            <a:ext cx="1586100" cy="514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2C2C2C"/>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614" name="Google Shape;614;p22"/>
          <p:cNvSpPr/>
          <p:nvPr/>
        </p:nvSpPr>
        <p:spPr>
          <a:xfrm>
            <a:off x="2814638" y="2228850"/>
            <a:ext cx="1528800" cy="4572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4A4A4A"/>
                </a:solidFill>
                <a:latin typeface="Arial"/>
                <a:ea typeface="Arial"/>
                <a:cs typeface="Arial"/>
                <a:sym typeface="Arial"/>
              </a:rPr>
              <a:t>combined probe</a:t>
            </a:r>
            <a:endParaRPr b="0" i="0" sz="1100" u="none" cap="none" strike="noStrike">
              <a:solidFill>
                <a:srgbClr val="000000"/>
              </a:solidFill>
              <a:latin typeface="Arial"/>
              <a:ea typeface="Arial"/>
              <a:cs typeface="Arial"/>
              <a:sym typeface="Arial"/>
            </a:endParaRPr>
          </a:p>
        </p:txBody>
      </p:sp>
      <p:sp>
        <p:nvSpPr>
          <p:cNvPr id="615" name="Google Shape;615;p22"/>
          <p:cNvSpPr/>
          <p:nvPr/>
        </p:nvSpPr>
        <p:spPr>
          <a:xfrm>
            <a:off x="4772025" y="1243013"/>
            <a:ext cx="1929000" cy="1750200"/>
          </a:xfrm>
          <a:prstGeom prst="roundRect">
            <a:avLst>
              <a:gd fmla="val 4082" name="adj"/>
            </a:avLst>
          </a:prstGeom>
          <a:solidFill>
            <a:srgbClr val="F9E9EB"/>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22"/>
          <p:cNvSpPr/>
          <p:nvPr/>
        </p:nvSpPr>
        <p:spPr>
          <a:xfrm>
            <a:off x="4943475" y="1528763"/>
            <a:ext cx="1586100" cy="514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B1444A"/>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617" name="Google Shape;617;p22"/>
          <p:cNvSpPr/>
          <p:nvPr/>
        </p:nvSpPr>
        <p:spPr>
          <a:xfrm>
            <a:off x="4972050" y="2228850"/>
            <a:ext cx="1528800" cy="4572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4A4A4A"/>
                </a:solidFill>
                <a:latin typeface="Arial"/>
                <a:ea typeface="Arial"/>
                <a:cs typeface="Arial"/>
                <a:sym typeface="Arial"/>
              </a:rPr>
              <a:t>authenticated receipt</a:t>
            </a:r>
            <a:endParaRPr b="0" i="0" sz="1100" u="none" cap="none" strike="noStrike">
              <a:solidFill>
                <a:srgbClr val="000000"/>
              </a:solidFill>
              <a:latin typeface="Arial"/>
              <a:ea typeface="Arial"/>
              <a:cs typeface="Arial"/>
              <a:sym typeface="Arial"/>
            </a:endParaRPr>
          </a:p>
        </p:txBody>
      </p:sp>
      <p:sp>
        <p:nvSpPr>
          <p:cNvPr id="618" name="Google Shape;618;p22"/>
          <p:cNvSpPr/>
          <p:nvPr/>
        </p:nvSpPr>
        <p:spPr>
          <a:xfrm>
            <a:off x="6929438" y="1243013"/>
            <a:ext cx="1929000" cy="1750200"/>
          </a:xfrm>
          <a:prstGeom prst="roundRect">
            <a:avLst>
              <a:gd fmla="val 4082" name="adj"/>
            </a:avLst>
          </a:prstGeom>
          <a:solidFill>
            <a:srgbClr val="E8F7F2"/>
          </a:solidFill>
          <a:ln>
            <a:noFill/>
          </a:ln>
          <a:effectLst>
            <a:outerShdw blurRad="14288" dir="5400000" dist="7144">
              <a:srgbClr val="000000">
                <a:alpha val="5882"/>
              </a:srgbClr>
            </a:outerShdw>
          </a:effectLst>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22"/>
          <p:cNvSpPr/>
          <p:nvPr/>
        </p:nvSpPr>
        <p:spPr>
          <a:xfrm>
            <a:off x="7100888" y="1528763"/>
            <a:ext cx="1586100" cy="514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900"/>
              <a:buFont typeface="Arial"/>
              <a:buNone/>
            </a:pPr>
            <a:r>
              <a:rPr b="1" i="0" lang="en-US" sz="2900" u="none" cap="none" strike="noStrike">
                <a:solidFill>
                  <a:srgbClr val="32AE88"/>
                </a:solidFill>
                <a:latin typeface="Arial"/>
                <a:ea typeface="Arial"/>
                <a:cs typeface="Arial"/>
                <a:sym typeface="Arial"/>
              </a:rPr>
              <a:t>1</a:t>
            </a:r>
            <a:endParaRPr b="0" i="0" sz="1100" u="none" cap="none" strike="noStrike">
              <a:solidFill>
                <a:srgbClr val="000000"/>
              </a:solidFill>
              <a:latin typeface="Arial"/>
              <a:ea typeface="Arial"/>
              <a:cs typeface="Arial"/>
              <a:sym typeface="Arial"/>
            </a:endParaRPr>
          </a:p>
        </p:txBody>
      </p:sp>
      <p:sp>
        <p:nvSpPr>
          <p:cNvPr id="620" name="Google Shape;620;p22"/>
          <p:cNvSpPr/>
          <p:nvPr/>
        </p:nvSpPr>
        <p:spPr>
          <a:xfrm>
            <a:off x="7129463" y="2228850"/>
            <a:ext cx="1528800" cy="4572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4A4A4A"/>
                </a:solidFill>
                <a:latin typeface="Arial"/>
                <a:ea typeface="Arial"/>
                <a:cs typeface="Arial"/>
                <a:sym typeface="Arial"/>
              </a:rPr>
              <a:t>confirmed issue</a:t>
            </a:r>
            <a:endParaRPr b="0" i="0" sz="1100" u="none" cap="none" strike="noStrike">
              <a:solidFill>
                <a:srgbClr val="000000"/>
              </a:solidFill>
              <a:latin typeface="Arial"/>
              <a:ea typeface="Arial"/>
              <a:cs typeface="Arial"/>
              <a:sym typeface="Arial"/>
            </a:endParaRPr>
          </a:p>
        </p:txBody>
      </p:sp>
      <p:sp>
        <p:nvSpPr>
          <p:cNvPr id="621" name="Google Shape;621;p22"/>
          <p:cNvSpPr/>
          <p:nvPr/>
        </p:nvSpPr>
        <p:spPr>
          <a:xfrm>
            <a:off x="1571625" y="3464719"/>
            <a:ext cx="6000900" cy="3003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E497B"/>
                </a:solidFill>
                <a:latin typeface="Arial"/>
                <a:ea typeface="Arial"/>
                <a:cs typeface="Arial"/>
                <a:sym typeface="Arial"/>
              </a:rPr>
              <a:t>Price adjustment ($30) + refund ($100) returned $130 on a $100 order.</a:t>
            </a:r>
            <a:endParaRPr b="0" i="0" sz="1100" u="none" cap="none" strike="noStrike">
              <a:solidFill>
                <a:srgbClr val="000000"/>
              </a:solidFill>
              <a:latin typeface="Arial"/>
              <a:ea typeface="Arial"/>
              <a:cs typeface="Arial"/>
              <a:sym typeface="Arial"/>
            </a:endParaRPr>
          </a:p>
        </p:txBody>
      </p:sp>
      <p:sp>
        <p:nvSpPr>
          <p:cNvPr id="622" name="Google Shape;622;p22"/>
          <p:cNvSpPr/>
          <p:nvPr/>
        </p:nvSpPr>
        <p:spPr>
          <a:xfrm>
            <a:off x="1357313" y="3871913"/>
            <a:ext cx="6429300" cy="3573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4A4A4A"/>
                </a:solidFill>
                <a:latin typeface="Arial"/>
                <a:ea typeface="Arial"/>
                <a:cs typeface="Arial"/>
                <a:sym typeface="Arial"/>
              </a:rPr>
              <a:t>The combined probe used actions from two separately recorded workflows.</a:t>
            </a:r>
            <a:endParaRPr b="0" i="0" sz="1100" u="none" cap="none" strike="noStrike">
              <a:solidFill>
                <a:srgbClr val="000000"/>
              </a:solidFill>
              <a:latin typeface="Arial"/>
              <a:ea typeface="Arial"/>
              <a:cs typeface="Arial"/>
              <a:sym typeface="Arial"/>
            </a:endParaRPr>
          </a:p>
        </p:txBody>
      </p:sp>
      <p:sp>
        <p:nvSpPr>
          <p:cNvPr id="623" name="Google Shape;623;p22"/>
          <p:cNvSpPr/>
          <p:nvPr/>
        </p:nvSpPr>
        <p:spPr>
          <a:xfrm>
            <a:off x="2143125" y="4329113"/>
            <a:ext cx="4857600" cy="2001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B1444A"/>
                </a:solidFill>
                <a:latin typeface="Arial"/>
                <a:ea typeface="Arial"/>
                <a:cs typeface="Arial"/>
                <a:sym typeface="Arial"/>
              </a:rPr>
              <a:t>The verifier read the final state; it did not rely on HTTP 200 alone.</a:t>
            </a:r>
            <a:endParaRPr b="0" i="0" sz="1100" u="none" cap="none" strike="noStrike">
              <a:solidFill>
                <a:srgbClr val="000000"/>
              </a:solidFill>
              <a:latin typeface="Arial"/>
              <a:ea typeface="Arial"/>
              <a:cs typeface="Arial"/>
              <a:sym typeface="Arial"/>
            </a:endParaRPr>
          </a:p>
        </p:txBody>
      </p:sp>
      <p:cxnSp>
        <p:nvCxnSpPr>
          <p:cNvPr id="624" name="Google Shape;624;p22"/>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sp>
        <p:nvSpPr>
          <p:cNvPr id="625" name="Google Shape;625;p22"/>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21</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30" name="Shape 630"/>
        <p:cNvGrpSpPr/>
        <p:nvPr/>
      </p:nvGrpSpPr>
      <p:grpSpPr>
        <a:xfrm>
          <a:off x="0" y="0"/>
          <a:ext cx="0" cy="0"/>
          <a:chOff x="0" y="0"/>
          <a:chExt cx="0" cy="0"/>
        </a:xfrm>
      </p:grpSpPr>
      <p:sp>
        <p:nvSpPr>
          <p:cNvPr id="631" name="Google Shape;631;h1471d29b42600248_1_0"/>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h1471d29b42600248_1_0"/>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570BC"/>
                </a:solidFill>
                <a:latin typeface="Arial"/>
                <a:ea typeface="Arial"/>
                <a:cs typeface="Arial"/>
                <a:sym typeface="Arial"/>
              </a:rPr>
              <a:t>CURRENT PROTOTYPE</a:t>
            </a:r>
            <a:endParaRPr b="0" i="0" sz="1100" u="none" cap="none" strike="noStrike">
              <a:solidFill>
                <a:srgbClr val="000000"/>
              </a:solidFill>
              <a:latin typeface="Arial"/>
              <a:ea typeface="Arial"/>
              <a:cs typeface="Arial"/>
              <a:sym typeface="Arial"/>
            </a:endParaRPr>
          </a:p>
        </p:txBody>
      </p:sp>
      <p:sp>
        <p:nvSpPr>
          <p:cNvPr id="633" name="Google Shape;633;h1471d29b42600248_1_0"/>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4A4A4A"/>
                </a:solidFill>
                <a:latin typeface="Arial"/>
                <a:ea typeface="Arial"/>
                <a:cs typeface="Arial"/>
                <a:sym typeface="Arial"/>
              </a:rPr>
              <a:t>Safety and limits</a:t>
            </a:r>
            <a:endParaRPr b="0" i="0" sz="1100" u="none" cap="none" strike="noStrike">
              <a:solidFill>
                <a:srgbClr val="000000"/>
              </a:solidFill>
              <a:latin typeface="Arial"/>
              <a:ea typeface="Arial"/>
              <a:cs typeface="Arial"/>
              <a:sym typeface="Arial"/>
            </a:endParaRPr>
          </a:p>
        </p:txBody>
      </p:sp>
      <p:cxnSp>
        <p:nvCxnSpPr>
          <p:cNvPr id="634" name="Google Shape;634;h1471d29b42600248_1_0"/>
          <p:cNvCxnSpPr/>
          <p:nvPr/>
        </p:nvCxnSpPr>
        <p:spPr>
          <a:xfrm>
            <a:off x="457200" y="4857750"/>
            <a:ext cx="8229600" cy="0"/>
          </a:xfrm>
          <a:prstGeom prst="straightConnector1">
            <a:avLst/>
          </a:prstGeom>
          <a:noFill/>
          <a:ln cap="flat" cmpd="sng" w="9525">
            <a:solidFill>
              <a:srgbClr val="D8E0E7"/>
            </a:solidFill>
            <a:prstDash val="solid"/>
            <a:round/>
            <a:headEnd len="sm" w="sm" type="none"/>
            <a:tailEnd len="sm" w="sm" type="none"/>
          </a:ln>
        </p:spPr>
      </p:cxnSp>
      <p:sp>
        <p:nvSpPr>
          <p:cNvPr id="635" name="Google Shape;635;h1471d29b42600248_1_0"/>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22</a:t>
            </a:r>
            <a:endParaRPr b="0" i="0" sz="1100" u="none" cap="none" strike="noStrike">
              <a:solidFill>
                <a:srgbClr val="000000"/>
              </a:solidFill>
              <a:latin typeface="Arial"/>
              <a:ea typeface="Arial"/>
              <a:cs typeface="Arial"/>
              <a:sym typeface="Arial"/>
            </a:endParaRPr>
          </a:p>
        </p:txBody>
      </p:sp>
      <p:sp>
        <p:nvSpPr>
          <p:cNvPr id="636" name="Google Shape;636;h1471d29b42600248_1_0"/>
          <p:cNvSpPr/>
          <p:nvPr/>
        </p:nvSpPr>
        <p:spPr>
          <a:xfrm>
            <a:off x="533400" y="1333500"/>
            <a:ext cx="3924300" cy="2952900"/>
          </a:xfrm>
          <a:prstGeom prst="rect">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h1471d29b42600248_1_0"/>
          <p:cNvSpPr/>
          <p:nvPr/>
        </p:nvSpPr>
        <p:spPr>
          <a:xfrm>
            <a:off x="4686300" y="1333500"/>
            <a:ext cx="3924300" cy="2952900"/>
          </a:xfrm>
          <a:prstGeom prst="rect">
            <a:avLst/>
          </a:prstGeom>
          <a:solidFill>
            <a:srgbClr val="EAF5F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h1471d29b42600248_1_0"/>
          <p:cNvSpPr/>
          <p:nvPr/>
        </p:nvSpPr>
        <p:spPr>
          <a:xfrm>
            <a:off x="733425" y="1514475"/>
            <a:ext cx="351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0E497B"/>
                </a:solidFill>
                <a:latin typeface="Arial"/>
                <a:ea typeface="Arial"/>
                <a:cs typeface="Arial"/>
                <a:sym typeface="Arial"/>
              </a:rPr>
              <a:t>Safety constraints</a:t>
            </a:r>
            <a:endParaRPr b="0" i="0" sz="1400" u="none" cap="none" strike="noStrike">
              <a:solidFill>
                <a:srgbClr val="000000"/>
              </a:solidFill>
              <a:latin typeface="Arial"/>
              <a:ea typeface="Arial"/>
              <a:cs typeface="Arial"/>
              <a:sym typeface="Arial"/>
            </a:endParaRPr>
          </a:p>
        </p:txBody>
      </p:sp>
      <p:sp>
        <p:nvSpPr>
          <p:cNvPr id="639" name="Google Shape;639;h1471d29b42600248_1_0"/>
          <p:cNvSpPr/>
          <p:nvPr/>
        </p:nvSpPr>
        <p:spPr>
          <a:xfrm>
            <a:off x="733425" y="3981450"/>
            <a:ext cx="35148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B86B00"/>
                </a:solidFill>
                <a:latin typeface="Arial"/>
                <a:ea typeface="Arial"/>
                <a:cs typeface="Arial"/>
                <a:sym typeface="Arial"/>
              </a:rPr>
              <a:t>Only authorized, isolated, non-production tests</a:t>
            </a:r>
            <a:endParaRPr b="0" i="0" sz="1400" u="none" cap="none" strike="noStrike">
              <a:solidFill>
                <a:srgbClr val="000000"/>
              </a:solidFill>
              <a:latin typeface="Arial"/>
              <a:ea typeface="Arial"/>
              <a:cs typeface="Arial"/>
              <a:sym typeface="Arial"/>
            </a:endParaRPr>
          </a:p>
        </p:txBody>
      </p:sp>
      <p:sp>
        <p:nvSpPr>
          <p:cNvPr id="640" name="Google Shape;640;h1471d29b42600248_1_0"/>
          <p:cNvSpPr/>
          <p:nvPr/>
        </p:nvSpPr>
        <p:spPr>
          <a:xfrm>
            <a:off x="4886325" y="1514475"/>
            <a:ext cx="351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50"/>
              <a:buFont typeface="Arial"/>
              <a:buNone/>
            </a:pPr>
            <a:r>
              <a:rPr b="1" i="0" lang="en-US" sz="1650" u="none" cap="none" strike="noStrike">
                <a:solidFill>
                  <a:srgbClr val="0E497B"/>
                </a:solidFill>
                <a:latin typeface="Arial"/>
                <a:ea typeface="Arial"/>
                <a:cs typeface="Arial"/>
                <a:sym typeface="Arial"/>
              </a:rPr>
              <a:t>Limits of the result</a:t>
            </a:r>
            <a:endParaRPr b="0" i="0" sz="1400" u="none" cap="none" strike="noStrike">
              <a:solidFill>
                <a:srgbClr val="000000"/>
              </a:solidFill>
              <a:latin typeface="Arial"/>
              <a:ea typeface="Arial"/>
              <a:cs typeface="Arial"/>
              <a:sym typeface="Arial"/>
            </a:endParaRPr>
          </a:p>
        </p:txBody>
      </p:sp>
      <p:sp>
        <p:nvSpPr>
          <p:cNvPr id="641" name="Google Shape;641;h1471d29b42600248_1_0"/>
          <p:cNvSpPr/>
          <p:nvPr/>
        </p:nvSpPr>
        <p:spPr>
          <a:xfrm>
            <a:off x="4886325" y="3981450"/>
            <a:ext cx="35148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rPr b="1" i="0" lang="en-US" sz="1125" u="none" cap="none" strike="noStrike">
                <a:solidFill>
                  <a:srgbClr val="B86B00"/>
                </a:solidFill>
                <a:latin typeface="Arial"/>
                <a:ea typeface="Arial"/>
                <a:cs typeface="Arial"/>
                <a:sym typeface="Arial"/>
              </a:rPr>
              <a:t>A negative test does not prove security.</a:t>
            </a:r>
            <a:endParaRPr b="0" i="0" sz="1400" u="none" cap="none" strike="noStrike">
              <a:solidFill>
                <a:srgbClr val="000000"/>
              </a:solidFill>
              <a:latin typeface="Arial"/>
              <a:ea typeface="Arial"/>
              <a:cs typeface="Arial"/>
              <a:sym typeface="Arial"/>
            </a:endParaRPr>
          </a:p>
        </p:txBody>
      </p:sp>
      <p:sp>
        <p:nvSpPr>
          <p:cNvPr id="642" name="Google Shape;642;h1471d29b42600248_1_0"/>
          <p:cNvSpPr/>
          <p:nvPr/>
        </p:nvSpPr>
        <p:spPr>
          <a:xfrm>
            <a:off x="533400" y="4552950"/>
            <a:ext cx="8077200" cy="276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0E497B"/>
                </a:solidFill>
                <a:latin typeface="Arial"/>
                <a:ea typeface="Arial"/>
                <a:cs typeface="Arial"/>
                <a:sym typeface="Arial"/>
              </a:rPr>
              <a:t>FlowBusters supports security testing. It does not replace human review.</a:t>
            </a:r>
            <a:endParaRPr b="0" i="0" sz="1400" u="none" cap="none" strike="noStrike">
              <a:solidFill>
                <a:srgbClr val="000000"/>
              </a:solidFill>
              <a:latin typeface="Arial"/>
              <a:ea typeface="Arial"/>
              <a:cs typeface="Arial"/>
              <a:sym typeface="Arial"/>
            </a:endParaRPr>
          </a:p>
        </p:txBody>
      </p:sp>
      <p:sp>
        <p:nvSpPr>
          <p:cNvPr id="643" name="Google Shape;643;h1471d29b42600248_1_0"/>
          <p:cNvSpPr/>
          <p:nvPr/>
        </p:nvSpPr>
        <p:spPr>
          <a:xfrm>
            <a:off x="733425" y="1933575"/>
            <a:ext cx="3514800" cy="1943100"/>
          </a:xfrm>
          <a:prstGeom prst="rect">
            <a:avLst/>
          </a:prstGeom>
          <a:noFill/>
          <a:ln>
            <a:noFill/>
          </a:ln>
        </p:spPr>
        <p:txBody>
          <a:bodyPr anchorCtr="0" anchor="t" bIns="45700" lIns="91425" spcFirstLastPara="1" rIns="91425" wrap="square" tIns="45700">
            <a:noAutofit/>
          </a:bodyPr>
          <a:lstStyle/>
          <a:p>
            <a:pPr indent="-88900" lvl="0" marL="152400" marR="0" rtl="0" algn="l">
              <a:lnSpc>
                <a:spcPct val="100000"/>
              </a:lnSpc>
              <a:spcBef>
                <a:spcPts val="0"/>
              </a:spcBef>
              <a:spcAft>
                <a:spcPts val="0"/>
              </a:spcAft>
              <a:buClr>
                <a:srgbClr val="000000"/>
              </a:buClr>
              <a:buSzPts val="1275"/>
              <a:buFont typeface="Arial"/>
              <a:buChar char="•"/>
            </a:pPr>
            <a:r>
              <a:rPr lang="en-US" sz="1275">
                <a:solidFill>
                  <a:srgbClr val="4A4A4A"/>
                </a:solidFill>
              </a:rPr>
              <a:t> Scope checks do not replace an isolated test environment.</a:t>
            </a:r>
            <a:endParaRPr b="0" i="0" sz="1400" u="none" cap="none" strike="noStrike">
              <a:solidFill>
                <a:srgbClr val="000000"/>
              </a:solidFill>
              <a:latin typeface="Arial"/>
              <a:ea typeface="Arial"/>
              <a:cs typeface="Arial"/>
              <a:sym typeface="Arial"/>
            </a:endParaRPr>
          </a:p>
          <a:p>
            <a:pPr indent="-88900" lvl="0" marL="152400" marR="0" rtl="0" algn="l">
              <a:lnSpc>
                <a:spcPct val="100000"/>
              </a:lnSpc>
              <a:spcBef>
                <a:spcPts val="100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Generated probes: no hard OS sandbox or mandatory human approval gate.</a:t>
            </a:r>
            <a:endParaRPr b="0" i="0" sz="1400" u="none" cap="none" strike="noStrike">
              <a:solidFill>
                <a:srgbClr val="000000"/>
              </a:solidFill>
              <a:latin typeface="Arial"/>
              <a:ea typeface="Arial"/>
              <a:cs typeface="Arial"/>
              <a:sym typeface="Arial"/>
            </a:endParaRPr>
          </a:p>
          <a:p>
            <a:pPr indent="-88900" lvl="0" marL="152400" marR="0" rtl="0" algn="l">
              <a:lnSpc>
                <a:spcPct val="100000"/>
              </a:lnSpc>
              <a:spcBef>
                <a:spcPts val="100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Protect sensitive HAR files, scripts and reports.</a:t>
            </a:r>
            <a:endParaRPr b="0" i="0" sz="1400" u="none" cap="none" strike="noStrike">
              <a:solidFill>
                <a:srgbClr val="000000"/>
              </a:solidFill>
              <a:latin typeface="Arial"/>
              <a:ea typeface="Arial"/>
              <a:cs typeface="Arial"/>
              <a:sym typeface="Arial"/>
            </a:endParaRPr>
          </a:p>
        </p:txBody>
      </p:sp>
      <p:sp>
        <p:nvSpPr>
          <p:cNvPr id="644" name="Google Shape;644;h1471d29b42600248_1_0"/>
          <p:cNvSpPr/>
          <p:nvPr/>
        </p:nvSpPr>
        <p:spPr>
          <a:xfrm>
            <a:off x="4886325" y="1933575"/>
            <a:ext cx="3514800" cy="1943100"/>
          </a:xfrm>
          <a:prstGeom prst="rect">
            <a:avLst/>
          </a:prstGeom>
          <a:noFill/>
          <a:ln>
            <a:noFill/>
          </a:ln>
        </p:spPr>
        <p:txBody>
          <a:bodyPr anchorCtr="0" anchor="t" bIns="45700" lIns="91425" spcFirstLastPara="1" rIns="91425" wrap="square" tIns="45700">
            <a:noAutofit/>
          </a:bodyPr>
          <a:lstStyle/>
          <a:p>
            <a:pPr indent="-88900" lvl="0" marL="152400" marR="0" rtl="0" algn="l">
              <a:lnSpc>
                <a:spcPct val="100000"/>
              </a:lnSpc>
              <a:spcBef>
                <a:spcPts val="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Coverage depends on the recording.</a:t>
            </a:r>
            <a:endParaRPr b="0" i="0" sz="1400" u="none" cap="none" strike="noStrike">
              <a:solidFill>
                <a:srgbClr val="000000"/>
              </a:solidFill>
              <a:latin typeface="Arial"/>
              <a:ea typeface="Arial"/>
              <a:cs typeface="Arial"/>
              <a:sym typeface="Arial"/>
            </a:endParaRPr>
          </a:p>
          <a:p>
            <a:pPr indent="-88900" lvl="0" marL="152400" marR="0" rtl="0" algn="l">
              <a:lnSpc>
                <a:spcPct val="100000"/>
              </a:lnSpc>
              <a:spcBef>
                <a:spcPts val="100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Configure independent test setup. No automatic reset for arbitrary websites.</a:t>
            </a:r>
            <a:endParaRPr b="0" i="0" sz="1400" u="none" cap="none" strike="noStrike">
              <a:solidFill>
                <a:srgbClr val="000000"/>
              </a:solidFill>
              <a:latin typeface="Arial"/>
              <a:ea typeface="Arial"/>
              <a:cs typeface="Arial"/>
              <a:sym typeface="Arial"/>
            </a:endParaRPr>
          </a:p>
          <a:p>
            <a:pPr indent="-88900" lvl="0" marL="152400" marR="0" rtl="0" algn="l">
              <a:lnSpc>
                <a:spcPct val="100000"/>
              </a:lnSpc>
              <a:spcBef>
                <a:spcPts val="100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Authentication and multiple users may need extra setup.</a:t>
            </a:r>
            <a:endParaRPr b="0" i="0" sz="1400" u="none" cap="none" strike="noStrike">
              <a:solidFill>
                <a:srgbClr val="000000"/>
              </a:solidFill>
              <a:latin typeface="Arial"/>
              <a:ea typeface="Arial"/>
              <a:cs typeface="Arial"/>
              <a:sym typeface="Arial"/>
            </a:endParaRPr>
          </a:p>
          <a:p>
            <a:pPr indent="-88900" lvl="0" marL="152400" marR="0" rtl="0" algn="l">
              <a:lnSpc>
                <a:spcPct val="100000"/>
              </a:lnSpc>
              <a:spcBef>
                <a:spcPts val="1000"/>
              </a:spcBef>
              <a:spcAft>
                <a:spcPts val="0"/>
              </a:spcAft>
              <a:buClr>
                <a:srgbClr val="000000"/>
              </a:buClr>
              <a:buSzPts val="1275"/>
              <a:buFont typeface="Arial"/>
              <a:buChar char="•"/>
            </a:pPr>
            <a:r>
              <a:rPr lang="en-US" sz="1275">
                <a:solidFill>
                  <a:srgbClr val="4A4A4A"/>
                </a:solidFill>
              </a:rPr>
              <a:t> </a:t>
            </a:r>
            <a:r>
              <a:rPr b="0" i="0" lang="en-US" sz="1275" u="none" cap="none" strike="noStrike">
                <a:solidFill>
                  <a:srgbClr val="4A4A4A"/>
                </a:solidFill>
                <a:latin typeface="Arial"/>
                <a:ea typeface="Arial"/>
                <a:cs typeface="Arial"/>
                <a:sym typeface="Arial"/>
              </a:rPr>
              <a:t>AI can miss issues or infer the wrong rule.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cxnSp>
        <p:nvCxnSpPr>
          <p:cNvPr id="650" name="Google Shape;650;h20d8057df9b10b19_2_48"/>
          <p:cNvCxnSpPr>
            <a:stCxn id="651" idx="3"/>
            <a:endCxn id="652" idx="1"/>
          </p:cNvCxnSpPr>
          <p:nvPr/>
        </p:nvCxnSpPr>
        <p:spPr>
          <a:xfrm>
            <a:off x="5753100" y="2852738"/>
            <a:ext cx="495300" cy="0"/>
          </a:xfrm>
          <a:prstGeom prst="straightConnector1">
            <a:avLst/>
          </a:prstGeom>
          <a:noFill/>
          <a:ln cap="flat" cmpd="sng" w="23800">
            <a:solidFill>
              <a:srgbClr val="007AC2"/>
            </a:solidFill>
            <a:prstDash val="solid"/>
            <a:round/>
            <a:headEnd len="sm" w="sm" type="none"/>
            <a:tailEnd len="med" w="med" type="triangle"/>
          </a:ln>
        </p:spPr>
      </p:cxnSp>
      <p:cxnSp>
        <p:nvCxnSpPr>
          <p:cNvPr id="653" name="Google Shape;653;h20d8057df9b10b19_2_48"/>
          <p:cNvCxnSpPr>
            <a:stCxn id="654" idx="3"/>
            <a:endCxn id="651" idx="1"/>
          </p:cNvCxnSpPr>
          <p:nvPr/>
        </p:nvCxnSpPr>
        <p:spPr>
          <a:xfrm>
            <a:off x="2895600" y="2852738"/>
            <a:ext cx="495300" cy="0"/>
          </a:xfrm>
          <a:prstGeom prst="straightConnector1">
            <a:avLst/>
          </a:prstGeom>
          <a:noFill/>
          <a:ln cap="flat" cmpd="sng" w="23800">
            <a:solidFill>
              <a:srgbClr val="007AC2"/>
            </a:solidFill>
            <a:prstDash val="solid"/>
            <a:round/>
            <a:headEnd len="sm" w="sm" type="none"/>
            <a:tailEnd len="med" w="med" type="triangle"/>
          </a:ln>
        </p:spPr>
      </p:cxnSp>
      <p:sp>
        <p:nvSpPr>
          <p:cNvPr id="655" name="Google Shape;655;h20d8057df9b10b19_2_48"/>
          <p:cNvSpPr/>
          <p:nvPr/>
        </p:nvSpPr>
        <p:spPr>
          <a:xfrm>
            <a:off x="0" y="0"/>
            <a:ext cx="9144000" cy="71700"/>
          </a:xfrm>
          <a:prstGeom prst="rect">
            <a:avLst/>
          </a:prstGeom>
          <a:solidFill>
            <a:srgbClr val="FFB81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h20d8057df9b10b19_2_48"/>
          <p:cNvSpPr/>
          <p:nvPr/>
        </p:nvSpPr>
        <p:spPr>
          <a:xfrm>
            <a:off x="457200" y="200025"/>
            <a:ext cx="3000300" cy="1860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700"/>
              <a:buFont typeface="Arial"/>
              <a:buNone/>
            </a:pPr>
            <a:r>
              <a:rPr b="1" i="0" lang="en-US" sz="700" u="none" cap="none" strike="noStrike">
                <a:solidFill>
                  <a:srgbClr val="1479A6"/>
                </a:solidFill>
                <a:latin typeface="Arial"/>
                <a:ea typeface="Arial"/>
                <a:cs typeface="Arial"/>
                <a:sym typeface="Arial"/>
              </a:rPr>
              <a:t>FUTURE DIRECTION</a:t>
            </a:r>
            <a:endParaRPr b="0" i="0" sz="1100" u="none" cap="none" strike="noStrike">
              <a:solidFill>
                <a:srgbClr val="000000"/>
              </a:solidFill>
              <a:latin typeface="Arial"/>
              <a:ea typeface="Arial"/>
              <a:cs typeface="Arial"/>
              <a:sym typeface="Arial"/>
            </a:endParaRPr>
          </a:p>
        </p:txBody>
      </p:sp>
      <p:sp>
        <p:nvSpPr>
          <p:cNvPr id="657" name="Google Shape;657;h20d8057df9b10b19_2_48"/>
          <p:cNvSpPr/>
          <p:nvPr/>
        </p:nvSpPr>
        <p:spPr>
          <a:xfrm>
            <a:off x="457200" y="442913"/>
            <a:ext cx="8229600" cy="4431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0E497B"/>
                </a:solidFill>
                <a:latin typeface="Arial"/>
                <a:ea typeface="Arial"/>
                <a:cs typeface="Arial"/>
                <a:sym typeface="Arial"/>
              </a:rPr>
              <a:t>Next: workflow maps and shared documentation</a:t>
            </a:r>
            <a:endParaRPr b="0" i="0" sz="1100" u="none" cap="none" strike="noStrike">
              <a:solidFill>
                <a:srgbClr val="000000"/>
              </a:solidFill>
              <a:latin typeface="Arial"/>
              <a:ea typeface="Arial"/>
              <a:cs typeface="Arial"/>
              <a:sym typeface="Arial"/>
            </a:endParaRPr>
          </a:p>
        </p:txBody>
      </p:sp>
      <p:cxnSp>
        <p:nvCxnSpPr>
          <p:cNvPr id="658" name="Google Shape;658;h20d8057df9b10b19_2_48"/>
          <p:cNvCxnSpPr/>
          <p:nvPr/>
        </p:nvCxnSpPr>
        <p:spPr>
          <a:xfrm>
            <a:off x="457200" y="4857750"/>
            <a:ext cx="8229600" cy="0"/>
          </a:xfrm>
          <a:prstGeom prst="straightConnector1">
            <a:avLst/>
          </a:prstGeom>
          <a:noFill/>
          <a:ln cap="flat" cmpd="sng" w="9525">
            <a:solidFill>
              <a:srgbClr val="C7D7E1"/>
            </a:solidFill>
            <a:prstDash val="solid"/>
            <a:round/>
            <a:headEnd len="sm" w="sm" type="none"/>
            <a:tailEnd len="sm" w="sm" type="none"/>
          </a:ln>
        </p:spPr>
      </p:cxnSp>
      <p:sp>
        <p:nvSpPr>
          <p:cNvPr id="659" name="Google Shape;659;h20d8057df9b10b19_2_48"/>
          <p:cNvSpPr/>
          <p:nvPr/>
        </p:nvSpPr>
        <p:spPr>
          <a:xfrm>
            <a:off x="8286750" y="4886325"/>
            <a:ext cx="400200" cy="1428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500"/>
              <a:buFont typeface="Arial"/>
              <a:buNone/>
            </a:pPr>
            <a:r>
              <a:rPr b="1" i="0" lang="en-US" sz="500" u="none" cap="none" strike="noStrike">
                <a:solidFill>
                  <a:srgbClr val="0E497B"/>
                </a:solidFill>
                <a:latin typeface="Arial"/>
                <a:ea typeface="Arial"/>
                <a:cs typeface="Arial"/>
                <a:sym typeface="Arial"/>
              </a:rPr>
              <a:t>23</a:t>
            </a:r>
            <a:endParaRPr b="0" i="0" sz="1100" u="none" cap="none" strike="noStrike">
              <a:solidFill>
                <a:srgbClr val="000000"/>
              </a:solidFill>
              <a:latin typeface="Arial"/>
              <a:ea typeface="Arial"/>
              <a:cs typeface="Arial"/>
              <a:sym typeface="Arial"/>
            </a:endParaRPr>
          </a:p>
        </p:txBody>
      </p:sp>
      <p:sp>
        <p:nvSpPr>
          <p:cNvPr id="660" name="Google Shape;660;h20d8057df9b10b19_2_48"/>
          <p:cNvSpPr/>
          <p:nvPr/>
        </p:nvSpPr>
        <p:spPr>
          <a:xfrm>
            <a:off x="533400" y="971550"/>
            <a:ext cx="80772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25"/>
              <a:buFont typeface="Arial"/>
              <a:buNone/>
            </a:pPr>
            <a:r>
              <a:rPr b="0" i="0" lang="en-US" sz="1425" u="none" cap="none" strike="noStrike">
                <a:solidFill>
                  <a:srgbClr val="4A4A4A"/>
                </a:solidFill>
                <a:latin typeface="Arial"/>
                <a:ea typeface="Arial"/>
                <a:cs typeface="Arial"/>
                <a:sym typeface="Arial"/>
              </a:rPr>
              <a:t>For product teams: onboarding and knowledge transfer.</a:t>
            </a:r>
            <a:endParaRPr/>
          </a:p>
        </p:txBody>
      </p:sp>
      <p:sp>
        <p:nvSpPr>
          <p:cNvPr id="654" name="Google Shape;654;h20d8057df9b10b19_2_48"/>
          <p:cNvSpPr/>
          <p:nvPr/>
        </p:nvSpPr>
        <p:spPr>
          <a:xfrm>
            <a:off x="533400" y="1581150"/>
            <a:ext cx="2362200" cy="2543175"/>
          </a:xfrm>
          <a:prstGeom prst="rect">
            <a:avLst/>
          </a:prstGeom>
          <a:solidFill>
            <a:srgbClr val="0E11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h20d8057df9b10b19_2_48"/>
          <p:cNvSpPr/>
          <p:nvPr/>
        </p:nvSpPr>
        <p:spPr>
          <a:xfrm>
            <a:off x="3390900" y="1581150"/>
            <a:ext cx="2362200" cy="2543175"/>
          </a:xfrm>
          <a:prstGeom prst="rect">
            <a:avLst/>
          </a:prstGeom>
          <a:solidFill>
            <a:srgbClr val="EAF5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h20d8057df9b10b19_2_48"/>
          <p:cNvSpPr/>
          <p:nvPr/>
        </p:nvSpPr>
        <p:spPr>
          <a:xfrm>
            <a:off x="6248400" y="1581150"/>
            <a:ext cx="2362200" cy="2543175"/>
          </a:xfrm>
          <a:prstGeom prst="rect">
            <a:avLst/>
          </a:prstGeom>
          <a:solidFill>
            <a:srgbClr val="EAF5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1" name="Google Shape;661;h20d8057df9b10b19_2_48"/>
          <p:cNvPicPr preferRelativeResize="0"/>
          <p:nvPr/>
        </p:nvPicPr>
        <p:blipFill rotWithShape="1">
          <a:blip r:embed="rId3">
            <a:alphaModFix/>
          </a:blip>
          <a:srcRect b="0" l="0" r="0" t="0"/>
          <a:stretch/>
        </p:blipFill>
        <p:spPr>
          <a:xfrm>
            <a:off x="3581452" y="1762125"/>
            <a:ext cx="1981096" cy="283369"/>
          </a:xfrm>
          <a:prstGeom prst="rect">
            <a:avLst/>
          </a:prstGeom>
          <a:noFill/>
          <a:ln>
            <a:noFill/>
          </a:ln>
        </p:spPr>
      </p:pic>
      <p:sp>
        <p:nvSpPr>
          <p:cNvPr id="662" name="Google Shape;662;h20d8057df9b10b19_2_48"/>
          <p:cNvSpPr/>
          <p:nvPr/>
        </p:nvSpPr>
        <p:spPr>
          <a:xfrm>
            <a:off x="6438900" y="1743075"/>
            <a:ext cx="1981200" cy="371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25"/>
              <a:buFont typeface="Arial"/>
              <a:buNone/>
            </a:pPr>
            <a:r>
              <a:rPr b="1" i="0" lang="en-US" sz="1725" u="none" cap="none" strike="noStrike">
                <a:solidFill>
                  <a:srgbClr val="0E497B"/>
                </a:solidFill>
                <a:latin typeface="Arial"/>
                <a:ea typeface="Arial"/>
                <a:cs typeface="Arial"/>
                <a:sym typeface="Arial"/>
              </a:rPr>
              <a:t>Confluence</a:t>
            </a:r>
            <a:endParaRPr/>
          </a:p>
        </p:txBody>
      </p:sp>
      <p:sp>
        <p:nvSpPr>
          <p:cNvPr id="663" name="Google Shape;663;h20d8057df9b10b19_2_48"/>
          <p:cNvSpPr/>
          <p:nvPr/>
        </p:nvSpPr>
        <p:spPr>
          <a:xfrm>
            <a:off x="723900" y="2162175"/>
            <a:ext cx="19812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E6C15A"/>
                </a:solidFill>
                <a:latin typeface="Arial"/>
                <a:ea typeface="Arial"/>
                <a:cs typeface="Arial"/>
                <a:sym typeface="Arial"/>
              </a:rPr>
              <a:t>Recorded context</a:t>
            </a:r>
            <a:endParaRPr/>
          </a:p>
        </p:txBody>
      </p:sp>
      <p:sp>
        <p:nvSpPr>
          <p:cNvPr id="664" name="Google Shape;664;h20d8057df9b10b19_2_48"/>
          <p:cNvSpPr/>
          <p:nvPr/>
        </p:nvSpPr>
        <p:spPr>
          <a:xfrm>
            <a:off x="3581400" y="2162175"/>
            <a:ext cx="19812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86B00"/>
                </a:solidFill>
                <a:latin typeface="Arial"/>
                <a:ea typeface="Arial"/>
                <a:cs typeface="Arial"/>
                <a:sym typeface="Arial"/>
              </a:rPr>
              <a:t>Possible Lucid MCP</a:t>
            </a:r>
            <a:endParaRPr/>
          </a:p>
        </p:txBody>
      </p:sp>
      <p:sp>
        <p:nvSpPr>
          <p:cNvPr id="665" name="Google Shape;665;h20d8057df9b10b19_2_48"/>
          <p:cNvSpPr/>
          <p:nvPr/>
        </p:nvSpPr>
        <p:spPr>
          <a:xfrm>
            <a:off x="6438900" y="2162175"/>
            <a:ext cx="1981200" cy="266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B86B00"/>
                </a:solidFill>
                <a:latin typeface="Arial"/>
                <a:ea typeface="Arial"/>
                <a:cs typeface="Arial"/>
                <a:sym typeface="Arial"/>
              </a:rPr>
              <a:t>Possible Confluence MCP</a:t>
            </a:r>
            <a:endParaRPr/>
          </a:p>
        </p:txBody>
      </p:sp>
      <p:sp>
        <p:nvSpPr>
          <p:cNvPr id="666" name="Google Shape;666;h20d8057df9b10b19_2_48"/>
          <p:cNvSpPr/>
          <p:nvPr/>
        </p:nvSpPr>
        <p:spPr>
          <a:xfrm>
            <a:off x="723900" y="2581275"/>
            <a:ext cx="1981200" cy="333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75"/>
              <a:buFont typeface="Arial"/>
              <a:buNone/>
            </a:pPr>
            <a:r>
              <a:rPr b="1" i="0" lang="en-US" sz="1875" u="none" cap="none" strike="noStrike">
                <a:solidFill>
                  <a:srgbClr val="E6C15A"/>
                </a:solidFill>
                <a:latin typeface="Arial"/>
                <a:ea typeface="Arial"/>
                <a:cs typeface="Arial"/>
                <a:sym typeface="Arial"/>
              </a:rPr>
              <a:t>01</a:t>
            </a:r>
            <a:endParaRPr/>
          </a:p>
        </p:txBody>
      </p:sp>
      <p:sp>
        <p:nvSpPr>
          <p:cNvPr id="667" name="Google Shape;667;h20d8057df9b10b19_2_48"/>
          <p:cNvSpPr/>
          <p:nvPr/>
        </p:nvSpPr>
        <p:spPr>
          <a:xfrm>
            <a:off x="3581400" y="2581275"/>
            <a:ext cx="1981200" cy="333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75"/>
              <a:buFont typeface="Arial"/>
              <a:buNone/>
            </a:pPr>
            <a:r>
              <a:rPr b="1" i="0" lang="en-US" sz="1875" u="none" cap="none" strike="noStrike">
                <a:solidFill>
                  <a:srgbClr val="B86B00"/>
                </a:solidFill>
                <a:latin typeface="Arial"/>
                <a:ea typeface="Arial"/>
                <a:cs typeface="Arial"/>
                <a:sym typeface="Arial"/>
              </a:rPr>
              <a:t>02</a:t>
            </a:r>
            <a:endParaRPr/>
          </a:p>
        </p:txBody>
      </p:sp>
      <p:sp>
        <p:nvSpPr>
          <p:cNvPr id="668" name="Google Shape;668;h20d8057df9b10b19_2_48"/>
          <p:cNvSpPr/>
          <p:nvPr/>
        </p:nvSpPr>
        <p:spPr>
          <a:xfrm>
            <a:off x="6438900" y="2581275"/>
            <a:ext cx="1981200" cy="333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75"/>
              <a:buFont typeface="Arial"/>
              <a:buNone/>
            </a:pPr>
            <a:r>
              <a:rPr b="1" i="0" lang="en-US" sz="1875" u="none" cap="none" strike="noStrike">
                <a:solidFill>
                  <a:srgbClr val="B86B00"/>
                </a:solidFill>
                <a:latin typeface="Arial"/>
                <a:ea typeface="Arial"/>
                <a:cs typeface="Arial"/>
                <a:sym typeface="Arial"/>
              </a:rPr>
              <a:t>03</a:t>
            </a:r>
            <a:endParaRPr/>
          </a:p>
        </p:txBody>
      </p:sp>
      <p:sp>
        <p:nvSpPr>
          <p:cNvPr id="669" name="Google Shape;669;h20d8057df9b10b19_2_48"/>
          <p:cNvSpPr/>
          <p:nvPr/>
        </p:nvSpPr>
        <p:spPr>
          <a:xfrm>
            <a:off x="723900" y="2952750"/>
            <a:ext cx="1981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F5F5F7"/>
                </a:solidFill>
                <a:latin typeface="Arial"/>
                <a:ea typeface="Arial"/>
                <a:cs typeface="Arial"/>
                <a:sym typeface="Arial"/>
              </a:rPr>
              <a:t>Record workflow</a:t>
            </a:r>
            <a:endParaRPr/>
          </a:p>
        </p:txBody>
      </p:sp>
      <p:sp>
        <p:nvSpPr>
          <p:cNvPr id="670" name="Google Shape;670;h20d8057df9b10b19_2_48"/>
          <p:cNvSpPr/>
          <p:nvPr/>
        </p:nvSpPr>
        <p:spPr>
          <a:xfrm>
            <a:off x="3581400" y="2952750"/>
            <a:ext cx="1981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0E497B"/>
                </a:solidFill>
                <a:latin typeface="Arial"/>
                <a:ea typeface="Arial"/>
                <a:cs typeface="Arial"/>
                <a:sym typeface="Arial"/>
              </a:rPr>
              <a:t>Create a map</a:t>
            </a:r>
            <a:endParaRPr/>
          </a:p>
        </p:txBody>
      </p:sp>
      <p:sp>
        <p:nvSpPr>
          <p:cNvPr id="671" name="Google Shape;671;h20d8057df9b10b19_2_48"/>
          <p:cNvSpPr/>
          <p:nvPr/>
        </p:nvSpPr>
        <p:spPr>
          <a:xfrm>
            <a:off x="6438900" y="2952750"/>
            <a:ext cx="19812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75"/>
              <a:buFont typeface="Arial"/>
              <a:buNone/>
            </a:pPr>
            <a:r>
              <a:rPr b="1" i="0" lang="en-US" sz="1575" u="none" cap="none" strike="noStrike">
                <a:solidFill>
                  <a:srgbClr val="0E497B"/>
                </a:solidFill>
                <a:latin typeface="Arial"/>
                <a:ea typeface="Arial"/>
                <a:cs typeface="Arial"/>
                <a:sym typeface="Arial"/>
              </a:rPr>
              <a:t>Draft docs</a:t>
            </a:r>
            <a:endParaRPr/>
          </a:p>
        </p:txBody>
      </p:sp>
      <p:sp>
        <p:nvSpPr>
          <p:cNvPr id="672" name="Google Shape;672;h20d8057df9b10b19_2_48"/>
          <p:cNvSpPr/>
          <p:nvPr/>
        </p:nvSpPr>
        <p:spPr>
          <a:xfrm>
            <a:off x="723900" y="3429000"/>
            <a:ext cx="198120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CFCFD8"/>
                </a:solidFill>
                <a:latin typeface="Arial"/>
                <a:ea typeface="Arial"/>
                <a:cs typeface="Arial"/>
                <a:sym typeface="Arial"/>
              </a:rPr>
              <a:t>UI actions and</a:t>
            </a:r>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CFCFD8"/>
                </a:solidFill>
                <a:latin typeface="Arial"/>
                <a:ea typeface="Arial"/>
                <a:cs typeface="Arial"/>
                <a:sym typeface="Arial"/>
              </a:rPr>
              <a:t>HTTP traffic</a:t>
            </a:r>
            <a:endParaRPr/>
          </a:p>
        </p:txBody>
      </p:sp>
      <p:sp>
        <p:nvSpPr>
          <p:cNvPr id="673" name="Google Shape;673;h20d8057df9b10b19_2_48"/>
          <p:cNvSpPr/>
          <p:nvPr/>
        </p:nvSpPr>
        <p:spPr>
          <a:xfrm>
            <a:off x="3581400" y="3429000"/>
            <a:ext cx="198120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Map pages, APIs</a:t>
            </a:r>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and state changes</a:t>
            </a:r>
            <a:endParaRPr/>
          </a:p>
        </p:txBody>
      </p:sp>
      <p:sp>
        <p:nvSpPr>
          <p:cNvPr id="674" name="Google Shape;674;h20d8057df9b10b19_2_48"/>
          <p:cNvSpPr/>
          <p:nvPr/>
        </p:nvSpPr>
        <p:spPr>
          <a:xfrm>
            <a:off x="6438900" y="3429000"/>
            <a:ext cx="1981200" cy="53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Process summaries</a:t>
            </a:r>
            <a:endParaRPr/>
          </a:p>
          <a:p>
            <a:pPr indent="0" lvl="0" marL="0" marR="0" rtl="0" algn="l">
              <a:lnSpc>
                <a:spcPct val="100000"/>
              </a:lnSpc>
              <a:spcBef>
                <a:spcPts val="0"/>
              </a:spcBef>
              <a:spcAft>
                <a:spcPts val="0"/>
              </a:spcAft>
              <a:buClr>
                <a:srgbClr val="000000"/>
              </a:buClr>
              <a:buSzPts val="1350"/>
              <a:buFont typeface="Arial"/>
              <a:buNone/>
            </a:pPr>
            <a:r>
              <a:rPr b="0" i="0" lang="en-US" sz="1350" u="none" cap="none" strike="noStrike">
                <a:solidFill>
                  <a:srgbClr val="4A4A4A"/>
                </a:solidFill>
                <a:latin typeface="Arial"/>
                <a:ea typeface="Arial"/>
                <a:cs typeface="Arial"/>
                <a:sym typeface="Arial"/>
              </a:rPr>
              <a:t>and diagram links</a:t>
            </a:r>
            <a:endParaRPr/>
          </a:p>
        </p:txBody>
      </p:sp>
      <p:sp>
        <p:nvSpPr>
          <p:cNvPr id="675" name="Google Shape;675;h20d8057df9b10b19_2_48"/>
          <p:cNvSpPr/>
          <p:nvPr/>
        </p:nvSpPr>
        <p:spPr>
          <a:xfrm>
            <a:off x="533400" y="4343400"/>
            <a:ext cx="8077200"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75"/>
              <a:buFont typeface="Arial"/>
              <a:buNone/>
            </a:pPr>
            <a:r>
              <a:rPr b="1" i="0" lang="en-US" sz="1275" u="none" cap="none" strike="noStrike">
                <a:solidFill>
                  <a:srgbClr val="0E497B"/>
                </a:solidFill>
                <a:latin typeface="Arial"/>
                <a:ea typeface="Arial"/>
                <a:cs typeface="Arial"/>
                <a:sym typeface="Arial"/>
              </a:rPr>
              <a:t>Workflow owners confirm the diagrams and business rules are current.</a:t>
            </a:r>
            <a:endParaRPr/>
          </a:p>
        </p:txBody>
      </p:sp>
      <p:sp>
        <p:nvSpPr>
          <p:cNvPr id="676" name="Google Shape;676;h20d8057df9b10b19_2_48"/>
          <p:cNvSpPr/>
          <p:nvPr/>
        </p:nvSpPr>
        <p:spPr>
          <a:xfrm>
            <a:off x="533400" y="4600575"/>
            <a:ext cx="8077200" cy="209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75"/>
              <a:buFont typeface="Arial"/>
              <a:buNone/>
            </a:pPr>
            <a:r>
              <a:rPr b="0" i="0" lang="en-US" sz="975" u="none" cap="none" strike="noStrike">
                <a:solidFill>
                  <a:srgbClr val="526D82"/>
                </a:solidFill>
                <a:latin typeface="Arial"/>
                <a:ea typeface="Arial"/>
                <a:cs typeface="Arial"/>
                <a:sym typeface="Arial"/>
              </a:rPr>
              <a:t>Proposed integrations. Neither is implemented in FlowBusters yet.</a:t>
            </a:r>
            <a:endParaRPr/>
          </a:p>
        </p:txBody>
      </p:sp>
      <p:pic>
        <p:nvPicPr>
          <p:cNvPr id="677" name="Google Shape;677;h20d8057df9b10b19_2_48"/>
          <p:cNvPicPr preferRelativeResize="0"/>
          <p:nvPr/>
        </p:nvPicPr>
        <p:blipFill rotWithShape="1">
          <a:blip r:embed="rId4">
            <a:alphaModFix/>
          </a:blip>
          <a:srcRect b="92000" l="1987" r="77318" t="1500"/>
          <a:stretch/>
        </p:blipFill>
        <p:spPr>
          <a:xfrm>
            <a:off x="723900" y="1714500"/>
            <a:ext cx="1981200" cy="4120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